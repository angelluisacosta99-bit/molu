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F96167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572000"/>
            <a:ext cx="3474720" cy="3474720"/>
          </a:xfrm>
          <a:prstGeom prst="ellipse">
            <a:avLst/>
          </a:prstGeom>
          <a:solidFill>
            <a:srgbClr val="F9E795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4 · NIVEL B2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Léxico del arte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la arquitectura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12B — Turismo cultural: románico, gótico, árabe y moderno, con esquemas y traducción al ruso.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🏛️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78308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78308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⛪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274320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4320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🕌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370332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0332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🔬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4663440" y="5074920"/>
            <a:ext cx="777240" cy="7772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63440" y="5074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📐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22960" y="6080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Español → Ruso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1908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elaborado por Angel Luis Acosta González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12B · TURISMO CULTURAL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4 estilos del capítulo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1: relaciona cada foto del libro con su estilo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369564"/>
            <a:ext cx="262204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🏛️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3415284"/>
            <a:ext cx="178079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современный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71850" y="3369564"/>
            <a:ext cx="262204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986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349986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🕌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03370" y="3415284"/>
            <a:ext cx="178079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árabe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арабский (мавританский)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95060" y="3369564"/>
            <a:ext cx="262204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2307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632307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⛪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926580" y="3415284"/>
            <a:ext cx="178079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gótico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готический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018270" y="3369564"/>
            <a:ext cx="262204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14628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914628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🏰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749790" y="3415284"/>
            <a:ext cx="178079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románico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романский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4 (B2) · Unidad 12B · Turismo cultural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12B · VOCABULARIO GENERAL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Palabras que aparecen en los 4 textos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Léxico común a cualquier monumento, antes de entrar en cada estilo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5224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233172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331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🖼️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99796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monumento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памятник (архитектуры)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2920" y="195224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0936" y="233172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4440936" y="2331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44440" y="199796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estilo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стиль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77200" y="195224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05216" y="233172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05216" y="2331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🧱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08720" y="199796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fachada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фасад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36956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📐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341528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arquitecto / la arquitecta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архитектор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2920" y="336956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093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444093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🏗️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44440" y="341528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· fue mandado construir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строить · было построено по приказу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77200" y="336956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05216" y="374904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205216" y="3749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🔨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808720" y="341528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restaurar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реставрировать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786884"/>
            <a:ext cx="3563112" cy="1234440"/>
          </a:xfrm>
          <a:prstGeom prst="roundRect">
            <a:avLst>
              <a:gd name="adj" fmla="val 6667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" y="5166360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5166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📜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80160" y="4832604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siglo (s. XI, s. XII...)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 (XI, XII...)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4 (B2) · Unidad 12B · Turismo cultural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3 · ROMÁNICO (S. XI-XII)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Iglesia de San Martín, Frómista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52144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estilo más antiguo de los cuatro — el más "puro" románico español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694944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7E9F3"/>
            </a:solidFill>
            <a:prstDash val="solid"/>
          </a:ln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741828"/>
            <a:ext cx="1303934" cy="1338682"/>
          </a:xfrm>
          <a:prstGeom prst="rect">
            <a:avLst/>
          </a:prstGeom>
          <a:solidFill>
            <a:srgbClr val="F5F6FB"/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72614" y="2741828"/>
            <a:ext cx="1303934" cy="1338682"/>
          </a:xfrm>
          <a:prstGeom prst="rect">
            <a:avLst/>
          </a:prstGeom>
          <a:solidFill>
            <a:srgbClr val="FFFFFF"/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6549" y="2741828"/>
            <a:ext cx="1303934" cy="1338682"/>
          </a:xfrm>
          <a:prstGeom prst="rect">
            <a:avLst/>
          </a:prstGeom>
          <a:solidFill>
            <a:srgbClr val="F5F6FB"/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55" y="2741828"/>
            <a:ext cx="5320052" cy="374831"/>
          </a:xfrm>
          <a:prstGeom prst="rect">
            <a:avLst/>
          </a:prstGeom>
          <a:solidFill>
            <a:srgbClr val="F9E795">
              <a:alpha val="65000"/>
            </a:srgbClr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877" y="2155058"/>
            <a:ext cx="1173541" cy="1173541"/>
          </a:xfrm>
          <a:prstGeom prst="pie">
            <a:avLst>
              <a:gd name="adj1" fmla="val 10800000"/>
              <a:gd name="adj2" fmla="val 21600000"/>
            </a:avLst>
          </a:prstGeom>
          <a:solidFill>
            <a:srgbClr val="F5F6FB"/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37811" y="2155058"/>
            <a:ext cx="1173541" cy="1173541"/>
          </a:xfrm>
          <a:prstGeom prst="pie">
            <a:avLst>
              <a:gd name="adj1" fmla="val 10800000"/>
              <a:gd name="adj2" fmla="val 21600000"/>
            </a:avLst>
          </a:prstGeom>
          <a:solidFill>
            <a:srgbClr val="F96167">
              <a:alpha val="85000"/>
            </a:srgbClr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41746" y="2155058"/>
            <a:ext cx="1173541" cy="1173541"/>
          </a:xfrm>
          <a:prstGeom prst="pie">
            <a:avLst>
              <a:gd name="adj1" fmla="val 10800000"/>
              <a:gd name="adj2" fmla="val 21600000"/>
            </a:avLst>
          </a:prstGeom>
          <a:solidFill>
            <a:srgbClr val="F5F6FB"/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091" y="3871880"/>
            <a:ext cx="417259" cy="20863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4" name="Shape 12"/>
          <p:cNvSpPr/>
          <p:nvPr/>
        </p:nvSpPr>
        <p:spPr>
          <a:xfrm>
            <a:off x="4425813" y="3871880"/>
            <a:ext cx="417259" cy="20863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1862450"/>
            <a:ext cx="41861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ábsides semicirculares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58719" y="281951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crucero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172614" y="3277301"/>
            <a:ext cx="13039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 central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2960" y="3277301"/>
            <a:ext cx="1395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 lateral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94360" y="4153662"/>
            <a:ext cx="4460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torrecillas con escaleras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48640" y="492861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Construida en el Camino de Santiago (Palencia). Planta de 3 naves + crucero,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3 ábsides semicirculares en la cabecera y 2 torrecillas en la fachada.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772400" y="1572768"/>
            <a:ext cx="3867912" cy="388620"/>
          </a:xfrm>
          <a:prstGeom prst="roundRect">
            <a:avLst>
              <a:gd name="adj" fmla="val 14118"/>
            </a:avLst>
          </a:prstGeom>
          <a:solidFill>
            <a:srgbClr val="F5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7845552" y="1572768"/>
            <a:ext cx="2971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⛪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234172" y="1591056"/>
            <a:ext cx="329641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nave (central / lateral)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неф (центральный / боковой)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772400" y="2052828"/>
            <a:ext cx="3867912" cy="388620"/>
          </a:xfrm>
          <a:prstGeom prst="roundRect">
            <a:avLst>
              <a:gd name="adj" fmla="val 14118"/>
            </a:avLst>
          </a:prstGeom>
          <a:solidFill>
            <a:srgbClr val="F5F6FB"/>
          </a:solidFill>
          <a:ln/>
        </p:spPr>
      </p:sp>
      <p:sp>
        <p:nvSpPr>
          <p:cNvPr id="25" name="Text 23"/>
          <p:cNvSpPr/>
          <p:nvPr/>
        </p:nvSpPr>
        <p:spPr>
          <a:xfrm>
            <a:off x="7845552" y="2052828"/>
            <a:ext cx="2971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34172" y="2071116"/>
            <a:ext cx="329641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bóveda de cañón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цилиндрический свод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72400" y="2532888"/>
            <a:ext cx="3867912" cy="388620"/>
          </a:xfrm>
          <a:prstGeom prst="roundRect">
            <a:avLst>
              <a:gd name="adj" fmla="val 14118"/>
            </a:avLst>
          </a:prstGeom>
          <a:solidFill>
            <a:srgbClr val="F5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7845552" y="2532888"/>
            <a:ext cx="2971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◗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4172" y="2551176"/>
            <a:ext cx="329641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arco de medio punto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полуциркульная арка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772400" y="3012948"/>
            <a:ext cx="3867912" cy="388620"/>
          </a:xfrm>
          <a:prstGeom prst="roundRect">
            <a:avLst>
              <a:gd name="adj" fmla="val 14118"/>
            </a:avLst>
          </a:prstGeom>
          <a:solidFill>
            <a:srgbClr val="F5F6FB"/>
          </a:solidFill>
          <a:ln/>
        </p:spPr>
      </p:sp>
      <p:sp>
        <p:nvSpPr>
          <p:cNvPr id="31" name="Text 29"/>
          <p:cNvSpPr/>
          <p:nvPr/>
        </p:nvSpPr>
        <p:spPr>
          <a:xfrm>
            <a:off x="7845552" y="3012948"/>
            <a:ext cx="2971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🔵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234172" y="3031236"/>
            <a:ext cx="329641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ábside (semicircular)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абсида (полукруглая)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772400" y="3493008"/>
            <a:ext cx="3867912" cy="388620"/>
          </a:xfrm>
          <a:prstGeom prst="roundRect">
            <a:avLst>
              <a:gd name="adj" fmla="val 14118"/>
            </a:avLst>
          </a:prstGeom>
          <a:solidFill>
            <a:srgbClr val="F5F6FB"/>
          </a:solidFill>
          <a:ln/>
        </p:spPr>
      </p:sp>
      <p:sp>
        <p:nvSpPr>
          <p:cNvPr id="34" name="Text 32"/>
          <p:cNvSpPr/>
          <p:nvPr/>
        </p:nvSpPr>
        <p:spPr>
          <a:xfrm>
            <a:off x="7845552" y="3493008"/>
            <a:ext cx="2971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➕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234172" y="3511296"/>
            <a:ext cx="329641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crucero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средокрестие (трансепт)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772400" y="3973068"/>
            <a:ext cx="3867912" cy="388620"/>
          </a:xfrm>
          <a:prstGeom prst="roundRect">
            <a:avLst>
              <a:gd name="adj" fmla="val 14118"/>
            </a:avLst>
          </a:prstGeom>
          <a:solidFill>
            <a:srgbClr val="F5F6FB"/>
          </a:solidFill>
          <a:ln/>
        </p:spPr>
      </p:sp>
      <p:sp>
        <p:nvSpPr>
          <p:cNvPr id="37" name="Text 35"/>
          <p:cNvSpPr/>
          <p:nvPr/>
        </p:nvSpPr>
        <p:spPr>
          <a:xfrm>
            <a:off x="7845552" y="3973068"/>
            <a:ext cx="2971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🗼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234172" y="3991356"/>
            <a:ext cx="329641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pilar cruciforme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крестообразный столб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772400" y="4453128"/>
            <a:ext cx="3867912" cy="388620"/>
          </a:xfrm>
          <a:prstGeom prst="roundRect">
            <a:avLst>
              <a:gd name="adj" fmla="val 14118"/>
            </a:avLst>
          </a:prstGeom>
          <a:solidFill>
            <a:srgbClr val="F5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7845552" y="4453128"/>
            <a:ext cx="2971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🏘️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234172" y="4471416"/>
            <a:ext cx="329641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torrecilla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башенка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7772400" y="4933188"/>
            <a:ext cx="3867912" cy="388620"/>
          </a:xfrm>
          <a:prstGeom prst="roundRect">
            <a:avLst>
              <a:gd name="adj" fmla="val 14118"/>
            </a:avLst>
          </a:prstGeom>
          <a:solidFill>
            <a:srgbClr val="F5F6FB"/>
          </a:solidFill>
          <a:ln/>
        </p:spPr>
      </p:sp>
      <p:sp>
        <p:nvSpPr>
          <p:cNvPr id="43" name="Text 41"/>
          <p:cNvSpPr/>
          <p:nvPr/>
        </p:nvSpPr>
        <p:spPr>
          <a:xfrm>
            <a:off x="7845552" y="4933188"/>
            <a:ext cx="2971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🚪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234172" y="4951476"/>
            <a:ext cx="329641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cabecera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алтарная часть храма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4 (B2) · Unidad 12B · Turismo cultural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4 · GÓTICO (S. XIII-XVI)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Catedral de Burgos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52144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Arcos apuntados y verticalidad: todo "apunta" hacia arriba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694944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7E9F3"/>
            </a:solidFill>
            <a:prstDash val="solid"/>
          </a:ln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319833" y="2936321"/>
            <a:ext cx="1009498" cy="873069"/>
          </a:xfrm>
          <a:prstGeom prst="rect">
            <a:avLst/>
          </a:prstGeom>
          <a:solidFill>
            <a:srgbClr val="F5F6FB"/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19833" y="2221992"/>
            <a:ext cx="1009498" cy="714329"/>
          </a:xfrm>
          <a:prstGeom prst="triangle">
            <a:avLst/>
          </a:prstGeom>
          <a:solidFill>
            <a:srgbClr val="2F3C7E"/>
          </a:solidFill>
          <a:ln/>
        </p:spPr>
      </p:sp>
      <p:sp>
        <p:nvSpPr>
          <p:cNvPr id="8" name="Shape 6"/>
          <p:cNvSpPr/>
          <p:nvPr/>
        </p:nvSpPr>
        <p:spPr>
          <a:xfrm>
            <a:off x="3455518" y="2936321"/>
            <a:ext cx="1009498" cy="873069"/>
          </a:xfrm>
          <a:prstGeom prst="rect">
            <a:avLst/>
          </a:prstGeom>
          <a:solidFill>
            <a:srgbClr val="F5F6FB"/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55518" y="2221992"/>
            <a:ext cx="1009498" cy="714329"/>
          </a:xfrm>
          <a:prstGeom prst="triangle">
            <a:avLst/>
          </a:prstGeom>
          <a:solidFill>
            <a:srgbClr val="2F3C7E"/>
          </a:solidFill>
          <a:ln/>
        </p:spPr>
      </p:sp>
      <p:sp>
        <p:nvSpPr>
          <p:cNvPr id="10" name="Text 8"/>
          <p:cNvSpPr/>
          <p:nvPr/>
        </p:nvSpPr>
        <p:spPr>
          <a:xfrm>
            <a:off x="2319833" y="1965960"/>
            <a:ext cx="30284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aguja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49547" y="3287085"/>
            <a:ext cx="1388059" cy="522305"/>
          </a:xfrm>
          <a:prstGeom prst="rect">
            <a:avLst/>
          </a:prstGeom>
          <a:solidFill>
            <a:srgbClr val="F9E795">
              <a:alpha val="85000"/>
            </a:srgbClr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49547" y="2938882"/>
            <a:ext cx="1388059" cy="348204"/>
          </a:xfrm>
          <a:prstGeom prst="triangle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3600907" y="2682850"/>
            <a:ext cx="24853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cimborrio (sobre el crucero)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94867" y="3246120"/>
            <a:ext cx="1009498" cy="563270"/>
          </a:xfrm>
          <a:prstGeom prst="rect">
            <a:avLst/>
          </a:prstGeom>
          <a:solidFill>
            <a:srgbClr val="F5F6FB"/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3427" y="3864254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capilla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789981" y="2547518"/>
            <a:ext cx="1261872" cy="1261872"/>
          </a:xfrm>
          <a:prstGeom prst="rect">
            <a:avLst/>
          </a:prstGeom>
          <a:solidFill>
            <a:srgbClr val="F5F6FB"/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67593" y="2825130"/>
            <a:ext cx="706648" cy="706648"/>
          </a:xfrm>
          <a:prstGeom prst="rect">
            <a:avLst/>
          </a:prstGeom>
          <a:solidFill>
            <a:srgbClr val="FFFFFF"/>
          </a:solidFill>
          <a:ln w="9525">
            <a:solidFill>
              <a:srgbClr val="2F3C7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98541" y="3864254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claustro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68680" y="3809390"/>
            <a:ext cx="6309360" cy="0"/>
          </a:xfrm>
          <a:prstGeom prst="line">
            <a:avLst/>
          </a:prstGeom>
          <a:noFill/>
          <a:ln w="15875">
            <a:solidFill>
              <a:srgbClr val="2F3C7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70001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Empezada en 1221, consagrada en 1260. Ampliada después con un grandioso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claustro, numerosas capillas, esbeltas agujas y un espléndido cimborrio.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772400" y="1572768"/>
            <a:ext cx="3867912" cy="360045"/>
          </a:xfrm>
          <a:prstGeom prst="roundRect">
            <a:avLst>
              <a:gd name="adj" fmla="val 15238"/>
            </a:avLst>
          </a:prstGeom>
          <a:solidFill>
            <a:srgbClr val="F5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7845552" y="1572768"/>
            <a:ext cx="268605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05597" y="1591056"/>
            <a:ext cx="3324987" cy="323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catedral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собор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772400" y="2024253"/>
            <a:ext cx="3867912" cy="360045"/>
          </a:xfrm>
          <a:prstGeom prst="roundRect">
            <a:avLst>
              <a:gd name="adj" fmla="val 15238"/>
            </a:avLst>
          </a:prstGeom>
          <a:solidFill>
            <a:srgbClr val="F5F6FB"/>
          </a:solidFill>
          <a:ln/>
        </p:spPr>
      </p:sp>
      <p:sp>
        <p:nvSpPr>
          <p:cNvPr id="25" name="Text 23"/>
          <p:cNvSpPr/>
          <p:nvPr/>
        </p:nvSpPr>
        <p:spPr>
          <a:xfrm>
            <a:off x="7845552" y="2024253"/>
            <a:ext cx="268605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🚶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05597" y="2042541"/>
            <a:ext cx="3324987" cy="323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claustro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клуатр (монастырский дворик)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72400" y="2475738"/>
            <a:ext cx="3867912" cy="360045"/>
          </a:xfrm>
          <a:prstGeom prst="roundRect">
            <a:avLst>
              <a:gd name="adj" fmla="val 15238"/>
            </a:avLst>
          </a:prstGeom>
          <a:solidFill>
            <a:srgbClr val="F5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7845552" y="2475738"/>
            <a:ext cx="268605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🙏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05597" y="2494026"/>
            <a:ext cx="3324987" cy="323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capilla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капелла, часовня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772400" y="2927223"/>
            <a:ext cx="3867912" cy="360045"/>
          </a:xfrm>
          <a:prstGeom prst="roundRect">
            <a:avLst>
              <a:gd name="adj" fmla="val 15238"/>
            </a:avLst>
          </a:prstGeom>
          <a:solidFill>
            <a:srgbClr val="F5F6FB"/>
          </a:solidFill>
          <a:ln/>
        </p:spPr>
      </p:sp>
      <p:sp>
        <p:nvSpPr>
          <p:cNvPr id="31" name="Text 29"/>
          <p:cNvSpPr/>
          <p:nvPr/>
        </p:nvSpPr>
        <p:spPr>
          <a:xfrm>
            <a:off x="7845552" y="2927223"/>
            <a:ext cx="268605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🗼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05597" y="2945511"/>
            <a:ext cx="3324987" cy="323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aguja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шпиль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772400" y="3378708"/>
            <a:ext cx="3867912" cy="360045"/>
          </a:xfrm>
          <a:prstGeom prst="roundRect">
            <a:avLst>
              <a:gd name="adj" fmla="val 15238"/>
            </a:avLst>
          </a:prstGeom>
          <a:solidFill>
            <a:srgbClr val="F5F6FB"/>
          </a:solidFill>
          <a:ln/>
        </p:spPr>
      </p:sp>
      <p:sp>
        <p:nvSpPr>
          <p:cNvPr id="34" name="Text 32"/>
          <p:cNvSpPr/>
          <p:nvPr/>
        </p:nvSpPr>
        <p:spPr>
          <a:xfrm>
            <a:off x="7845552" y="3378708"/>
            <a:ext cx="268605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🏯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205597" y="3396996"/>
            <a:ext cx="3324987" cy="323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cimborrio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купольный фонарь (над средокрестием)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772400" y="3830193"/>
            <a:ext cx="3867912" cy="360045"/>
          </a:xfrm>
          <a:prstGeom prst="roundRect">
            <a:avLst>
              <a:gd name="adj" fmla="val 15238"/>
            </a:avLst>
          </a:prstGeom>
          <a:solidFill>
            <a:srgbClr val="F5F6FB"/>
          </a:solidFill>
          <a:ln/>
        </p:spPr>
      </p:sp>
      <p:sp>
        <p:nvSpPr>
          <p:cNvPr id="37" name="Text 35"/>
          <p:cNvSpPr/>
          <p:nvPr/>
        </p:nvSpPr>
        <p:spPr>
          <a:xfrm>
            <a:off x="7845552" y="3830193"/>
            <a:ext cx="268605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🎉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05597" y="3848481"/>
            <a:ext cx="3324987" cy="323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consagrar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освящать (храм)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772400" y="4281678"/>
            <a:ext cx="3867912" cy="360045"/>
          </a:xfrm>
          <a:prstGeom prst="roundRect">
            <a:avLst>
              <a:gd name="adj" fmla="val 15238"/>
            </a:avLst>
          </a:prstGeom>
          <a:solidFill>
            <a:srgbClr val="F5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7845552" y="4281678"/>
            <a:ext cx="268605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📈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05597" y="4299966"/>
            <a:ext cx="3324987" cy="323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расширять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7772400" y="4733163"/>
            <a:ext cx="3867912" cy="360045"/>
          </a:xfrm>
          <a:prstGeom prst="roundRect">
            <a:avLst>
              <a:gd name="adj" fmla="val 15238"/>
            </a:avLst>
          </a:prstGeom>
          <a:solidFill>
            <a:srgbClr val="F5F6FB"/>
          </a:solidFill>
          <a:ln/>
        </p:spPr>
      </p:sp>
      <p:sp>
        <p:nvSpPr>
          <p:cNvPr id="43" name="Text 41"/>
          <p:cNvSpPr/>
          <p:nvPr/>
        </p:nvSpPr>
        <p:spPr>
          <a:xfrm>
            <a:off x="7845552" y="4733163"/>
            <a:ext cx="268605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✨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205597" y="4751451"/>
            <a:ext cx="3324987" cy="323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embellecer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украшать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4 (B2) · Unidad 12B · Turismo cultural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2 · ÁRABE (S. XII)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Giralda, Sevilla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52144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minarete de la antigua mezquita, bajo la catedral gótica de Sevilla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694944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7E9F3"/>
            </a:solidFill>
            <a:prstDash val="solid"/>
          </a:ln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319833" y="3118104"/>
            <a:ext cx="2397557" cy="1664208"/>
          </a:xfrm>
          <a:prstGeom prst="rect">
            <a:avLst/>
          </a:prstGeom>
          <a:solidFill>
            <a:srgbClr val="F5F6FB"/>
          </a:solidFill>
          <a:ln w="19050">
            <a:solidFill>
              <a:srgbClr val="2F3C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015124" y="3417661"/>
            <a:ext cx="1006974" cy="1364651"/>
          </a:xfrm>
          <a:prstGeom prst="rect">
            <a:avLst/>
          </a:prstGeom>
          <a:solidFill>
            <a:srgbClr val="FFFFFF"/>
          </a:solidFill>
          <a:ln w="15875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95084" y="3143341"/>
            <a:ext cx="16470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hueco con rampa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 flipV="1">
            <a:off x="2667479" y="4554870"/>
            <a:ext cx="1945617" cy="227442"/>
          </a:xfrm>
          <a:prstGeom prst="line">
            <a:avLst/>
          </a:prstGeom>
          <a:noFill/>
          <a:ln w="31750">
            <a:solidFill>
              <a:srgbClr val="F9E79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 flipV="1">
            <a:off x="2424127" y="4327428"/>
            <a:ext cx="2188969" cy="227442"/>
          </a:xfrm>
          <a:prstGeom prst="line">
            <a:avLst/>
          </a:prstGeom>
          <a:noFill/>
          <a:ln w="31750">
            <a:solidFill>
              <a:srgbClr val="F9E79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2424127" y="4099987"/>
            <a:ext cx="2188969" cy="227442"/>
          </a:xfrm>
          <a:prstGeom prst="line">
            <a:avLst/>
          </a:prstGeom>
          <a:noFill/>
          <a:ln w="31750">
            <a:solidFill>
              <a:srgbClr val="F9E79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2424127" y="3872545"/>
            <a:ext cx="2188969" cy="227442"/>
          </a:xfrm>
          <a:prstGeom prst="line">
            <a:avLst/>
          </a:prstGeom>
          <a:noFill/>
          <a:ln w="31750">
            <a:solidFill>
              <a:srgbClr val="F9E79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2424127" y="3645103"/>
            <a:ext cx="2188969" cy="227442"/>
          </a:xfrm>
          <a:prstGeom prst="line">
            <a:avLst/>
          </a:prstGeom>
          <a:noFill/>
          <a:ln w="31750">
            <a:solidFill>
              <a:srgbClr val="F9E79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 flipV="1">
            <a:off x="2424127" y="3417661"/>
            <a:ext cx="2188969" cy="227442"/>
          </a:xfrm>
          <a:prstGeom prst="line">
            <a:avLst/>
          </a:prstGeom>
          <a:noFill/>
          <a:ln w="31750">
            <a:solidFill>
              <a:srgbClr val="F9E79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79466" y="2606040"/>
            <a:ext cx="1678290" cy="512064"/>
          </a:xfrm>
          <a:prstGeom prst="rect">
            <a:avLst/>
          </a:prstGeom>
          <a:solidFill>
            <a:srgbClr val="F9E795">
              <a:alpha val="80000"/>
            </a:srgbClr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47946" y="2331720"/>
            <a:ext cx="31413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cuerpo de campanas (renacentista)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463747" y="2148840"/>
            <a:ext cx="109728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8" name="Text 16"/>
          <p:cNvSpPr/>
          <p:nvPr/>
        </p:nvSpPr>
        <p:spPr>
          <a:xfrm>
            <a:off x="2695651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veleta giratoria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68680" y="487375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torres, una dentro de la otra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48640" y="534009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 97,5 m. Dos torres, una dentro de la otra, con una rampa en el hueco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subir a caballo. Encima, cuerpo de campanas renacentista y veleta giratoria.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772400" y="1572768"/>
            <a:ext cx="3867912" cy="515983"/>
          </a:xfrm>
          <a:prstGeom prst="roundRect">
            <a:avLst>
              <a:gd name="adj" fmla="val 10633"/>
            </a:avLst>
          </a:prstGeom>
          <a:solidFill>
            <a:srgbClr val="F5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7845552" y="1572768"/>
            <a:ext cx="329184" cy="515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🕌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66176" y="1591056"/>
            <a:ext cx="3264408" cy="479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minarete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минарет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772400" y="2180191"/>
            <a:ext cx="3867912" cy="515983"/>
          </a:xfrm>
          <a:prstGeom prst="roundRect">
            <a:avLst>
              <a:gd name="adj" fmla="val 10633"/>
            </a:avLst>
          </a:prstGeom>
          <a:solidFill>
            <a:srgbClr val="F5F6FB"/>
          </a:solidFill>
          <a:ln/>
        </p:spPr>
      </p:sp>
      <p:sp>
        <p:nvSpPr>
          <p:cNvPr id="25" name="Text 23"/>
          <p:cNvSpPr/>
          <p:nvPr/>
        </p:nvSpPr>
        <p:spPr>
          <a:xfrm>
            <a:off x="7845552" y="2180191"/>
            <a:ext cx="329184" cy="515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🕋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66176" y="2198479"/>
            <a:ext cx="3264408" cy="479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mezquita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мечеть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72400" y="2787614"/>
            <a:ext cx="3867912" cy="515983"/>
          </a:xfrm>
          <a:prstGeom prst="roundRect">
            <a:avLst>
              <a:gd name="adj" fmla="val 10633"/>
            </a:avLst>
          </a:prstGeom>
          <a:solidFill>
            <a:srgbClr val="F5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7845552" y="2787614"/>
            <a:ext cx="329184" cy="515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👑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66176" y="2805902"/>
            <a:ext cx="3264408" cy="479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sultán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султан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772400" y="3395037"/>
            <a:ext cx="3867912" cy="515983"/>
          </a:xfrm>
          <a:prstGeom prst="roundRect">
            <a:avLst>
              <a:gd name="adj" fmla="val 10633"/>
            </a:avLst>
          </a:prstGeom>
          <a:solidFill>
            <a:srgbClr val="F5F6FB"/>
          </a:solidFill>
          <a:ln/>
        </p:spPr>
      </p:sp>
      <p:sp>
        <p:nvSpPr>
          <p:cNvPr id="31" name="Text 29"/>
          <p:cNvSpPr/>
          <p:nvPr/>
        </p:nvSpPr>
        <p:spPr>
          <a:xfrm>
            <a:off x="7845552" y="3395037"/>
            <a:ext cx="329184" cy="515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🐎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66176" y="3413325"/>
            <a:ext cx="3264408" cy="479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rampa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пандус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772400" y="4002459"/>
            <a:ext cx="3867912" cy="515983"/>
          </a:xfrm>
          <a:prstGeom prst="roundRect">
            <a:avLst>
              <a:gd name="adj" fmla="val 10633"/>
            </a:avLst>
          </a:prstGeom>
          <a:solidFill>
            <a:srgbClr val="F5F6FB"/>
          </a:solidFill>
          <a:ln/>
        </p:spPr>
      </p:sp>
      <p:sp>
        <p:nvSpPr>
          <p:cNvPr id="34" name="Text 32"/>
          <p:cNvSpPr/>
          <p:nvPr/>
        </p:nvSpPr>
        <p:spPr>
          <a:xfrm>
            <a:off x="7845552" y="4002459"/>
            <a:ext cx="329184" cy="515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🔔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66176" y="4020747"/>
            <a:ext cx="3264408" cy="479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cuerpo (de campanas)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ярус (колоколов)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772400" y="4609882"/>
            <a:ext cx="3867912" cy="515983"/>
          </a:xfrm>
          <a:prstGeom prst="roundRect">
            <a:avLst>
              <a:gd name="adj" fmla="val 10633"/>
            </a:avLst>
          </a:prstGeom>
          <a:solidFill>
            <a:srgbClr val="F5F6FB"/>
          </a:solidFill>
          <a:ln/>
        </p:spPr>
      </p:sp>
      <p:sp>
        <p:nvSpPr>
          <p:cNvPr id="37" name="Text 35"/>
          <p:cNvSpPr/>
          <p:nvPr/>
        </p:nvSpPr>
        <p:spPr>
          <a:xfrm>
            <a:off x="7845552" y="4609882"/>
            <a:ext cx="329184" cy="515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🎭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266176" y="4628170"/>
            <a:ext cx="3264408" cy="479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renacentista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ренессансный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772400" y="5217305"/>
            <a:ext cx="3867912" cy="515983"/>
          </a:xfrm>
          <a:prstGeom prst="roundRect">
            <a:avLst>
              <a:gd name="adj" fmla="val 10633"/>
            </a:avLst>
          </a:prstGeom>
          <a:solidFill>
            <a:srgbClr val="F5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7845552" y="5217305"/>
            <a:ext cx="329184" cy="515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🌬️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266176" y="5235593"/>
            <a:ext cx="3264408" cy="479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veleta (giratoria)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флюгер (вращающийся)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4 (B2) · Unidad 12B · Turismo cultural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1 · MODERNO (S. XXI)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Museo de las Ciencias Príncipe Felipe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52144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 de las Artes y las Ciencias, Valencia — arquitecto Santiago Calatrava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69494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7E9F3"/>
            </a:solidFill>
            <a:prstDash val="solid"/>
          </a:ln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10335" y="3447288"/>
            <a:ext cx="9144" cy="274320"/>
          </a:xfrm>
          <a:prstGeom prst="line">
            <a:avLst/>
          </a:prstGeom>
          <a:noFill/>
          <a:ln w="38100">
            <a:solidFill>
              <a:srgbClr val="2F3C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85485" y="3110056"/>
            <a:ext cx="9144" cy="611552"/>
          </a:xfrm>
          <a:prstGeom prst="line">
            <a:avLst/>
          </a:prstGeom>
          <a:noFill/>
          <a:ln w="38100">
            <a:solidFill>
              <a:srgbClr val="2F3C7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60635" y="2839617"/>
            <a:ext cx="9144" cy="881991"/>
          </a:xfrm>
          <a:prstGeom prst="line">
            <a:avLst/>
          </a:prstGeom>
          <a:noFill/>
          <a:ln w="38100">
            <a:solidFill>
              <a:srgbClr val="2F3C7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5785" y="2689535"/>
            <a:ext cx="9144" cy="1032073"/>
          </a:xfrm>
          <a:prstGeom prst="line">
            <a:avLst/>
          </a:prstGeom>
          <a:noFill/>
          <a:ln w="38100">
            <a:solidFill>
              <a:srgbClr val="2F3C7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10935" y="2689535"/>
            <a:ext cx="9144" cy="1032073"/>
          </a:xfrm>
          <a:prstGeom prst="line">
            <a:avLst/>
          </a:prstGeom>
          <a:noFill/>
          <a:ln w="38100">
            <a:solidFill>
              <a:srgbClr val="2F3C7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86085" y="2839617"/>
            <a:ext cx="9144" cy="881991"/>
          </a:xfrm>
          <a:prstGeom prst="line">
            <a:avLst/>
          </a:prstGeom>
          <a:noFill/>
          <a:ln w="38100">
            <a:solidFill>
              <a:srgbClr val="2F3C7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61235" y="3110056"/>
            <a:ext cx="9144" cy="611552"/>
          </a:xfrm>
          <a:prstGeom prst="line">
            <a:avLst/>
          </a:prstGeom>
          <a:noFill/>
          <a:ln w="38100">
            <a:solidFill>
              <a:srgbClr val="2F3C7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36385" y="3447288"/>
            <a:ext cx="9144" cy="274320"/>
          </a:xfrm>
          <a:prstGeom prst="line">
            <a:avLst/>
          </a:prstGeom>
          <a:noFill/>
          <a:ln w="38100">
            <a:solidFill>
              <a:srgbClr val="2F3C7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10335" y="2350008"/>
            <a:ext cx="5426050" cy="1143000"/>
          </a:xfrm>
          <a:prstGeom prst="arc">
            <a:avLst>
              <a:gd name="adj1" fmla="val 10800000"/>
              <a:gd name="adj2" fmla="val 21600000"/>
            </a:avLst>
          </a:prstGeom>
          <a:ln w="38100">
            <a:solidFill>
              <a:srgbClr val="F9616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0335" y="3493008"/>
            <a:ext cx="5426050" cy="0"/>
          </a:xfrm>
          <a:prstGeom prst="line">
            <a:avLst/>
          </a:prstGeom>
          <a:noFill/>
          <a:ln w="19050">
            <a:solidFill>
              <a:srgbClr val="2F3C7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78561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nervios (forma de esqueleto)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48640" y="442569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Museo interactivo inaugurado en 2000. Ocupa 40.000 m² en tres pisos,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una estructura de nervios que recuerda al esqueleto de un dinosaurio.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0" y="1572768"/>
            <a:ext cx="3867912" cy="576072"/>
          </a:xfrm>
          <a:prstGeom prst="roundRect">
            <a:avLst>
              <a:gd name="adj" fmla="val 9524"/>
            </a:avLst>
          </a:prstGeom>
          <a:solidFill>
            <a:srgbClr val="F5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845552" y="1572768"/>
            <a:ext cx="32918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🔬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66176" y="1591056"/>
            <a:ext cx="326440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museo interactivo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интерактивный музей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772400" y="2240280"/>
            <a:ext cx="3867912" cy="576072"/>
          </a:xfrm>
          <a:prstGeom prst="roundRect">
            <a:avLst>
              <a:gd name="adj" fmla="val 9524"/>
            </a:avLst>
          </a:prstGeom>
          <a:solidFill>
            <a:srgbClr val="F5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7845552" y="2240280"/>
            <a:ext cx="32918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🏙️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66176" y="2258568"/>
            <a:ext cx="326440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conjunto arquitectónico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архитектурный ансамбль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772400" y="2907792"/>
            <a:ext cx="3867912" cy="576072"/>
          </a:xfrm>
          <a:prstGeom prst="roundRect">
            <a:avLst>
              <a:gd name="adj" fmla="val 9524"/>
            </a:avLst>
          </a:prstGeom>
          <a:solidFill>
            <a:srgbClr val="F5F6FB"/>
          </a:solidFill>
          <a:ln/>
        </p:spPr>
      </p:sp>
      <p:sp>
        <p:nvSpPr>
          <p:cNvPr id="25" name="Text 23"/>
          <p:cNvSpPr/>
          <p:nvPr/>
        </p:nvSpPr>
        <p:spPr>
          <a:xfrm>
            <a:off x="7845552" y="2907792"/>
            <a:ext cx="32918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66176" y="2926080"/>
            <a:ext cx="326440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проектировать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72400" y="3575304"/>
            <a:ext cx="3867912" cy="576072"/>
          </a:xfrm>
          <a:prstGeom prst="roundRect">
            <a:avLst>
              <a:gd name="adj" fmla="val 9524"/>
            </a:avLst>
          </a:prstGeom>
          <a:solidFill>
            <a:srgbClr val="F5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7845552" y="3575304"/>
            <a:ext cx="32918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🎊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66176" y="3593592"/>
            <a:ext cx="326440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inaugurar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торжественно открывать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772400" y="4242816"/>
            <a:ext cx="3867912" cy="576072"/>
          </a:xfrm>
          <a:prstGeom prst="roundRect">
            <a:avLst>
              <a:gd name="adj" fmla="val 9524"/>
            </a:avLst>
          </a:prstGeom>
          <a:solidFill>
            <a:srgbClr val="F5F6FB"/>
          </a:solidFill>
          <a:ln/>
        </p:spPr>
      </p:sp>
      <p:sp>
        <p:nvSpPr>
          <p:cNvPr id="31" name="Text 29"/>
          <p:cNvSpPr/>
          <p:nvPr/>
        </p:nvSpPr>
        <p:spPr>
          <a:xfrm>
            <a:off x="7845552" y="4242816"/>
            <a:ext cx="32918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🦴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66176" y="4261104"/>
            <a:ext cx="326440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tener forma de esqueleto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иметь форму скелета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4 (B2) · Unidad 12B · Turismo cultural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ESCUCHAR · IGLESIA DE SAN FRANCISCO EL GRANDE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Léxico de la iglesia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Palabras del recuadro antes de escuchar el audio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691640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691640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⛰️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63901" y="1636776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ermita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скит, уединённая часовня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306901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2398341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98341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🏛️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63901" y="2343477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convento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монастырь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013601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" y="3105041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3105041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⭕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63901" y="3050177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rotonda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ротонда (круглый зал/здание)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720302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811742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3811742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🔵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63901" y="3756878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cúpula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купол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427002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8368" y="4518442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4518442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🖼️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63901" y="4463578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lienzo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холст, полотно (картина)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133703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" y="5225143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" y="5225143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🙏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63901" y="5170279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capilla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капелла, часовня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5840403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8368" y="5931843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" y="5931843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🥈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63901" y="5876979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plateresco/a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платереско (стиль испанского Ренессанса)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355080" y="1600200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64808" y="1691640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6464808" y="1691640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➰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70341" y="1636776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cordón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шнур, верёвочный пояс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55080" y="2306901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464808" y="2398341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9" name="Text 37"/>
          <p:cNvSpPr/>
          <p:nvPr/>
        </p:nvSpPr>
        <p:spPr>
          <a:xfrm>
            <a:off x="6464808" y="2398341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👑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970341" y="2343477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trono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трон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355080" y="3013601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64808" y="3105041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6464808" y="3105041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🦺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70341" y="3050177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chaleco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жилет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6355080" y="3720302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464808" y="3811742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7" name="Text 45"/>
          <p:cNvSpPr/>
          <p:nvPr/>
        </p:nvSpPr>
        <p:spPr>
          <a:xfrm>
            <a:off x="6464808" y="3811742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❤️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970341" y="3756878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virtud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добродетель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6355080" y="4427002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6464808" y="4518442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1" name="Text 49"/>
          <p:cNvSpPr/>
          <p:nvPr/>
        </p:nvSpPr>
        <p:spPr>
          <a:xfrm>
            <a:off x="6464808" y="4518442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🕯️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970341" y="4463578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altar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алтарь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6355080" y="5133703"/>
            <a:ext cx="5349240" cy="560397"/>
          </a:xfrm>
          <a:prstGeom prst="roundRect">
            <a:avLst>
              <a:gd name="adj" fmla="val 13054"/>
            </a:avLst>
          </a:prstGeom>
          <a:solidFill>
            <a:srgbClr val="F5F6FB"/>
          </a:solidFill>
          <a:ln/>
          <a:effectLst>
            <a:outerShdw sx="100000" sy="100000" kx="0" ky="0" algn="bl" rotWithShape="0" blurRad="76200" dist="38100" dir="5400000">
              <a:srgbClr val="1B234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464808" y="5225143"/>
            <a:ext cx="377517" cy="377517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5" name="Text 53"/>
          <p:cNvSpPr/>
          <p:nvPr/>
        </p:nvSpPr>
        <p:spPr>
          <a:xfrm>
            <a:off x="6464808" y="5225143"/>
            <a:ext cx="377517" cy="377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🏺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6970341" y="5170279"/>
            <a:ext cx="4624251" cy="487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mayólica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майолика (расписная керамика)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4 (B2) · Unidad 12B · Turismo cultural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Cuadro comparativo de los 4 estilos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52144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repasar de un vistazo antes del ejercicio 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554480" cy="45720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64592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103120" y="1645920"/>
            <a:ext cx="1371600" cy="45720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8" name="Text 6"/>
          <p:cNvSpPr/>
          <p:nvPr/>
        </p:nvSpPr>
        <p:spPr>
          <a:xfrm>
            <a:off x="2176272" y="164592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Siglos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0" y="1645920"/>
            <a:ext cx="2468880" cy="45720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0" name="Text 8"/>
          <p:cNvSpPr/>
          <p:nvPr/>
        </p:nvSpPr>
        <p:spPr>
          <a:xfrm>
            <a:off x="3547872" y="1645920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Arco típico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0" y="1645920"/>
            <a:ext cx="3200400" cy="45720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2" name="Text 10"/>
          <p:cNvSpPr/>
          <p:nvPr/>
        </p:nvSpPr>
        <p:spPr>
          <a:xfrm>
            <a:off x="6016752" y="164592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Elementos clave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44000" y="1645920"/>
            <a:ext cx="2496312" cy="45720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4" name="Text 12"/>
          <p:cNvSpPr/>
          <p:nvPr/>
        </p:nvSpPr>
        <p:spPr>
          <a:xfrm>
            <a:off x="9217152" y="1645920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del capítulo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103120"/>
            <a:ext cx="1554480" cy="1051560"/>
          </a:xfrm>
          <a:prstGeom prst="rect">
            <a:avLst/>
          </a:prstGeom>
          <a:solidFill>
            <a:srgbClr val="F5F6FB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2103120"/>
            <a:ext cx="1408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Románico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103120" y="2103120"/>
            <a:ext cx="1371600" cy="1051560"/>
          </a:xfrm>
          <a:prstGeom prst="rect">
            <a:avLst/>
          </a:prstGeom>
          <a:solidFill>
            <a:srgbClr val="F5F6FB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76272" y="2103120"/>
            <a:ext cx="12252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XI-XII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474720" y="2103120"/>
            <a:ext cx="2468880" cy="1051560"/>
          </a:xfrm>
          <a:prstGeom prst="rect">
            <a:avLst/>
          </a:prstGeom>
          <a:solidFill>
            <a:srgbClr val="F5F6FB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7872" y="2103120"/>
            <a:ext cx="23225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medio punto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0" y="2103120"/>
            <a:ext cx="3200400" cy="1051560"/>
          </a:xfrm>
          <a:prstGeom prst="rect">
            <a:avLst/>
          </a:prstGeom>
          <a:solidFill>
            <a:srgbClr val="F5F6FB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16752" y="2103120"/>
            <a:ext cx="3054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bóveda de cañón, ábside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144000" y="2103120"/>
            <a:ext cx="2496312" cy="1051560"/>
          </a:xfrm>
          <a:prstGeom prst="rect">
            <a:avLst/>
          </a:prstGeom>
          <a:solidFill>
            <a:srgbClr val="F5F6FB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17152" y="2103120"/>
            <a:ext cx="23500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Iglesia de San Martín, Frómista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3154680"/>
            <a:ext cx="15544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" y="3154680"/>
            <a:ext cx="1408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Gótico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2103120" y="3154680"/>
            <a:ext cx="137160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176272" y="3154680"/>
            <a:ext cx="12252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XIII-XVI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474720" y="3154680"/>
            <a:ext cx="24688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47872" y="3154680"/>
            <a:ext cx="23225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apuntado / ojival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0" y="3154680"/>
            <a:ext cx="320040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16752" y="3154680"/>
            <a:ext cx="3054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aguja, cimborrio, claustro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144000" y="3154680"/>
            <a:ext cx="2496312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17152" y="3154680"/>
            <a:ext cx="23500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Catedral de Burgos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48640" y="4206240"/>
            <a:ext cx="1554480" cy="1051560"/>
          </a:xfrm>
          <a:prstGeom prst="rect">
            <a:avLst/>
          </a:prstGeom>
          <a:solidFill>
            <a:srgbClr val="F5F6FB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" y="4206240"/>
            <a:ext cx="1408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Árabe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2103120" y="4206240"/>
            <a:ext cx="1371600" cy="1051560"/>
          </a:xfrm>
          <a:prstGeom prst="rect">
            <a:avLst/>
          </a:prstGeom>
          <a:solidFill>
            <a:srgbClr val="F5F6FB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76272" y="4206240"/>
            <a:ext cx="12252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XII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474720" y="4206240"/>
            <a:ext cx="2468880" cy="1051560"/>
          </a:xfrm>
          <a:prstGeom prst="rect">
            <a:avLst/>
          </a:prstGeom>
          <a:solidFill>
            <a:srgbClr val="F5F6FB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547872" y="4206240"/>
            <a:ext cx="23225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herradura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943600" y="4206240"/>
            <a:ext cx="3200400" cy="1051560"/>
          </a:xfrm>
          <a:prstGeom prst="rect">
            <a:avLst/>
          </a:prstGeom>
          <a:solidFill>
            <a:srgbClr val="F5F6FB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16752" y="4206240"/>
            <a:ext cx="3054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minarete, rampa interior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9144000" y="4206240"/>
            <a:ext cx="2496312" cy="1051560"/>
          </a:xfrm>
          <a:prstGeom prst="rect">
            <a:avLst/>
          </a:prstGeom>
          <a:solidFill>
            <a:srgbClr val="F5F6FB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217152" y="4206240"/>
            <a:ext cx="23500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Giralda, Sevilla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48640" y="5257800"/>
            <a:ext cx="15544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1792" y="5257800"/>
            <a:ext cx="1408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Moderno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2103120" y="5257800"/>
            <a:ext cx="137160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176272" y="5257800"/>
            <a:ext cx="12252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XXI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474720" y="5257800"/>
            <a:ext cx="24688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47872" y="5257800"/>
            <a:ext cx="23225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estructuras de acero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5943600" y="5257800"/>
            <a:ext cx="320040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16752" y="5257800"/>
            <a:ext cx="3054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interactivo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9144000" y="5257800"/>
            <a:ext cx="2496312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9F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217152" y="5257800"/>
            <a:ext cx="23500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Museo Príncipe Felipe, Valencia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4 (B2) · Unidad 12B · Turismo cultural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Angel Luis Acosta González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572000" cy="4572000"/>
          </a:xfrm>
          <a:prstGeom prst="ellipse">
            <a:avLst/>
          </a:prstGeom>
          <a:solidFill>
            <a:srgbClr val="F96167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206240"/>
            <a:ext cx="3840480" cy="3840480"/>
          </a:xfrm>
          <a:prstGeom prst="ellipse">
            <a:avLst/>
          </a:prstGeom>
          <a:solidFill>
            <a:srgbClr val="F9E795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¡A REPASAR!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 conoces el léxico de la Unidad 12B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520440"/>
            <a:ext cx="9784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Vuelve a leer los 4 textos del libro fijándote en estas palabras: románico, gótico,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árabe y moderno ya no deberían sonar difíciles.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ejercicio 5, escucha el audio sobre San Francisco el Grande usando el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 de la última tabla.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07492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Angel Luis Acosta González, tu profesor de español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9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Español en Marcha 4 (B2) · Unidad 12B · Turismo cultural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Léxico del arte y la arquitectura — Turismo cultural (B2, Unidad 12B)</dc:title>
  <dc:subject>PptxGenJS Presentation</dc:subject>
  <dc:creator>PptxGenJS</dc:creator>
  <cp:lastModifiedBy>PptxGenJS</cp:lastModifiedBy>
  <cp:revision>1</cp:revision>
  <dcterms:created xsi:type="dcterms:W3CDTF">2026-08-09T09:09:40Z</dcterms:created>
  <dcterms:modified xsi:type="dcterms:W3CDTF">2026-08-09T09:09:40Z</dcterms:modified>
</cp:coreProperties>
</file>