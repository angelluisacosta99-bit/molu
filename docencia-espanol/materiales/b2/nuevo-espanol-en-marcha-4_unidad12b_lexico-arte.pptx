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F3C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206240" cy="4206240"/>
          </a:xfrm>
          <a:prstGeom prst="ellipse">
            <a:avLst/>
          </a:prstGeom>
          <a:solidFill>
            <a:srgbClr val="F96167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4572000"/>
            <a:ext cx="3474720" cy="3474720"/>
          </a:xfrm>
          <a:prstGeom prst="ellipse">
            <a:avLst/>
          </a:prstGeom>
          <a:solidFill>
            <a:srgbClr val="F9E795">
              <a:alpha val="1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9659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NUEVO ESPAÑOL EN MARCHA 4 · NIVEL B2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2331720"/>
            <a:ext cx="10515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Léxico del arte</a:t>
            </a:r>
            <a:endParaRPr lang="en-US" sz="4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 la arquitectura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822960" y="397764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12B — Turismo cultural: románico, gótico, árabe y moderno, con esquemas y traducción al ruso.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22960" y="5074920"/>
            <a:ext cx="777240" cy="777240"/>
          </a:xfrm>
          <a:prstGeom prst="ellipse">
            <a:avLst/>
          </a:prstGeom>
          <a:solidFill>
            <a:srgbClr val="F96167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2960" y="50749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🏛️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1783080" y="5074920"/>
            <a:ext cx="777240" cy="777240"/>
          </a:xfrm>
          <a:prstGeom prst="ellipse">
            <a:avLst/>
          </a:prstGeom>
          <a:solidFill>
            <a:srgbClr val="F96167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783080" y="50749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⛪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2743200" y="5074920"/>
            <a:ext cx="777240" cy="777240"/>
          </a:xfrm>
          <a:prstGeom prst="ellipse">
            <a:avLst/>
          </a:prstGeom>
          <a:solidFill>
            <a:srgbClr val="F96167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743200" y="50749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🕌</a:t>
            </a:r>
            <a:endParaRPr lang="en-US" sz="3000" dirty="0"/>
          </a:p>
        </p:txBody>
      </p:sp>
      <p:sp>
        <p:nvSpPr>
          <p:cNvPr id="13" name="Shape 11"/>
          <p:cNvSpPr/>
          <p:nvPr/>
        </p:nvSpPr>
        <p:spPr>
          <a:xfrm>
            <a:off x="3703320" y="5074920"/>
            <a:ext cx="777240" cy="777240"/>
          </a:xfrm>
          <a:prstGeom prst="ellipse">
            <a:avLst/>
          </a:prstGeom>
          <a:solidFill>
            <a:srgbClr val="F96167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703320" y="50749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🔬</a:t>
            </a:r>
            <a:endParaRPr lang="en-US" sz="3000" dirty="0"/>
          </a:p>
        </p:txBody>
      </p:sp>
      <p:sp>
        <p:nvSpPr>
          <p:cNvPr id="15" name="Shape 13"/>
          <p:cNvSpPr/>
          <p:nvPr/>
        </p:nvSpPr>
        <p:spPr>
          <a:xfrm>
            <a:off x="4663440" y="5074920"/>
            <a:ext cx="777240" cy="777240"/>
          </a:xfrm>
          <a:prstGeom prst="ellipse">
            <a:avLst/>
          </a:prstGeom>
          <a:solidFill>
            <a:srgbClr val="F96167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663440" y="50749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📐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822960" y="60807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9B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Español → Ruso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22960" y="641908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E7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elaborado por Angel Luis Acosta González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12B · TURISMO CULTURAL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 4 estilos del capítulo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Ejercicio 1: relaciona cada foto del libro con su estilo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3369564"/>
            <a:ext cx="2622042" cy="1234440"/>
          </a:xfrm>
          <a:prstGeom prst="roundRect">
            <a:avLst>
              <a:gd name="adj" fmla="val 6667"/>
            </a:avLst>
          </a:prstGeom>
          <a:solidFill>
            <a:srgbClr val="F5F6FB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76656" y="3749040"/>
            <a:ext cx="475488" cy="47548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7" name="Text 5"/>
          <p:cNvSpPr/>
          <p:nvPr/>
        </p:nvSpPr>
        <p:spPr>
          <a:xfrm>
            <a:off x="676656" y="37490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🏛️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80160" y="3415284"/>
            <a:ext cx="178079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moderno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современный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371850" y="3369564"/>
            <a:ext cx="2622042" cy="1234440"/>
          </a:xfrm>
          <a:prstGeom prst="roundRect">
            <a:avLst>
              <a:gd name="adj" fmla="val 6667"/>
            </a:avLst>
          </a:prstGeom>
          <a:solidFill>
            <a:srgbClr val="F5F6FB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99866" y="3749040"/>
            <a:ext cx="475488" cy="47548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1" name="Text 9"/>
          <p:cNvSpPr/>
          <p:nvPr/>
        </p:nvSpPr>
        <p:spPr>
          <a:xfrm>
            <a:off x="3499866" y="37490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🕌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103370" y="3415284"/>
            <a:ext cx="178079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árabe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арабский (мавританский)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95060" y="3369564"/>
            <a:ext cx="2622042" cy="1234440"/>
          </a:xfrm>
          <a:prstGeom prst="roundRect">
            <a:avLst>
              <a:gd name="adj" fmla="val 6667"/>
            </a:avLst>
          </a:prstGeom>
          <a:solidFill>
            <a:srgbClr val="F5F6FB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323076" y="3749040"/>
            <a:ext cx="475488" cy="47548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5" name="Text 13"/>
          <p:cNvSpPr/>
          <p:nvPr/>
        </p:nvSpPr>
        <p:spPr>
          <a:xfrm>
            <a:off x="6323076" y="37490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⛪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926580" y="3415284"/>
            <a:ext cx="178079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gótico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готический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9018270" y="3369564"/>
            <a:ext cx="2622042" cy="1234440"/>
          </a:xfrm>
          <a:prstGeom prst="roundRect">
            <a:avLst>
              <a:gd name="adj" fmla="val 6667"/>
            </a:avLst>
          </a:prstGeom>
          <a:solidFill>
            <a:srgbClr val="F5F6FB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9146286" y="3749040"/>
            <a:ext cx="475488" cy="47548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9" name="Text 17"/>
          <p:cNvSpPr/>
          <p:nvPr/>
        </p:nvSpPr>
        <p:spPr>
          <a:xfrm>
            <a:off x="9146286" y="37490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🏰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749790" y="3415284"/>
            <a:ext cx="178079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románico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романский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Nuevo Español en Marcha 4 (B2) · Unidad 12B · Turismo cultural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985455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Angel Luis Acosta González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12B · VOCABULARIO GENERAL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Palabras que aparecen en los 4 textos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Léxico común a cualquier monumento, antes de entrar en cada estilo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52244"/>
            <a:ext cx="3563112" cy="1234440"/>
          </a:xfrm>
          <a:prstGeom prst="roundRect">
            <a:avLst>
              <a:gd name="adj" fmla="val 6667"/>
            </a:avLst>
          </a:prstGeom>
          <a:solidFill>
            <a:srgbClr val="F5F6FB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76656" y="2331720"/>
            <a:ext cx="475488" cy="47548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7" name="Text 5"/>
          <p:cNvSpPr/>
          <p:nvPr/>
        </p:nvSpPr>
        <p:spPr>
          <a:xfrm>
            <a:off x="676656" y="23317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🖼️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80160" y="1997964"/>
            <a:ext cx="272186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monumento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памятник (архитектуры)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12920" y="1952244"/>
            <a:ext cx="3563112" cy="1234440"/>
          </a:xfrm>
          <a:prstGeom prst="roundRect">
            <a:avLst>
              <a:gd name="adj" fmla="val 6667"/>
            </a:avLst>
          </a:prstGeom>
          <a:solidFill>
            <a:srgbClr val="F5F6FB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440936" y="2331720"/>
            <a:ext cx="475488" cy="47548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1" name="Text 9"/>
          <p:cNvSpPr/>
          <p:nvPr/>
        </p:nvSpPr>
        <p:spPr>
          <a:xfrm>
            <a:off x="4440936" y="23317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🎨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044440" y="1997964"/>
            <a:ext cx="272186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estilo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стиль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077200" y="1952244"/>
            <a:ext cx="3563112" cy="1234440"/>
          </a:xfrm>
          <a:prstGeom prst="roundRect">
            <a:avLst>
              <a:gd name="adj" fmla="val 6667"/>
            </a:avLst>
          </a:prstGeom>
          <a:solidFill>
            <a:srgbClr val="F5F6FB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205216" y="2331720"/>
            <a:ext cx="475488" cy="47548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5" name="Text 13"/>
          <p:cNvSpPr/>
          <p:nvPr/>
        </p:nvSpPr>
        <p:spPr>
          <a:xfrm>
            <a:off x="8205216" y="23317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🧱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808720" y="1997964"/>
            <a:ext cx="272186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fachada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фасад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3369564"/>
            <a:ext cx="3563112" cy="1234440"/>
          </a:xfrm>
          <a:prstGeom prst="roundRect">
            <a:avLst>
              <a:gd name="adj" fmla="val 6667"/>
            </a:avLst>
          </a:prstGeom>
          <a:solidFill>
            <a:srgbClr val="F5F6FB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76656" y="3749040"/>
            <a:ext cx="475488" cy="47548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9" name="Text 17"/>
          <p:cNvSpPr/>
          <p:nvPr/>
        </p:nvSpPr>
        <p:spPr>
          <a:xfrm>
            <a:off x="676656" y="37490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📐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280160" y="3415284"/>
            <a:ext cx="272186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arquitecto / la arquitecta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архитектор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312920" y="3369564"/>
            <a:ext cx="3563112" cy="1234440"/>
          </a:xfrm>
          <a:prstGeom prst="roundRect">
            <a:avLst>
              <a:gd name="adj" fmla="val 6667"/>
            </a:avLst>
          </a:prstGeom>
          <a:solidFill>
            <a:srgbClr val="F5F6FB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440936" y="3749040"/>
            <a:ext cx="475488" cy="47548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3" name="Text 21"/>
          <p:cNvSpPr/>
          <p:nvPr/>
        </p:nvSpPr>
        <p:spPr>
          <a:xfrm>
            <a:off x="4440936" y="37490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🏗️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044440" y="3415284"/>
            <a:ext cx="272186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· fue mandado construir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строить · было построено по приказу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077200" y="3369564"/>
            <a:ext cx="3563112" cy="1234440"/>
          </a:xfrm>
          <a:prstGeom prst="roundRect">
            <a:avLst>
              <a:gd name="adj" fmla="val 6667"/>
            </a:avLst>
          </a:prstGeom>
          <a:solidFill>
            <a:srgbClr val="F5F6FB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205216" y="3749040"/>
            <a:ext cx="475488" cy="47548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7" name="Text 25"/>
          <p:cNvSpPr/>
          <p:nvPr/>
        </p:nvSpPr>
        <p:spPr>
          <a:xfrm>
            <a:off x="8205216" y="37490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🔨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8808720" y="3415284"/>
            <a:ext cx="272186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restaurar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реставрировать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48640" y="4786884"/>
            <a:ext cx="3563112" cy="1234440"/>
          </a:xfrm>
          <a:prstGeom prst="roundRect">
            <a:avLst>
              <a:gd name="adj" fmla="val 6667"/>
            </a:avLst>
          </a:prstGeom>
          <a:solidFill>
            <a:srgbClr val="F5F6FB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76656" y="5166360"/>
            <a:ext cx="475488" cy="47548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31" name="Text 29"/>
          <p:cNvSpPr/>
          <p:nvPr/>
        </p:nvSpPr>
        <p:spPr>
          <a:xfrm>
            <a:off x="676656" y="51663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📜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280160" y="4832604"/>
            <a:ext cx="272186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siglo (s. XI, s. XII...)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век (XI, XII...)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Nuevo Español en Marcha 4 (B2) · Unidad 12B · Turismo cultural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985455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Angel Luis Acosta González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 3 · ROMÁNICO (S. XI-XII)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Iglesia de San Martín, Frómista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152144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estilo más antiguo de los cuatro — el más "puro" románico español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6949440" cy="3246120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12700">
            <a:solidFill>
              <a:srgbClr val="E7E9F3"/>
            </a:solidFill>
            <a:prstDash val="solid"/>
          </a:ln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3104388"/>
            <a:ext cx="1086612" cy="892454"/>
          </a:xfrm>
          <a:prstGeom prst="rect">
            <a:avLst/>
          </a:prstGeom>
          <a:solidFill>
            <a:srgbClr val="F5F6FB"/>
          </a:solidFill>
          <a:ln w="12700">
            <a:solidFill>
              <a:srgbClr val="2F3C7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955292" y="3104388"/>
            <a:ext cx="1738579" cy="892454"/>
          </a:xfrm>
          <a:prstGeom prst="rect">
            <a:avLst/>
          </a:prstGeom>
          <a:solidFill>
            <a:srgbClr val="FFFFFF"/>
          </a:solidFill>
          <a:ln w="12700">
            <a:solidFill>
              <a:srgbClr val="2F3C7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93871" y="3104388"/>
            <a:ext cx="1086612" cy="892454"/>
          </a:xfrm>
          <a:prstGeom prst="rect">
            <a:avLst/>
          </a:prstGeom>
          <a:solidFill>
            <a:srgbClr val="F5F6FB"/>
          </a:solidFill>
          <a:ln w="12700">
            <a:solidFill>
              <a:srgbClr val="2F3C7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4555" y="3104388"/>
            <a:ext cx="5320052" cy="249887"/>
          </a:xfrm>
          <a:prstGeom prst="rect">
            <a:avLst/>
          </a:prstGeom>
          <a:solidFill>
            <a:srgbClr val="F9E795">
              <a:alpha val="65000"/>
            </a:srgbClr>
          </a:solidFill>
          <a:ln w="12700">
            <a:solidFill>
              <a:srgbClr val="2F3C7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2144" y="2604546"/>
            <a:ext cx="999683" cy="999683"/>
          </a:xfrm>
          <a:prstGeom prst="pie">
            <a:avLst>
              <a:gd name="adj1" fmla="val 10800000"/>
              <a:gd name="adj2" fmla="val 21600000"/>
            </a:avLst>
          </a:prstGeom>
          <a:solidFill>
            <a:srgbClr val="F5F6FB"/>
          </a:solidFill>
          <a:ln w="12700">
            <a:solidFill>
              <a:srgbClr val="2F3C7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024835" y="2304642"/>
            <a:ext cx="1599493" cy="1599493"/>
          </a:xfrm>
          <a:prstGeom prst="pie">
            <a:avLst>
              <a:gd name="adj1" fmla="val 10800000"/>
              <a:gd name="adj2" fmla="val 21600000"/>
            </a:avLst>
          </a:prstGeom>
          <a:solidFill>
            <a:srgbClr val="F96167">
              <a:alpha val="85000"/>
            </a:srgbClr>
          </a:solidFill>
          <a:ln w="12700">
            <a:solidFill>
              <a:srgbClr val="2F3C7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737336" y="2604546"/>
            <a:ext cx="999683" cy="999683"/>
          </a:xfrm>
          <a:prstGeom prst="pie">
            <a:avLst>
              <a:gd name="adj1" fmla="val 10800000"/>
              <a:gd name="adj2" fmla="val 21600000"/>
            </a:avLst>
          </a:prstGeom>
          <a:solidFill>
            <a:srgbClr val="F5F6FB"/>
          </a:solidFill>
          <a:ln w="12700">
            <a:solidFill>
              <a:srgbClr val="2F3C7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9035" y="3698024"/>
            <a:ext cx="597637" cy="298818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14" name="Shape 12"/>
          <p:cNvSpPr/>
          <p:nvPr/>
        </p:nvSpPr>
        <p:spPr>
          <a:xfrm>
            <a:off x="4272492" y="3698024"/>
            <a:ext cx="597637" cy="298818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2012034"/>
            <a:ext cx="418612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ábsides (el central, más ancho)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858719" y="31196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crucero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955292" y="3461370"/>
            <a:ext cx="17385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nave central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731520" y="3461370"/>
            <a:ext cx="13609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nave lateral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594360" y="4069994"/>
            <a:ext cx="446044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torrecillas con escaleras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48640" y="4928616"/>
            <a:ext cx="6949440" cy="960120"/>
          </a:xfrm>
          <a:prstGeom prst="roundRect">
            <a:avLst>
              <a:gd name="adj" fmla="val 7619"/>
            </a:avLst>
          </a:prstGeom>
          <a:solidFill>
            <a:srgbClr val="F5F6FB"/>
          </a:solidFill>
          <a:ln/>
        </p:spPr>
      </p:sp>
      <p:sp>
        <p:nvSpPr>
          <p:cNvPr id="21" name="Text 19"/>
          <p:cNvSpPr/>
          <p:nvPr/>
        </p:nvSpPr>
        <p:spPr>
          <a:xfrm>
            <a:off x="749808" y="4928616"/>
            <a:ext cx="654710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arte románico (s. XI-XII) fue el primer gran estilo internacional de la Europa cristiana medieval, ligado a monasterios y al Camino de Santiago. Esta iglesia se construyó en Frómista (Palencia): planta de 3 naves + crucero, con 3 ábsides semicirculares — el central, más ancho — y 2 torrecillas en la fachada.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772400" y="1572768"/>
            <a:ext cx="3867912" cy="459486"/>
          </a:xfrm>
          <a:prstGeom prst="roundRect">
            <a:avLst>
              <a:gd name="adj" fmla="val 11940"/>
            </a:avLst>
          </a:prstGeom>
          <a:solidFill>
            <a:srgbClr val="F5F6FB"/>
          </a:solidFill>
          <a:ln/>
        </p:spPr>
      </p:sp>
      <p:sp>
        <p:nvSpPr>
          <p:cNvPr id="23" name="Text 21"/>
          <p:cNvSpPr/>
          <p:nvPr/>
        </p:nvSpPr>
        <p:spPr>
          <a:xfrm>
            <a:off x="7845552" y="1572768"/>
            <a:ext cx="329184" cy="4594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⛪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266176" y="1591056"/>
            <a:ext cx="3264408" cy="422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nave (central / lateral)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неф (центральный / боковой)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7772400" y="2123694"/>
            <a:ext cx="3867912" cy="459486"/>
          </a:xfrm>
          <a:prstGeom prst="roundRect">
            <a:avLst>
              <a:gd name="adj" fmla="val 11940"/>
            </a:avLst>
          </a:prstGeom>
          <a:solidFill>
            <a:srgbClr val="F5F6FB"/>
          </a:solidFill>
          <a:ln/>
        </p:spPr>
      </p:sp>
      <p:sp>
        <p:nvSpPr>
          <p:cNvPr id="26" name="Text 24"/>
          <p:cNvSpPr/>
          <p:nvPr/>
        </p:nvSpPr>
        <p:spPr>
          <a:xfrm>
            <a:off x="7845552" y="2123694"/>
            <a:ext cx="329184" cy="4594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🌉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266176" y="2141982"/>
            <a:ext cx="3264408" cy="422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bóveda de cañón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цилиндрический свод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7772400" y="2674620"/>
            <a:ext cx="3867912" cy="459486"/>
          </a:xfrm>
          <a:prstGeom prst="roundRect">
            <a:avLst>
              <a:gd name="adj" fmla="val 11940"/>
            </a:avLst>
          </a:prstGeom>
          <a:solidFill>
            <a:srgbClr val="F5F6FB"/>
          </a:solidFill>
          <a:ln/>
        </p:spPr>
      </p:sp>
      <p:sp>
        <p:nvSpPr>
          <p:cNvPr id="29" name="Text 27"/>
          <p:cNvSpPr/>
          <p:nvPr/>
        </p:nvSpPr>
        <p:spPr>
          <a:xfrm>
            <a:off x="7845552" y="2674620"/>
            <a:ext cx="329184" cy="4594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◗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266176" y="2692908"/>
            <a:ext cx="3264408" cy="422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arco de medio punto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полуциркульная арка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7772400" y="3225546"/>
            <a:ext cx="3867912" cy="459486"/>
          </a:xfrm>
          <a:prstGeom prst="roundRect">
            <a:avLst>
              <a:gd name="adj" fmla="val 11940"/>
            </a:avLst>
          </a:prstGeom>
          <a:solidFill>
            <a:srgbClr val="F5F6FB"/>
          </a:solidFill>
          <a:ln/>
        </p:spPr>
      </p:sp>
      <p:sp>
        <p:nvSpPr>
          <p:cNvPr id="32" name="Text 30"/>
          <p:cNvSpPr/>
          <p:nvPr/>
        </p:nvSpPr>
        <p:spPr>
          <a:xfrm>
            <a:off x="7845552" y="3225546"/>
            <a:ext cx="329184" cy="4594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🔵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266176" y="3243834"/>
            <a:ext cx="3264408" cy="422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ábside (semicircular)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абсида (полукруглая)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7772400" y="3776472"/>
            <a:ext cx="3867912" cy="459486"/>
          </a:xfrm>
          <a:prstGeom prst="roundRect">
            <a:avLst>
              <a:gd name="adj" fmla="val 11940"/>
            </a:avLst>
          </a:prstGeom>
          <a:solidFill>
            <a:srgbClr val="F5F6FB"/>
          </a:solidFill>
          <a:ln/>
        </p:spPr>
      </p:sp>
      <p:sp>
        <p:nvSpPr>
          <p:cNvPr id="35" name="Text 33"/>
          <p:cNvSpPr/>
          <p:nvPr/>
        </p:nvSpPr>
        <p:spPr>
          <a:xfrm>
            <a:off x="7845552" y="3776472"/>
            <a:ext cx="329184" cy="4594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➕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266176" y="3794760"/>
            <a:ext cx="3264408" cy="422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crucero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средокрестие (трансепт)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7772400" y="4327398"/>
            <a:ext cx="3867912" cy="459486"/>
          </a:xfrm>
          <a:prstGeom prst="roundRect">
            <a:avLst>
              <a:gd name="adj" fmla="val 11940"/>
            </a:avLst>
          </a:prstGeom>
          <a:solidFill>
            <a:srgbClr val="F5F6FB"/>
          </a:solidFill>
          <a:ln/>
        </p:spPr>
      </p:sp>
      <p:sp>
        <p:nvSpPr>
          <p:cNvPr id="38" name="Text 36"/>
          <p:cNvSpPr/>
          <p:nvPr/>
        </p:nvSpPr>
        <p:spPr>
          <a:xfrm>
            <a:off x="7845552" y="4327398"/>
            <a:ext cx="329184" cy="4594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🗼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8266176" y="4345686"/>
            <a:ext cx="3264408" cy="422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pilar cruciforme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крестообразный столб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7772400" y="4878324"/>
            <a:ext cx="3867912" cy="459486"/>
          </a:xfrm>
          <a:prstGeom prst="roundRect">
            <a:avLst>
              <a:gd name="adj" fmla="val 11940"/>
            </a:avLst>
          </a:prstGeom>
          <a:solidFill>
            <a:srgbClr val="F5F6FB"/>
          </a:solidFill>
          <a:ln/>
        </p:spPr>
      </p:sp>
      <p:sp>
        <p:nvSpPr>
          <p:cNvPr id="41" name="Text 39"/>
          <p:cNvSpPr/>
          <p:nvPr/>
        </p:nvSpPr>
        <p:spPr>
          <a:xfrm>
            <a:off x="7845552" y="4878324"/>
            <a:ext cx="329184" cy="4594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🏘️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8266176" y="4896612"/>
            <a:ext cx="3264408" cy="422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torrecilla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башенка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7772400" y="5429250"/>
            <a:ext cx="3867912" cy="459486"/>
          </a:xfrm>
          <a:prstGeom prst="roundRect">
            <a:avLst>
              <a:gd name="adj" fmla="val 11940"/>
            </a:avLst>
          </a:prstGeom>
          <a:solidFill>
            <a:srgbClr val="F5F6FB"/>
          </a:solidFill>
          <a:ln/>
        </p:spPr>
      </p:sp>
      <p:sp>
        <p:nvSpPr>
          <p:cNvPr id="44" name="Text 42"/>
          <p:cNvSpPr/>
          <p:nvPr/>
        </p:nvSpPr>
        <p:spPr>
          <a:xfrm>
            <a:off x="7845552" y="5429250"/>
            <a:ext cx="329184" cy="4594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🚪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8266176" y="5447538"/>
            <a:ext cx="3264408" cy="422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cabecera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алтарная часть храма</a:t>
            </a:r>
            <a:endParaRPr lang="en-US" sz="1150" dirty="0"/>
          </a:p>
        </p:txBody>
      </p:sp>
      <p:sp>
        <p:nvSpPr>
          <p:cNvPr id="46" name="Text 44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Nuevo Español en Marcha 4 (B2) · Unidad 12B · Turismo cultural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7985455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Angel Luis Acosta González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 4 · GÓTICO (S. XIII-XVI)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Catedral de Burgos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152144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Arcos apuntados y verticalidad: todo "apunta" hacia arriba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6949440" cy="301752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2700">
            <a:solidFill>
              <a:srgbClr val="E7E9F3"/>
            </a:solidFill>
            <a:prstDash val="solid"/>
          </a:ln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319833" y="2936321"/>
            <a:ext cx="1009498" cy="873069"/>
          </a:xfrm>
          <a:prstGeom prst="rect">
            <a:avLst/>
          </a:prstGeom>
          <a:solidFill>
            <a:srgbClr val="F5F6FB"/>
          </a:solidFill>
          <a:ln w="12700">
            <a:solidFill>
              <a:srgbClr val="2F3C7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319833" y="2221992"/>
            <a:ext cx="1009498" cy="714329"/>
          </a:xfrm>
          <a:prstGeom prst="triangle">
            <a:avLst/>
          </a:prstGeom>
          <a:solidFill>
            <a:srgbClr val="2F3C7E"/>
          </a:solidFill>
          <a:ln/>
        </p:spPr>
      </p:sp>
      <p:sp>
        <p:nvSpPr>
          <p:cNvPr id="8" name="Shape 6"/>
          <p:cNvSpPr/>
          <p:nvPr/>
        </p:nvSpPr>
        <p:spPr>
          <a:xfrm>
            <a:off x="3455518" y="2936321"/>
            <a:ext cx="1009498" cy="873069"/>
          </a:xfrm>
          <a:prstGeom prst="rect">
            <a:avLst/>
          </a:prstGeom>
          <a:solidFill>
            <a:srgbClr val="F5F6FB"/>
          </a:solidFill>
          <a:ln w="12700">
            <a:solidFill>
              <a:srgbClr val="2F3C7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55518" y="2221992"/>
            <a:ext cx="1009498" cy="714329"/>
          </a:xfrm>
          <a:prstGeom prst="triangle">
            <a:avLst/>
          </a:prstGeom>
          <a:solidFill>
            <a:srgbClr val="2F3C7E"/>
          </a:solidFill>
          <a:ln/>
        </p:spPr>
      </p:sp>
      <p:sp>
        <p:nvSpPr>
          <p:cNvPr id="10" name="Text 8"/>
          <p:cNvSpPr/>
          <p:nvPr/>
        </p:nvSpPr>
        <p:spPr>
          <a:xfrm>
            <a:off x="2319833" y="1965960"/>
            <a:ext cx="302849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aguja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149547" y="3287085"/>
            <a:ext cx="1388059" cy="522305"/>
          </a:xfrm>
          <a:prstGeom prst="rect">
            <a:avLst/>
          </a:prstGeom>
          <a:solidFill>
            <a:srgbClr val="F9E795">
              <a:alpha val="85000"/>
            </a:srgbClr>
          </a:solidFill>
          <a:ln w="12700">
            <a:solidFill>
              <a:srgbClr val="2F3C7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49547" y="2938882"/>
            <a:ext cx="1388059" cy="348204"/>
          </a:xfrm>
          <a:prstGeom prst="triangle">
            <a:avLst/>
          </a:prstGeom>
          <a:solidFill>
            <a:srgbClr val="F96167"/>
          </a:solidFill>
          <a:ln/>
        </p:spPr>
      </p:sp>
      <p:sp>
        <p:nvSpPr>
          <p:cNvPr id="13" name="Text 11"/>
          <p:cNvSpPr/>
          <p:nvPr/>
        </p:nvSpPr>
        <p:spPr>
          <a:xfrm>
            <a:off x="3600907" y="2554834"/>
            <a:ext cx="24853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cimborrio (sobre el crucero)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994867" y="3246120"/>
            <a:ext cx="1009498" cy="563270"/>
          </a:xfrm>
          <a:prstGeom prst="rect">
            <a:avLst/>
          </a:prstGeom>
          <a:solidFill>
            <a:srgbClr val="F5F6FB"/>
          </a:solidFill>
          <a:ln w="12700">
            <a:solidFill>
              <a:srgbClr val="2F3C7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03427" y="3864254"/>
            <a:ext cx="11923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capilla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789981" y="2547518"/>
            <a:ext cx="1261872" cy="1261872"/>
          </a:xfrm>
          <a:prstGeom prst="rect">
            <a:avLst/>
          </a:prstGeom>
          <a:solidFill>
            <a:srgbClr val="F5F6FB"/>
          </a:solidFill>
          <a:ln w="12700">
            <a:solidFill>
              <a:srgbClr val="2F3C7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067593" y="2825130"/>
            <a:ext cx="706648" cy="706648"/>
          </a:xfrm>
          <a:prstGeom prst="rect">
            <a:avLst/>
          </a:prstGeom>
          <a:solidFill>
            <a:srgbClr val="FFFFFF"/>
          </a:solidFill>
          <a:ln w="9525">
            <a:solidFill>
              <a:srgbClr val="2F3C7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98541" y="3864254"/>
            <a:ext cx="1444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claustro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868680" y="3809390"/>
            <a:ext cx="6309360" cy="0"/>
          </a:xfrm>
          <a:prstGeom prst="line">
            <a:avLst/>
          </a:prstGeom>
          <a:noFill/>
          <a:ln w="15875">
            <a:solidFill>
              <a:srgbClr val="2F3C7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4700016"/>
            <a:ext cx="6949440" cy="960120"/>
          </a:xfrm>
          <a:prstGeom prst="roundRect">
            <a:avLst>
              <a:gd name="adj" fmla="val 7619"/>
            </a:avLst>
          </a:prstGeom>
          <a:solidFill>
            <a:srgbClr val="F5F6FB"/>
          </a:solidFill>
          <a:ln/>
        </p:spPr>
      </p:sp>
      <p:sp>
        <p:nvSpPr>
          <p:cNvPr id="21" name="Text 19"/>
          <p:cNvSpPr/>
          <p:nvPr/>
        </p:nvSpPr>
        <p:spPr>
          <a:xfrm>
            <a:off x="749808" y="4700016"/>
            <a:ext cx="654710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gótico (s. XII-XVI) nació en Francia buscando altura y luz: arcos apuntados y contrafuertes permitieron muros más finos y grandes vidrieras. La catedral de Burgos se empezó en 1221 y se consagró en 1260; después se amplió con un grandioso claustro, numerosas capillas, esbeltas agujas y un espléndido cimborrio.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772400" y="1572768"/>
            <a:ext cx="3867912" cy="430911"/>
          </a:xfrm>
          <a:prstGeom prst="roundRect">
            <a:avLst>
              <a:gd name="adj" fmla="val 12732"/>
            </a:avLst>
          </a:prstGeom>
          <a:solidFill>
            <a:srgbClr val="F5F6FB"/>
          </a:solidFill>
          <a:ln/>
        </p:spPr>
      </p:sp>
      <p:sp>
        <p:nvSpPr>
          <p:cNvPr id="23" name="Text 21"/>
          <p:cNvSpPr/>
          <p:nvPr/>
        </p:nvSpPr>
        <p:spPr>
          <a:xfrm>
            <a:off x="7845552" y="1572768"/>
            <a:ext cx="329184" cy="4309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⛪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266176" y="1591056"/>
            <a:ext cx="3264408" cy="3943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catedral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собор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7772400" y="2095119"/>
            <a:ext cx="3867912" cy="430911"/>
          </a:xfrm>
          <a:prstGeom prst="roundRect">
            <a:avLst>
              <a:gd name="adj" fmla="val 12732"/>
            </a:avLst>
          </a:prstGeom>
          <a:solidFill>
            <a:srgbClr val="F5F6FB"/>
          </a:solidFill>
          <a:ln/>
        </p:spPr>
      </p:sp>
      <p:sp>
        <p:nvSpPr>
          <p:cNvPr id="26" name="Text 24"/>
          <p:cNvSpPr/>
          <p:nvPr/>
        </p:nvSpPr>
        <p:spPr>
          <a:xfrm>
            <a:off x="7845552" y="2095119"/>
            <a:ext cx="329184" cy="4309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🚶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266176" y="2113407"/>
            <a:ext cx="3264408" cy="3943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claustro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клуатр (монастырский дворик)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7772400" y="2617470"/>
            <a:ext cx="3867912" cy="430911"/>
          </a:xfrm>
          <a:prstGeom prst="roundRect">
            <a:avLst>
              <a:gd name="adj" fmla="val 12732"/>
            </a:avLst>
          </a:prstGeom>
          <a:solidFill>
            <a:srgbClr val="F5F6FB"/>
          </a:solidFill>
          <a:ln/>
        </p:spPr>
      </p:sp>
      <p:sp>
        <p:nvSpPr>
          <p:cNvPr id="29" name="Text 27"/>
          <p:cNvSpPr/>
          <p:nvPr/>
        </p:nvSpPr>
        <p:spPr>
          <a:xfrm>
            <a:off x="7845552" y="2617470"/>
            <a:ext cx="329184" cy="4309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🙏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266176" y="2635758"/>
            <a:ext cx="3264408" cy="3943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capilla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капелла, часовня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7772400" y="3139821"/>
            <a:ext cx="3867912" cy="430911"/>
          </a:xfrm>
          <a:prstGeom prst="roundRect">
            <a:avLst>
              <a:gd name="adj" fmla="val 12732"/>
            </a:avLst>
          </a:prstGeom>
          <a:solidFill>
            <a:srgbClr val="F5F6FB"/>
          </a:solidFill>
          <a:ln/>
        </p:spPr>
      </p:sp>
      <p:sp>
        <p:nvSpPr>
          <p:cNvPr id="32" name="Text 30"/>
          <p:cNvSpPr/>
          <p:nvPr/>
        </p:nvSpPr>
        <p:spPr>
          <a:xfrm>
            <a:off x="7845552" y="3139821"/>
            <a:ext cx="329184" cy="4309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🗼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266176" y="3158109"/>
            <a:ext cx="3264408" cy="3943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aguja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шпиль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7772400" y="3662172"/>
            <a:ext cx="3867912" cy="430911"/>
          </a:xfrm>
          <a:prstGeom prst="roundRect">
            <a:avLst>
              <a:gd name="adj" fmla="val 12732"/>
            </a:avLst>
          </a:prstGeom>
          <a:solidFill>
            <a:srgbClr val="F5F6FB"/>
          </a:solidFill>
          <a:ln/>
        </p:spPr>
      </p:sp>
      <p:sp>
        <p:nvSpPr>
          <p:cNvPr id="35" name="Text 33"/>
          <p:cNvSpPr/>
          <p:nvPr/>
        </p:nvSpPr>
        <p:spPr>
          <a:xfrm>
            <a:off x="7845552" y="3662172"/>
            <a:ext cx="329184" cy="4309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🏯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266176" y="3680460"/>
            <a:ext cx="3264408" cy="3943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cimborrio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купольный фонарь (над средокрестием)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7772400" y="4184523"/>
            <a:ext cx="3867912" cy="430911"/>
          </a:xfrm>
          <a:prstGeom prst="roundRect">
            <a:avLst>
              <a:gd name="adj" fmla="val 12732"/>
            </a:avLst>
          </a:prstGeom>
          <a:solidFill>
            <a:srgbClr val="F5F6FB"/>
          </a:solidFill>
          <a:ln/>
        </p:spPr>
      </p:sp>
      <p:sp>
        <p:nvSpPr>
          <p:cNvPr id="38" name="Text 36"/>
          <p:cNvSpPr/>
          <p:nvPr/>
        </p:nvSpPr>
        <p:spPr>
          <a:xfrm>
            <a:off x="7845552" y="4184523"/>
            <a:ext cx="329184" cy="4309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🎉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8266176" y="4202811"/>
            <a:ext cx="3264408" cy="3943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consagrar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освящать (храм)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7772400" y="4706874"/>
            <a:ext cx="3867912" cy="430911"/>
          </a:xfrm>
          <a:prstGeom prst="roundRect">
            <a:avLst>
              <a:gd name="adj" fmla="val 12732"/>
            </a:avLst>
          </a:prstGeom>
          <a:solidFill>
            <a:srgbClr val="F5F6FB"/>
          </a:solidFill>
          <a:ln/>
        </p:spPr>
      </p:sp>
      <p:sp>
        <p:nvSpPr>
          <p:cNvPr id="41" name="Text 39"/>
          <p:cNvSpPr/>
          <p:nvPr/>
        </p:nvSpPr>
        <p:spPr>
          <a:xfrm>
            <a:off x="7845552" y="4706874"/>
            <a:ext cx="329184" cy="4309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📈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8266176" y="4725162"/>
            <a:ext cx="3264408" cy="3943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ampliar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расширять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7772400" y="5229225"/>
            <a:ext cx="3867912" cy="430911"/>
          </a:xfrm>
          <a:prstGeom prst="roundRect">
            <a:avLst>
              <a:gd name="adj" fmla="val 12732"/>
            </a:avLst>
          </a:prstGeom>
          <a:solidFill>
            <a:srgbClr val="F5F6FB"/>
          </a:solidFill>
          <a:ln/>
        </p:spPr>
      </p:sp>
      <p:sp>
        <p:nvSpPr>
          <p:cNvPr id="44" name="Text 42"/>
          <p:cNvSpPr/>
          <p:nvPr/>
        </p:nvSpPr>
        <p:spPr>
          <a:xfrm>
            <a:off x="7845552" y="5229225"/>
            <a:ext cx="329184" cy="4309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✨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8266176" y="5247513"/>
            <a:ext cx="3264408" cy="3943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embellecer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украшать</a:t>
            </a:r>
            <a:endParaRPr lang="en-US" sz="1150" dirty="0"/>
          </a:p>
        </p:txBody>
      </p:sp>
      <p:sp>
        <p:nvSpPr>
          <p:cNvPr id="46" name="Text 44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Nuevo Español en Marcha 4 (B2) · Unidad 12B · Turismo cultural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7985455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Angel Luis Acosta González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 2 · ÁRABE (S. XII)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Giralda, Sevilla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152144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minarete de la antigua mezquita, bajo la catedral gótica de Sevilla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6949440" cy="36576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7E9F3"/>
            </a:solidFill>
            <a:prstDash val="solid"/>
          </a:ln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319833" y="3118104"/>
            <a:ext cx="2397557" cy="1664208"/>
          </a:xfrm>
          <a:prstGeom prst="rect">
            <a:avLst/>
          </a:prstGeom>
          <a:solidFill>
            <a:srgbClr val="F5F6FB"/>
          </a:solidFill>
          <a:ln w="19050">
            <a:solidFill>
              <a:srgbClr val="2F3C7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015124" y="3417661"/>
            <a:ext cx="1006974" cy="1364651"/>
          </a:xfrm>
          <a:prstGeom prst="rect">
            <a:avLst/>
          </a:prstGeom>
          <a:solidFill>
            <a:srgbClr val="FFFFFF"/>
          </a:solidFill>
          <a:ln w="15875">
            <a:solidFill>
              <a:srgbClr val="F9616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95084" y="3143341"/>
            <a:ext cx="164705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hueco con rampa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 flipV="1">
            <a:off x="2667479" y="4554870"/>
            <a:ext cx="1945617" cy="227442"/>
          </a:xfrm>
          <a:prstGeom prst="line">
            <a:avLst/>
          </a:prstGeom>
          <a:noFill/>
          <a:ln w="31750">
            <a:solidFill>
              <a:srgbClr val="F9E79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H="1" flipV="1">
            <a:off x="2424127" y="4327428"/>
            <a:ext cx="2188969" cy="227442"/>
          </a:xfrm>
          <a:prstGeom prst="line">
            <a:avLst/>
          </a:prstGeom>
          <a:noFill/>
          <a:ln w="31750">
            <a:solidFill>
              <a:srgbClr val="F9E79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V="1">
            <a:off x="2424127" y="4099987"/>
            <a:ext cx="2188969" cy="227442"/>
          </a:xfrm>
          <a:prstGeom prst="line">
            <a:avLst/>
          </a:prstGeom>
          <a:noFill/>
          <a:ln w="31750">
            <a:solidFill>
              <a:srgbClr val="F9E79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flipH="1" flipV="1">
            <a:off x="2424127" y="3872545"/>
            <a:ext cx="2188969" cy="227442"/>
          </a:xfrm>
          <a:prstGeom prst="line">
            <a:avLst/>
          </a:prstGeom>
          <a:noFill/>
          <a:ln w="31750">
            <a:solidFill>
              <a:srgbClr val="F9E79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flipV="1">
            <a:off x="2424127" y="3645103"/>
            <a:ext cx="2188969" cy="227442"/>
          </a:xfrm>
          <a:prstGeom prst="line">
            <a:avLst/>
          </a:prstGeom>
          <a:noFill/>
          <a:ln w="31750">
            <a:solidFill>
              <a:srgbClr val="F9E79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flipH="1" flipV="1">
            <a:off x="2424127" y="3417661"/>
            <a:ext cx="2188969" cy="227442"/>
          </a:xfrm>
          <a:prstGeom prst="line">
            <a:avLst/>
          </a:prstGeom>
          <a:noFill/>
          <a:ln w="31750">
            <a:solidFill>
              <a:srgbClr val="F9E79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679466" y="2606040"/>
            <a:ext cx="1678290" cy="512064"/>
          </a:xfrm>
          <a:prstGeom prst="rect">
            <a:avLst/>
          </a:prstGeom>
          <a:solidFill>
            <a:srgbClr val="F9E795">
              <a:alpha val="80000"/>
            </a:srgbClr>
          </a:solidFill>
          <a:ln w="12700">
            <a:solidFill>
              <a:srgbClr val="2F3C7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947946" y="2331720"/>
            <a:ext cx="314133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cuerpo de campanas (renacentista)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463747" y="2148840"/>
            <a:ext cx="109728" cy="146304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8" name="Text 16"/>
          <p:cNvSpPr/>
          <p:nvPr/>
        </p:nvSpPr>
        <p:spPr>
          <a:xfrm>
            <a:off x="2695651" y="18288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veleta giratoria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868680" y="4873752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torres, una dentro de la otra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48640" y="5340096"/>
            <a:ext cx="6949440" cy="960120"/>
          </a:xfrm>
          <a:prstGeom prst="roundRect">
            <a:avLst>
              <a:gd name="adj" fmla="val 7619"/>
            </a:avLst>
          </a:prstGeom>
          <a:solidFill>
            <a:srgbClr val="F5F6FB"/>
          </a:solidFill>
          <a:ln/>
        </p:spPr>
      </p:sp>
      <p:sp>
        <p:nvSpPr>
          <p:cNvPr id="21" name="Text 19"/>
          <p:cNvSpPr/>
          <p:nvPr/>
        </p:nvSpPr>
        <p:spPr>
          <a:xfrm>
            <a:off x="749808" y="5340096"/>
            <a:ext cx="654710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arte árabe llegó a España con la conquista musulmana (711) y floreció casi 800 años en Al-Ándalus. La Giralda (97,5 m) era el minarete de la mezquita de Sevilla: dos torres, una dentro de la otra, con una rampa interior para subir a caballo; encima, cuerpo de campanas renacentista y veleta giratoria.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772400" y="1572768"/>
            <a:ext cx="3867912" cy="596973"/>
          </a:xfrm>
          <a:prstGeom prst="roundRect">
            <a:avLst>
              <a:gd name="adj" fmla="val 9190"/>
            </a:avLst>
          </a:prstGeom>
          <a:solidFill>
            <a:srgbClr val="F5F6FB"/>
          </a:solidFill>
          <a:ln/>
        </p:spPr>
      </p:sp>
      <p:sp>
        <p:nvSpPr>
          <p:cNvPr id="23" name="Text 21"/>
          <p:cNvSpPr/>
          <p:nvPr/>
        </p:nvSpPr>
        <p:spPr>
          <a:xfrm>
            <a:off x="7845552" y="1572768"/>
            <a:ext cx="329184" cy="5969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🕌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266176" y="1591056"/>
            <a:ext cx="3264408" cy="5603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minarete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минарет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7772400" y="2261181"/>
            <a:ext cx="3867912" cy="596973"/>
          </a:xfrm>
          <a:prstGeom prst="roundRect">
            <a:avLst>
              <a:gd name="adj" fmla="val 9190"/>
            </a:avLst>
          </a:prstGeom>
          <a:solidFill>
            <a:srgbClr val="F5F6FB"/>
          </a:solidFill>
          <a:ln/>
        </p:spPr>
      </p:sp>
      <p:sp>
        <p:nvSpPr>
          <p:cNvPr id="26" name="Text 24"/>
          <p:cNvSpPr/>
          <p:nvPr/>
        </p:nvSpPr>
        <p:spPr>
          <a:xfrm>
            <a:off x="7845552" y="2261181"/>
            <a:ext cx="329184" cy="5969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🕋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266176" y="2279469"/>
            <a:ext cx="3264408" cy="5603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mezquita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мечеть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7772400" y="2949593"/>
            <a:ext cx="3867912" cy="596973"/>
          </a:xfrm>
          <a:prstGeom prst="roundRect">
            <a:avLst>
              <a:gd name="adj" fmla="val 9190"/>
            </a:avLst>
          </a:prstGeom>
          <a:solidFill>
            <a:srgbClr val="F5F6FB"/>
          </a:solidFill>
          <a:ln/>
        </p:spPr>
      </p:sp>
      <p:sp>
        <p:nvSpPr>
          <p:cNvPr id="29" name="Text 27"/>
          <p:cNvSpPr/>
          <p:nvPr/>
        </p:nvSpPr>
        <p:spPr>
          <a:xfrm>
            <a:off x="7845552" y="2949593"/>
            <a:ext cx="329184" cy="5969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👑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266176" y="2967881"/>
            <a:ext cx="3264408" cy="5603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sultán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султан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7772400" y="3638006"/>
            <a:ext cx="3867912" cy="596973"/>
          </a:xfrm>
          <a:prstGeom prst="roundRect">
            <a:avLst>
              <a:gd name="adj" fmla="val 9190"/>
            </a:avLst>
          </a:prstGeom>
          <a:solidFill>
            <a:srgbClr val="F5F6FB"/>
          </a:solidFill>
          <a:ln/>
        </p:spPr>
      </p:sp>
      <p:sp>
        <p:nvSpPr>
          <p:cNvPr id="32" name="Text 30"/>
          <p:cNvSpPr/>
          <p:nvPr/>
        </p:nvSpPr>
        <p:spPr>
          <a:xfrm>
            <a:off x="7845552" y="3638006"/>
            <a:ext cx="329184" cy="5969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🐎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266176" y="3656294"/>
            <a:ext cx="3264408" cy="5603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rampa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пандус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7772400" y="4326418"/>
            <a:ext cx="3867912" cy="596973"/>
          </a:xfrm>
          <a:prstGeom prst="roundRect">
            <a:avLst>
              <a:gd name="adj" fmla="val 9190"/>
            </a:avLst>
          </a:prstGeom>
          <a:solidFill>
            <a:srgbClr val="F5F6FB"/>
          </a:solidFill>
          <a:ln/>
        </p:spPr>
      </p:sp>
      <p:sp>
        <p:nvSpPr>
          <p:cNvPr id="35" name="Text 33"/>
          <p:cNvSpPr/>
          <p:nvPr/>
        </p:nvSpPr>
        <p:spPr>
          <a:xfrm>
            <a:off x="7845552" y="4326418"/>
            <a:ext cx="329184" cy="5969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🔔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266176" y="4344706"/>
            <a:ext cx="3264408" cy="5603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cuerpo (de campanas)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ярус (колоколов)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7772400" y="5014831"/>
            <a:ext cx="3867912" cy="596973"/>
          </a:xfrm>
          <a:prstGeom prst="roundRect">
            <a:avLst>
              <a:gd name="adj" fmla="val 9190"/>
            </a:avLst>
          </a:prstGeom>
          <a:solidFill>
            <a:srgbClr val="F5F6FB"/>
          </a:solidFill>
          <a:ln/>
        </p:spPr>
      </p:sp>
      <p:sp>
        <p:nvSpPr>
          <p:cNvPr id="38" name="Text 36"/>
          <p:cNvSpPr/>
          <p:nvPr/>
        </p:nvSpPr>
        <p:spPr>
          <a:xfrm>
            <a:off x="7845552" y="5014831"/>
            <a:ext cx="329184" cy="5969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🎭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8266176" y="5033119"/>
            <a:ext cx="3264408" cy="5603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renacentista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ренессансный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7772400" y="5703243"/>
            <a:ext cx="3867912" cy="596973"/>
          </a:xfrm>
          <a:prstGeom prst="roundRect">
            <a:avLst>
              <a:gd name="adj" fmla="val 9190"/>
            </a:avLst>
          </a:prstGeom>
          <a:solidFill>
            <a:srgbClr val="F5F6FB"/>
          </a:solidFill>
          <a:ln/>
        </p:spPr>
      </p:sp>
      <p:sp>
        <p:nvSpPr>
          <p:cNvPr id="41" name="Text 39"/>
          <p:cNvSpPr/>
          <p:nvPr/>
        </p:nvSpPr>
        <p:spPr>
          <a:xfrm>
            <a:off x="7845552" y="5703243"/>
            <a:ext cx="329184" cy="5969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🌬️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8266176" y="5721531"/>
            <a:ext cx="3264408" cy="5603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veleta (giratoria)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флюгер (вращающийся)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Nuevo Español en Marcha 4 (B2) · Unidad 12B · Turismo cultural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7985455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Angel Luis Acosta González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 1 · MODERNO (S. XXI)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Museo de las Ciencias Príncipe Felipe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152144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Ciudad de las Artes y las Ciencias, Valencia — arquitecto Santiago Calatrava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694944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7E9F3"/>
            </a:solidFill>
            <a:prstDash val="solid"/>
          </a:ln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310335" y="3447288"/>
            <a:ext cx="9144" cy="274320"/>
          </a:xfrm>
          <a:prstGeom prst="line">
            <a:avLst/>
          </a:prstGeom>
          <a:noFill/>
          <a:ln w="38100">
            <a:solidFill>
              <a:srgbClr val="2F3C7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85485" y="3110056"/>
            <a:ext cx="9144" cy="611552"/>
          </a:xfrm>
          <a:prstGeom prst="line">
            <a:avLst/>
          </a:prstGeom>
          <a:noFill/>
          <a:ln w="38100">
            <a:solidFill>
              <a:srgbClr val="2F3C7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860635" y="2839617"/>
            <a:ext cx="9144" cy="881991"/>
          </a:xfrm>
          <a:prstGeom prst="line">
            <a:avLst/>
          </a:prstGeom>
          <a:noFill/>
          <a:ln w="38100">
            <a:solidFill>
              <a:srgbClr val="2F3C7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35785" y="2689535"/>
            <a:ext cx="9144" cy="1032073"/>
          </a:xfrm>
          <a:prstGeom prst="line">
            <a:avLst/>
          </a:prstGeom>
          <a:noFill/>
          <a:ln w="38100">
            <a:solidFill>
              <a:srgbClr val="2F3C7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10935" y="2689535"/>
            <a:ext cx="9144" cy="1032073"/>
          </a:xfrm>
          <a:prstGeom prst="line">
            <a:avLst/>
          </a:prstGeom>
          <a:noFill/>
          <a:ln w="38100">
            <a:solidFill>
              <a:srgbClr val="2F3C7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86085" y="2839617"/>
            <a:ext cx="9144" cy="881991"/>
          </a:xfrm>
          <a:prstGeom prst="line">
            <a:avLst/>
          </a:prstGeom>
          <a:noFill/>
          <a:ln w="38100">
            <a:solidFill>
              <a:srgbClr val="2F3C7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961235" y="3110056"/>
            <a:ext cx="9144" cy="611552"/>
          </a:xfrm>
          <a:prstGeom prst="line">
            <a:avLst/>
          </a:prstGeom>
          <a:noFill/>
          <a:ln w="38100">
            <a:solidFill>
              <a:srgbClr val="2F3C7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36385" y="3447288"/>
            <a:ext cx="9144" cy="274320"/>
          </a:xfrm>
          <a:prstGeom prst="line">
            <a:avLst/>
          </a:prstGeom>
          <a:noFill/>
          <a:ln w="38100">
            <a:solidFill>
              <a:srgbClr val="2F3C7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310335" y="2350008"/>
            <a:ext cx="5426050" cy="1143000"/>
          </a:xfrm>
          <a:prstGeom prst="arc">
            <a:avLst>
              <a:gd name="adj1" fmla="val 10800000"/>
              <a:gd name="adj2" fmla="val 21600000"/>
            </a:avLst>
          </a:prstGeom>
          <a:ln w="38100">
            <a:solidFill>
              <a:srgbClr val="F9616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310335" y="3493008"/>
            <a:ext cx="5426050" cy="0"/>
          </a:xfrm>
          <a:prstGeom prst="line">
            <a:avLst/>
          </a:prstGeom>
          <a:noFill/>
          <a:ln w="19050">
            <a:solidFill>
              <a:srgbClr val="2F3C7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3785616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de nervios (forma de esqueleto)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48640" y="4425696"/>
            <a:ext cx="6949440" cy="960120"/>
          </a:xfrm>
          <a:prstGeom prst="roundRect">
            <a:avLst>
              <a:gd name="adj" fmla="val 7619"/>
            </a:avLst>
          </a:prstGeom>
          <a:solidFill>
            <a:srgbClr val="F5F6FB"/>
          </a:solidFill>
          <a:ln/>
        </p:spPr>
      </p:sp>
      <p:sp>
        <p:nvSpPr>
          <p:cNvPr id="18" name="Text 16"/>
          <p:cNvSpPr/>
          <p:nvPr/>
        </p:nvSpPr>
        <p:spPr>
          <a:xfrm>
            <a:off x="749808" y="4425696"/>
            <a:ext cx="654710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arquitectura moderna (s. XX-XXI) rompió con los estilos históricos gracias a materiales como el acero y el hormigón, que permiten formas libres. Este museo, del arquitecto Santiago Calatrava, es un museo interactivo inaugurado en 2000, con una estructura de nervios que recuerda al esqueleto de un dinosaurio.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772400" y="1572768"/>
            <a:ext cx="3867912" cy="689458"/>
          </a:xfrm>
          <a:prstGeom prst="roundRect">
            <a:avLst>
              <a:gd name="adj" fmla="val 7958"/>
            </a:avLst>
          </a:prstGeom>
          <a:solidFill>
            <a:srgbClr val="F5F6FB"/>
          </a:solidFill>
          <a:ln/>
        </p:spPr>
      </p:sp>
      <p:sp>
        <p:nvSpPr>
          <p:cNvPr id="20" name="Text 18"/>
          <p:cNvSpPr/>
          <p:nvPr/>
        </p:nvSpPr>
        <p:spPr>
          <a:xfrm>
            <a:off x="7845552" y="1572768"/>
            <a:ext cx="329184" cy="6894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🔬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266176" y="1591056"/>
            <a:ext cx="3264408" cy="6528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museo interactivo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интерактивный музей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7772400" y="2353666"/>
            <a:ext cx="3867912" cy="689458"/>
          </a:xfrm>
          <a:prstGeom prst="roundRect">
            <a:avLst>
              <a:gd name="adj" fmla="val 7958"/>
            </a:avLst>
          </a:prstGeom>
          <a:solidFill>
            <a:srgbClr val="F5F6FB"/>
          </a:solidFill>
          <a:ln/>
        </p:spPr>
      </p:sp>
      <p:sp>
        <p:nvSpPr>
          <p:cNvPr id="23" name="Text 21"/>
          <p:cNvSpPr/>
          <p:nvPr/>
        </p:nvSpPr>
        <p:spPr>
          <a:xfrm>
            <a:off x="7845552" y="2353666"/>
            <a:ext cx="329184" cy="6894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🏙️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266176" y="2371954"/>
            <a:ext cx="3264408" cy="6528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conjunto arquitectónico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архитектурный ансамбль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7772400" y="3134563"/>
            <a:ext cx="3867912" cy="689458"/>
          </a:xfrm>
          <a:prstGeom prst="roundRect">
            <a:avLst>
              <a:gd name="adj" fmla="val 7958"/>
            </a:avLst>
          </a:prstGeom>
          <a:solidFill>
            <a:srgbClr val="F5F6FB"/>
          </a:solidFill>
          <a:ln/>
        </p:spPr>
      </p:sp>
      <p:sp>
        <p:nvSpPr>
          <p:cNvPr id="26" name="Text 24"/>
          <p:cNvSpPr/>
          <p:nvPr/>
        </p:nvSpPr>
        <p:spPr>
          <a:xfrm>
            <a:off x="7845552" y="3134563"/>
            <a:ext cx="329184" cy="6894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✏️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266176" y="3152851"/>
            <a:ext cx="3264408" cy="6528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diseñar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проектировать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7772400" y="3915461"/>
            <a:ext cx="3867912" cy="689458"/>
          </a:xfrm>
          <a:prstGeom prst="roundRect">
            <a:avLst>
              <a:gd name="adj" fmla="val 7958"/>
            </a:avLst>
          </a:prstGeom>
          <a:solidFill>
            <a:srgbClr val="F5F6FB"/>
          </a:solidFill>
          <a:ln/>
        </p:spPr>
      </p:sp>
      <p:sp>
        <p:nvSpPr>
          <p:cNvPr id="29" name="Text 27"/>
          <p:cNvSpPr/>
          <p:nvPr/>
        </p:nvSpPr>
        <p:spPr>
          <a:xfrm>
            <a:off x="7845552" y="3915461"/>
            <a:ext cx="329184" cy="6894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🎊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266176" y="3933749"/>
            <a:ext cx="3264408" cy="6528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inaugurar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торжественно открывать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7772400" y="4696358"/>
            <a:ext cx="3867912" cy="689458"/>
          </a:xfrm>
          <a:prstGeom prst="roundRect">
            <a:avLst>
              <a:gd name="adj" fmla="val 7958"/>
            </a:avLst>
          </a:prstGeom>
          <a:solidFill>
            <a:srgbClr val="F5F6FB"/>
          </a:solidFill>
          <a:ln/>
        </p:spPr>
      </p:sp>
      <p:sp>
        <p:nvSpPr>
          <p:cNvPr id="32" name="Text 30"/>
          <p:cNvSpPr/>
          <p:nvPr/>
        </p:nvSpPr>
        <p:spPr>
          <a:xfrm>
            <a:off x="7845552" y="4696358"/>
            <a:ext cx="329184" cy="6894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🦴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266176" y="4714646"/>
            <a:ext cx="3264408" cy="6528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tener forma de esqueleto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иметь форму скелета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Nuevo Español en Marcha 4 (B2) · Unidad 12B · Turismo cultural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985455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Angel Luis Acosta González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ESCUCHAR · IGLESIA DE SAN FRANCISCO EL GRANDE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Léxico de la iglesia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Palabras del recuadro antes de escuchar el audio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5349240" cy="560397"/>
          </a:xfrm>
          <a:prstGeom prst="roundRect">
            <a:avLst>
              <a:gd name="adj" fmla="val 13054"/>
            </a:avLst>
          </a:prstGeom>
          <a:solidFill>
            <a:srgbClr val="F5F6FB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58368" y="1691640"/>
            <a:ext cx="377517" cy="377517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7" name="Text 5"/>
          <p:cNvSpPr/>
          <p:nvPr/>
        </p:nvSpPr>
        <p:spPr>
          <a:xfrm>
            <a:off x="658368" y="1691640"/>
            <a:ext cx="377517" cy="3775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⛰️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63901" y="1636776"/>
            <a:ext cx="4624251" cy="4872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ermita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скит, уединённая часовня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306901"/>
            <a:ext cx="5349240" cy="560397"/>
          </a:xfrm>
          <a:prstGeom prst="roundRect">
            <a:avLst>
              <a:gd name="adj" fmla="val 13054"/>
            </a:avLst>
          </a:prstGeom>
          <a:solidFill>
            <a:srgbClr val="F5F6FB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8368" y="2398341"/>
            <a:ext cx="377517" cy="377517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" y="2398341"/>
            <a:ext cx="377517" cy="3775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🏛️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63901" y="2343477"/>
            <a:ext cx="4624251" cy="4872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convento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монастырь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013601"/>
            <a:ext cx="5349240" cy="560397"/>
          </a:xfrm>
          <a:prstGeom prst="roundRect">
            <a:avLst>
              <a:gd name="adj" fmla="val 13054"/>
            </a:avLst>
          </a:prstGeom>
          <a:solidFill>
            <a:srgbClr val="F5F6FB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58368" y="3105041"/>
            <a:ext cx="377517" cy="377517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3105041"/>
            <a:ext cx="377517" cy="3775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⭕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63901" y="3050177"/>
            <a:ext cx="4624251" cy="4872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rotonda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ротонда (круглый зал/здание)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3720302"/>
            <a:ext cx="5349240" cy="560397"/>
          </a:xfrm>
          <a:prstGeom prst="roundRect">
            <a:avLst>
              <a:gd name="adj" fmla="val 13054"/>
            </a:avLst>
          </a:prstGeom>
          <a:solidFill>
            <a:srgbClr val="F5F6FB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58368" y="3811742"/>
            <a:ext cx="377517" cy="377517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9" name="Text 17"/>
          <p:cNvSpPr/>
          <p:nvPr/>
        </p:nvSpPr>
        <p:spPr>
          <a:xfrm>
            <a:off x="658368" y="3811742"/>
            <a:ext cx="377517" cy="3775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🔵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63901" y="3756878"/>
            <a:ext cx="4624251" cy="4872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cúpula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купол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48640" y="4427002"/>
            <a:ext cx="5349240" cy="560397"/>
          </a:xfrm>
          <a:prstGeom prst="roundRect">
            <a:avLst>
              <a:gd name="adj" fmla="val 13054"/>
            </a:avLst>
          </a:prstGeom>
          <a:solidFill>
            <a:srgbClr val="F5F6FB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58368" y="4518442"/>
            <a:ext cx="377517" cy="377517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3" name="Text 21"/>
          <p:cNvSpPr/>
          <p:nvPr/>
        </p:nvSpPr>
        <p:spPr>
          <a:xfrm>
            <a:off x="658368" y="4518442"/>
            <a:ext cx="377517" cy="3775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🖼️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163901" y="4463578"/>
            <a:ext cx="4624251" cy="4872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lienzo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холст, полотно (картина)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548640" y="5133703"/>
            <a:ext cx="5349240" cy="560397"/>
          </a:xfrm>
          <a:prstGeom prst="roundRect">
            <a:avLst>
              <a:gd name="adj" fmla="val 13054"/>
            </a:avLst>
          </a:prstGeom>
          <a:solidFill>
            <a:srgbClr val="F5F6FB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58368" y="5225143"/>
            <a:ext cx="377517" cy="377517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7" name="Text 25"/>
          <p:cNvSpPr/>
          <p:nvPr/>
        </p:nvSpPr>
        <p:spPr>
          <a:xfrm>
            <a:off x="658368" y="5225143"/>
            <a:ext cx="377517" cy="3775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🙏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163901" y="5170279"/>
            <a:ext cx="4624251" cy="4872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capilla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капелла, часовня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548640" y="5840403"/>
            <a:ext cx="5349240" cy="560397"/>
          </a:xfrm>
          <a:prstGeom prst="roundRect">
            <a:avLst>
              <a:gd name="adj" fmla="val 13054"/>
            </a:avLst>
          </a:prstGeom>
          <a:solidFill>
            <a:srgbClr val="F5F6FB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58368" y="5931843"/>
            <a:ext cx="377517" cy="377517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31" name="Text 29"/>
          <p:cNvSpPr/>
          <p:nvPr/>
        </p:nvSpPr>
        <p:spPr>
          <a:xfrm>
            <a:off x="658368" y="5931843"/>
            <a:ext cx="377517" cy="3775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🥈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163901" y="5876979"/>
            <a:ext cx="4624251" cy="4872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plateresco/a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платереско (стиль испанского Ренессанса)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6355080" y="1600200"/>
            <a:ext cx="5349240" cy="560397"/>
          </a:xfrm>
          <a:prstGeom prst="roundRect">
            <a:avLst>
              <a:gd name="adj" fmla="val 13054"/>
            </a:avLst>
          </a:prstGeom>
          <a:solidFill>
            <a:srgbClr val="F5F6FB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464808" y="1691640"/>
            <a:ext cx="377517" cy="377517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35" name="Text 33"/>
          <p:cNvSpPr/>
          <p:nvPr/>
        </p:nvSpPr>
        <p:spPr>
          <a:xfrm>
            <a:off x="6464808" y="1691640"/>
            <a:ext cx="377517" cy="3775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➰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970341" y="1636776"/>
            <a:ext cx="4624251" cy="4872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cordón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шнур, верёвочный пояс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6355080" y="2306901"/>
            <a:ext cx="5349240" cy="560397"/>
          </a:xfrm>
          <a:prstGeom prst="roundRect">
            <a:avLst>
              <a:gd name="adj" fmla="val 13054"/>
            </a:avLst>
          </a:prstGeom>
          <a:solidFill>
            <a:srgbClr val="F5F6FB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464808" y="2398341"/>
            <a:ext cx="377517" cy="377517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39" name="Text 37"/>
          <p:cNvSpPr/>
          <p:nvPr/>
        </p:nvSpPr>
        <p:spPr>
          <a:xfrm>
            <a:off x="6464808" y="2398341"/>
            <a:ext cx="377517" cy="3775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👑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6970341" y="2343477"/>
            <a:ext cx="4624251" cy="4872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trono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трон</a:t>
            </a:r>
            <a:endParaRPr lang="en-US" sz="1250" dirty="0"/>
          </a:p>
        </p:txBody>
      </p:sp>
      <p:sp>
        <p:nvSpPr>
          <p:cNvPr id="41" name="Shape 39"/>
          <p:cNvSpPr/>
          <p:nvPr/>
        </p:nvSpPr>
        <p:spPr>
          <a:xfrm>
            <a:off x="6355080" y="3013601"/>
            <a:ext cx="5349240" cy="560397"/>
          </a:xfrm>
          <a:prstGeom prst="roundRect">
            <a:avLst>
              <a:gd name="adj" fmla="val 13054"/>
            </a:avLst>
          </a:prstGeom>
          <a:solidFill>
            <a:srgbClr val="F5F6FB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464808" y="3105041"/>
            <a:ext cx="377517" cy="377517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43" name="Text 41"/>
          <p:cNvSpPr/>
          <p:nvPr/>
        </p:nvSpPr>
        <p:spPr>
          <a:xfrm>
            <a:off x="6464808" y="3105041"/>
            <a:ext cx="377517" cy="3775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🦺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6970341" y="3050177"/>
            <a:ext cx="4624251" cy="4872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chaleco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жилет</a:t>
            </a:r>
            <a:endParaRPr lang="en-US" sz="1250" dirty="0"/>
          </a:p>
        </p:txBody>
      </p:sp>
      <p:sp>
        <p:nvSpPr>
          <p:cNvPr id="45" name="Shape 43"/>
          <p:cNvSpPr/>
          <p:nvPr/>
        </p:nvSpPr>
        <p:spPr>
          <a:xfrm>
            <a:off x="6355080" y="3720302"/>
            <a:ext cx="5349240" cy="560397"/>
          </a:xfrm>
          <a:prstGeom prst="roundRect">
            <a:avLst>
              <a:gd name="adj" fmla="val 13054"/>
            </a:avLst>
          </a:prstGeom>
          <a:solidFill>
            <a:srgbClr val="F5F6FB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6464808" y="3811742"/>
            <a:ext cx="377517" cy="377517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47" name="Text 45"/>
          <p:cNvSpPr/>
          <p:nvPr/>
        </p:nvSpPr>
        <p:spPr>
          <a:xfrm>
            <a:off x="6464808" y="3811742"/>
            <a:ext cx="377517" cy="3775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❤️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6970341" y="3756878"/>
            <a:ext cx="4624251" cy="4872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virtud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добродетель</a:t>
            </a:r>
            <a:endParaRPr lang="en-US" sz="1250" dirty="0"/>
          </a:p>
        </p:txBody>
      </p:sp>
      <p:sp>
        <p:nvSpPr>
          <p:cNvPr id="49" name="Shape 47"/>
          <p:cNvSpPr/>
          <p:nvPr/>
        </p:nvSpPr>
        <p:spPr>
          <a:xfrm>
            <a:off x="6355080" y="4427002"/>
            <a:ext cx="5349240" cy="560397"/>
          </a:xfrm>
          <a:prstGeom prst="roundRect">
            <a:avLst>
              <a:gd name="adj" fmla="val 13054"/>
            </a:avLst>
          </a:prstGeom>
          <a:solidFill>
            <a:srgbClr val="F5F6FB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6464808" y="4518442"/>
            <a:ext cx="377517" cy="377517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51" name="Text 49"/>
          <p:cNvSpPr/>
          <p:nvPr/>
        </p:nvSpPr>
        <p:spPr>
          <a:xfrm>
            <a:off x="6464808" y="4518442"/>
            <a:ext cx="377517" cy="3775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🕯️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6970341" y="4463578"/>
            <a:ext cx="4624251" cy="4872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altar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алтарь</a:t>
            </a:r>
            <a:endParaRPr lang="en-US" sz="1250" dirty="0"/>
          </a:p>
        </p:txBody>
      </p:sp>
      <p:sp>
        <p:nvSpPr>
          <p:cNvPr id="53" name="Shape 51"/>
          <p:cNvSpPr/>
          <p:nvPr/>
        </p:nvSpPr>
        <p:spPr>
          <a:xfrm>
            <a:off x="6355080" y="5133703"/>
            <a:ext cx="5349240" cy="560397"/>
          </a:xfrm>
          <a:prstGeom prst="roundRect">
            <a:avLst>
              <a:gd name="adj" fmla="val 13054"/>
            </a:avLst>
          </a:prstGeom>
          <a:solidFill>
            <a:srgbClr val="F5F6FB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6464808" y="5225143"/>
            <a:ext cx="377517" cy="377517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55" name="Text 53"/>
          <p:cNvSpPr/>
          <p:nvPr/>
        </p:nvSpPr>
        <p:spPr>
          <a:xfrm>
            <a:off x="6464808" y="5225143"/>
            <a:ext cx="377517" cy="3775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🏺</a:t>
            </a:r>
            <a:endParaRPr lang="en-US" sz="1300" dirty="0"/>
          </a:p>
        </p:txBody>
      </p:sp>
      <p:sp>
        <p:nvSpPr>
          <p:cNvPr id="56" name="Text 54"/>
          <p:cNvSpPr/>
          <p:nvPr/>
        </p:nvSpPr>
        <p:spPr>
          <a:xfrm>
            <a:off x="6970341" y="5170279"/>
            <a:ext cx="4624251" cy="4872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mayólica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майолика (расписная керамика)</a:t>
            </a:r>
            <a:endParaRPr lang="en-US" sz="1250" dirty="0"/>
          </a:p>
        </p:txBody>
      </p:sp>
      <p:sp>
        <p:nvSpPr>
          <p:cNvPr id="57" name="Text 55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Nuevo Español en Marcha 4 (B2) · Unidad 12B · Turismo cultural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7985455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Angel Luis Acosta González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Cuadro comparativo de los 4 estilos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152144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repasar de un vistazo antes del ejercicio 1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1554480" cy="457200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6" name="Text 4"/>
          <p:cNvSpPr/>
          <p:nvPr/>
        </p:nvSpPr>
        <p:spPr>
          <a:xfrm>
            <a:off x="621792" y="1645920"/>
            <a:ext cx="1408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Estilo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103120" y="1645920"/>
            <a:ext cx="1371600" cy="457200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8" name="Text 6"/>
          <p:cNvSpPr/>
          <p:nvPr/>
        </p:nvSpPr>
        <p:spPr>
          <a:xfrm>
            <a:off x="2176272" y="1645920"/>
            <a:ext cx="1225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Siglos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474720" y="1645920"/>
            <a:ext cx="2468880" cy="457200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10" name="Text 8"/>
          <p:cNvSpPr/>
          <p:nvPr/>
        </p:nvSpPr>
        <p:spPr>
          <a:xfrm>
            <a:off x="3547872" y="1645920"/>
            <a:ext cx="2322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Arco típico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943600" y="1645920"/>
            <a:ext cx="3200400" cy="457200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12" name="Text 10"/>
          <p:cNvSpPr/>
          <p:nvPr/>
        </p:nvSpPr>
        <p:spPr>
          <a:xfrm>
            <a:off x="6016752" y="1645920"/>
            <a:ext cx="3054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Elementos clave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9144000" y="1645920"/>
            <a:ext cx="2496312" cy="457200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14" name="Text 12"/>
          <p:cNvSpPr/>
          <p:nvPr/>
        </p:nvSpPr>
        <p:spPr>
          <a:xfrm>
            <a:off x="9217152" y="1645920"/>
            <a:ext cx="2350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del capítulo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2103120"/>
            <a:ext cx="1554480" cy="1051560"/>
          </a:xfrm>
          <a:prstGeom prst="rect">
            <a:avLst/>
          </a:prstGeom>
          <a:solidFill>
            <a:srgbClr val="F5F6FB"/>
          </a:solidFill>
          <a:ln w="9525">
            <a:solidFill>
              <a:srgbClr val="E7E9F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" y="2103120"/>
            <a:ext cx="140817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Románico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2103120" y="2103120"/>
            <a:ext cx="1371600" cy="1051560"/>
          </a:xfrm>
          <a:prstGeom prst="rect">
            <a:avLst/>
          </a:prstGeom>
          <a:solidFill>
            <a:srgbClr val="F5F6FB"/>
          </a:solidFill>
          <a:ln w="9525">
            <a:solidFill>
              <a:srgbClr val="E7E9F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176272" y="2103120"/>
            <a:ext cx="12252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 XI-XII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474720" y="2103120"/>
            <a:ext cx="2468880" cy="1051560"/>
          </a:xfrm>
          <a:prstGeom prst="rect">
            <a:avLst/>
          </a:prstGeom>
          <a:solidFill>
            <a:srgbClr val="F5F6FB"/>
          </a:solidFill>
          <a:ln w="9525">
            <a:solidFill>
              <a:srgbClr val="E7E9F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47872" y="2103120"/>
            <a:ext cx="232257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medio punto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943600" y="2103120"/>
            <a:ext cx="3200400" cy="1051560"/>
          </a:xfrm>
          <a:prstGeom prst="rect">
            <a:avLst/>
          </a:prstGeom>
          <a:solidFill>
            <a:srgbClr val="F5F6FB"/>
          </a:solidFill>
          <a:ln w="9525">
            <a:solidFill>
              <a:srgbClr val="E7E9F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16752" y="2103120"/>
            <a:ext cx="30540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bóveda de cañón, ábside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9144000" y="2103120"/>
            <a:ext cx="2496312" cy="1051560"/>
          </a:xfrm>
          <a:prstGeom prst="rect">
            <a:avLst/>
          </a:prstGeom>
          <a:solidFill>
            <a:srgbClr val="F5F6FB"/>
          </a:solidFill>
          <a:ln w="9525">
            <a:solidFill>
              <a:srgbClr val="E7E9F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217152" y="2103120"/>
            <a:ext cx="23500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Iglesia de San Martín, Frómista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48640" y="3154680"/>
            <a:ext cx="155448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E7E9F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1792" y="3154680"/>
            <a:ext cx="140817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Gótico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2103120" y="3154680"/>
            <a:ext cx="137160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E7E9F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176272" y="3154680"/>
            <a:ext cx="12252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 XIII-XVI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474720" y="3154680"/>
            <a:ext cx="246888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E7E9F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547872" y="3154680"/>
            <a:ext cx="232257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apuntado / ojival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943600" y="3154680"/>
            <a:ext cx="320040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E7E9F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016752" y="3154680"/>
            <a:ext cx="30540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aguja, cimborrio, claustro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9144000" y="3154680"/>
            <a:ext cx="2496312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E7E9F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217152" y="3154680"/>
            <a:ext cx="23500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Catedral de Burgos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48640" y="4206240"/>
            <a:ext cx="1554480" cy="1051560"/>
          </a:xfrm>
          <a:prstGeom prst="rect">
            <a:avLst/>
          </a:prstGeom>
          <a:solidFill>
            <a:srgbClr val="F5F6FB"/>
          </a:solidFill>
          <a:ln w="9525">
            <a:solidFill>
              <a:srgbClr val="E7E9F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1792" y="4206240"/>
            <a:ext cx="140817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Árabe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2103120" y="4206240"/>
            <a:ext cx="1371600" cy="1051560"/>
          </a:xfrm>
          <a:prstGeom prst="rect">
            <a:avLst/>
          </a:prstGeom>
          <a:solidFill>
            <a:srgbClr val="F5F6FB"/>
          </a:solidFill>
          <a:ln w="9525">
            <a:solidFill>
              <a:srgbClr val="E7E9F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176272" y="4206240"/>
            <a:ext cx="12252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 XII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3474720" y="4206240"/>
            <a:ext cx="2468880" cy="1051560"/>
          </a:xfrm>
          <a:prstGeom prst="rect">
            <a:avLst/>
          </a:prstGeom>
          <a:solidFill>
            <a:srgbClr val="F5F6FB"/>
          </a:solidFill>
          <a:ln w="9525">
            <a:solidFill>
              <a:srgbClr val="E7E9F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547872" y="4206240"/>
            <a:ext cx="232257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herradura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5943600" y="4206240"/>
            <a:ext cx="3200400" cy="1051560"/>
          </a:xfrm>
          <a:prstGeom prst="rect">
            <a:avLst/>
          </a:prstGeom>
          <a:solidFill>
            <a:srgbClr val="F5F6FB"/>
          </a:solidFill>
          <a:ln w="9525">
            <a:solidFill>
              <a:srgbClr val="E7E9F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016752" y="4206240"/>
            <a:ext cx="30540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minarete, rampa interior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9144000" y="4206240"/>
            <a:ext cx="2496312" cy="1051560"/>
          </a:xfrm>
          <a:prstGeom prst="rect">
            <a:avLst/>
          </a:prstGeom>
          <a:solidFill>
            <a:srgbClr val="F5F6FB"/>
          </a:solidFill>
          <a:ln w="9525">
            <a:solidFill>
              <a:srgbClr val="E7E9F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217152" y="4206240"/>
            <a:ext cx="23500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Giralda, Sevilla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548640" y="5257800"/>
            <a:ext cx="155448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E7E9F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21792" y="5257800"/>
            <a:ext cx="140817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Moderno</a:t>
            </a:r>
            <a:endParaRPr lang="en-US" sz="1250" dirty="0"/>
          </a:p>
        </p:txBody>
      </p:sp>
      <p:sp>
        <p:nvSpPr>
          <p:cNvPr id="47" name="Shape 45"/>
          <p:cNvSpPr/>
          <p:nvPr/>
        </p:nvSpPr>
        <p:spPr>
          <a:xfrm>
            <a:off x="2103120" y="5257800"/>
            <a:ext cx="137160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E7E9F3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176272" y="5257800"/>
            <a:ext cx="12252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 XXI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3474720" y="5257800"/>
            <a:ext cx="246888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E7E9F3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547872" y="5257800"/>
            <a:ext cx="232257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estructuras de acero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5943600" y="5257800"/>
            <a:ext cx="320040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E7E9F3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016752" y="5257800"/>
            <a:ext cx="30540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interactivo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9144000" y="5257800"/>
            <a:ext cx="2496312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E7E9F3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9217152" y="5257800"/>
            <a:ext cx="23500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Museo Príncipe Felipe, Valencia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Nuevo Español en Marcha 4 (B2) · Unidad 12B · Turismo cultural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7985455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Angel Luis Acosta González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F3C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645920"/>
            <a:ext cx="4572000" cy="4572000"/>
          </a:xfrm>
          <a:prstGeom prst="ellipse">
            <a:avLst/>
          </a:prstGeom>
          <a:solidFill>
            <a:srgbClr val="F96167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4206240"/>
            <a:ext cx="3840480" cy="3840480"/>
          </a:xfrm>
          <a:prstGeom prst="ellipse">
            <a:avLst/>
          </a:prstGeom>
          <a:solidFill>
            <a:srgbClr val="F9E795">
              <a:alpha val="1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1031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¡A REPASAR!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246888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Ya conoces el léxico de la Unidad 12B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822960" y="3520440"/>
            <a:ext cx="9784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Vuelve a leer los 4 textos del libro fijándote en estas palabras: románico, gótico,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árabe y moderno ya no deberían sonar difíciles.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el ejercicio 5, escucha el audio sobre San Francisco el Grande usando el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vocabulario de la última tabla.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5074920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9E7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— Angel Luis Acosta González, tu profesor de español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62179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9B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Nuevo Español en Marcha 4 (B2) · Unidad 12B · Turismo cultural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Léxico del arte y la arquitectura — Turismo cultural (B2, Unidad 12B)</dc:title>
  <dc:subject>PptxGenJS Presentation</dc:subject>
  <dc:creator>PptxGenJS</dc:creator>
  <cp:lastModifiedBy>PptxGenJS</cp:lastModifiedBy>
  <cp:revision>1</cp:revision>
  <dcterms:created xsi:type="dcterms:W3CDTF">2026-08-09T09:22:53Z</dcterms:created>
  <dcterms:modified xsi:type="dcterms:W3CDTF">2026-08-09T09:22:53Z</dcterms:modified>
</cp:coreProperties>
</file>