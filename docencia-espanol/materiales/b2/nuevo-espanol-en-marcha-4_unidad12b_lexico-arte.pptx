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474720" cy="347472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· NIVEL B2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Léxico del arte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la arquitectura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12B — Turismo cultural: románico, gótico, árabe y moderno, con esquemas y traducción al ruso.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78308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⛪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74320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🕌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370332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0332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📐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→ Ruso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6419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elaborado por Angel Luis Acosta González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 · TURISMO CULTURAL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4 estilos del capítulo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1: relaciona cada foto del libro con su estilo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современный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7185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986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349986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0337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árabe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арабский (мавританский)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506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2307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307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⛪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2658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gótico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готический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1827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628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628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🏰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74979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románico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романский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 · VOCABULARIO GENERAL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Palabras que aparecen en los 4 textos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Léxico común a cualquier monumento, antes de entrar en cada estilo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monumento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памятник (архитектуры)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estilo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стиль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🧱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fachada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фасад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arquitecto / la arquitecta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архитектор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🏗️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· fue mandado construir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строить · было построено по приказу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🔨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реставрировать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8688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16636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83260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siglo (s. XI, s. XII...)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(XI, XII...)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3 · ROMÁNICO (S. XI-XII)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Iglesia de San Martín, Frómista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estilo más antiguo de los cuatro — el más "puro" románico español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3104388"/>
            <a:ext cx="1086612" cy="892454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55292" y="3104388"/>
            <a:ext cx="1738579" cy="892454"/>
          </a:xfrm>
          <a:prstGeom prst="rect">
            <a:avLst/>
          </a:prstGeom>
          <a:solidFill>
            <a:srgbClr val="FFFFFF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93871" y="3104388"/>
            <a:ext cx="1086612" cy="892454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55" y="3104388"/>
            <a:ext cx="5320052" cy="249887"/>
          </a:xfrm>
          <a:prstGeom prst="rect">
            <a:avLst/>
          </a:prstGeom>
          <a:solidFill>
            <a:srgbClr val="F9E795">
              <a:alpha val="65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2144" y="2604546"/>
            <a:ext cx="999683" cy="999683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24835" y="2304642"/>
            <a:ext cx="1599493" cy="1599493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96167">
              <a:alpha val="85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37336" y="2604546"/>
            <a:ext cx="999683" cy="999683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9035" y="3698024"/>
            <a:ext cx="597637" cy="29881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4" name="Shape 12"/>
          <p:cNvSpPr/>
          <p:nvPr/>
        </p:nvSpPr>
        <p:spPr>
          <a:xfrm>
            <a:off x="4272492" y="3698024"/>
            <a:ext cx="597637" cy="29881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12034"/>
            <a:ext cx="4186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ábsides (el central, más ancho)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58719" y="31196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crucero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955292" y="3461370"/>
            <a:ext cx="1738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 central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1520" y="3461370"/>
            <a:ext cx="1360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 lateral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4360" y="4069994"/>
            <a:ext cx="4460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torrecillas con escaleras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928616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F5F6FB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928616"/>
            <a:ext cx="6547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 románico (s. XI-XII) fue el primer gran estilo internacional de la Europa cristiana medieval, ligado a monasterios y al Camino de Santiago. Esta iglesia se construyó en Frómista (Palencia): planta de 3 naves + crucero, con 3 ábsides semicirculares — el central, más ancho — y 2 torrecillas en la fachada.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0" y="1572768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45552" y="1572768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66176" y="1591056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nave (central / lateral)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 (центральный / боковой)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0" y="2123694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7845552" y="2123694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🌉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66176" y="2141982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bóveda de cañón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цилиндрический свод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0" y="2674620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45552" y="2674620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66176" y="2692908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arco de medio punto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полуциркульная арка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772400" y="3225546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45552" y="3225546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🔵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66176" y="3243834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ábside (semicircular)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абсида (полукруглая)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0" y="3776472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35" name="Text 33"/>
          <p:cNvSpPr/>
          <p:nvPr/>
        </p:nvSpPr>
        <p:spPr>
          <a:xfrm>
            <a:off x="7845552" y="3776472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66176" y="3794760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crucero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средокрестие (трансепт)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4327398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845552" y="4327398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🗼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266176" y="4345686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pilar cruciforme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крестообразный столб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772400" y="4878324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41" name="Text 39"/>
          <p:cNvSpPr/>
          <p:nvPr/>
        </p:nvSpPr>
        <p:spPr>
          <a:xfrm>
            <a:off x="7845552" y="4878324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🏘️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266176" y="4896612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torrecilla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башенка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7772400" y="5429250"/>
            <a:ext cx="3867912" cy="459486"/>
          </a:xfrm>
          <a:prstGeom prst="roundRect">
            <a:avLst>
              <a:gd name="adj" fmla="val 11940"/>
            </a:avLst>
          </a:prstGeom>
          <a:solidFill>
            <a:srgbClr val="F5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7845552" y="5429250"/>
            <a:ext cx="329184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🚪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66176" y="5447538"/>
            <a:ext cx="3264408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cabecera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алтарная часть храма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4 · GÓTICO (S. XIII-XVI)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Catedral de Burgos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Arcos apuntados y verticalidad: todo "apunta" hacia arriba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319833" y="2936321"/>
            <a:ext cx="1009498" cy="873069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9833" y="2221992"/>
            <a:ext cx="1009498" cy="714329"/>
          </a:xfrm>
          <a:prstGeom prst="triangle">
            <a:avLst/>
          </a:prstGeom>
          <a:solidFill>
            <a:srgbClr val="2F3C7E"/>
          </a:solidFill>
          <a:ln/>
        </p:spPr>
      </p:sp>
      <p:sp>
        <p:nvSpPr>
          <p:cNvPr id="8" name="Shape 6"/>
          <p:cNvSpPr/>
          <p:nvPr/>
        </p:nvSpPr>
        <p:spPr>
          <a:xfrm>
            <a:off x="3455518" y="2936321"/>
            <a:ext cx="1009498" cy="873069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5518" y="2221992"/>
            <a:ext cx="1009498" cy="714329"/>
          </a:xfrm>
          <a:prstGeom prst="triangle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2319833" y="1965960"/>
            <a:ext cx="3028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aguja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49547" y="3287085"/>
            <a:ext cx="1388059" cy="522305"/>
          </a:xfrm>
          <a:prstGeom prst="rect">
            <a:avLst/>
          </a:prstGeom>
          <a:solidFill>
            <a:srgbClr val="F9E795">
              <a:alpha val="85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9547" y="2938882"/>
            <a:ext cx="1388059" cy="348204"/>
          </a:xfrm>
          <a:prstGeom prst="triangl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3600907" y="2554834"/>
            <a:ext cx="2485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cimborrio (sobre el crucero)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94867" y="3246120"/>
            <a:ext cx="1009498" cy="563270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3427" y="3864254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capilla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789981" y="2547518"/>
            <a:ext cx="1261872" cy="1261872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67593" y="2825130"/>
            <a:ext cx="706648" cy="706648"/>
          </a:xfrm>
          <a:prstGeom prst="rect">
            <a:avLst/>
          </a:prstGeom>
          <a:solidFill>
            <a:srgbClr val="FFFFFF"/>
          </a:solidFill>
          <a:ln w="9525">
            <a:solidFill>
              <a:srgbClr val="2F3C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98541" y="386425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claustro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3809390"/>
            <a:ext cx="6309360" cy="0"/>
          </a:xfrm>
          <a:prstGeom prst="line">
            <a:avLst/>
          </a:prstGeom>
          <a:noFill/>
          <a:ln w="15875">
            <a:solidFill>
              <a:srgbClr val="2F3C7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700016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F5F6FB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700016"/>
            <a:ext cx="6547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gótico (s. XII-XVI) nació en Francia buscando altura y luz: arcos apuntados y contrafuertes permitieron muros más finos y grandes vidrieras. La catedral de Burgos se empezó en 1221 y se consagró en 1260; después se amplió con un grandioso claustro, numerosas capillas, esbeltas agujas y un espléndido cimborrio.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0" y="1572768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45552" y="1572768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66176" y="1591056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catedral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собор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0" y="2095119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7845552" y="2095119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66176" y="2113407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claustro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клуатр (монастырский дворик)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0" y="2617470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45552" y="2617470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🙏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66176" y="2635758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capilla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капелла, часовня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772400" y="3139821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45552" y="3139821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🗼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66176" y="3158109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aguja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шпиль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0" y="3662172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35" name="Text 33"/>
          <p:cNvSpPr/>
          <p:nvPr/>
        </p:nvSpPr>
        <p:spPr>
          <a:xfrm>
            <a:off x="7845552" y="3662172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🏯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66176" y="3680460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cimborrio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купольный фонарь (над средокрестием)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4184523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845552" y="4184523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🎉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266176" y="4202811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consagrar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освящать (храм)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772400" y="4706874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41" name="Text 39"/>
          <p:cNvSpPr/>
          <p:nvPr/>
        </p:nvSpPr>
        <p:spPr>
          <a:xfrm>
            <a:off x="7845552" y="4706874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📈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266176" y="4725162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расширять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7772400" y="5229225"/>
            <a:ext cx="3867912" cy="430911"/>
          </a:xfrm>
          <a:prstGeom prst="roundRect">
            <a:avLst>
              <a:gd name="adj" fmla="val 12732"/>
            </a:avLst>
          </a:prstGeom>
          <a:solidFill>
            <a:srgbClr val="F5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7845552" y="5229225"/>
            <a:ext cx="329184" cy="430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✨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66176" y="5247513"/>
            <a:ext cx="3264408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embellecer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украшать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2 · ÁRABE (S. XII)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Giralda, Sevilla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minarete de la antigua mezquita, bajo la catedral gótica de Sevilla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319833" y="3118104"/>
            <a:ext cx="2397557" cy="1664208"/>
          </a:xfrm>
          <a:prstGeom prst="rect">
            <a:avLst/>
          </a:prstGeom>
          <a:solidFill>
            <a:srgbClr val="F5F6FB"/>
          </a:solidFill>
          <a:ln w="1905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15124" y="3417661"/>
            <a:ext cx="1006974" cy="1364651"/>
          </a:xfrm>
          <a:prstGeom prst="rect">
            <a:avLst/>
          </a:prstGeom>
          <a:solidFill>
            <a:srgbClr val="FFFFFF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95084" y="3143341"/>
            <a:ext cx="16470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hueco con rampa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 flipV="1">
            <a:off x="2667479" y="4554870"/>
            <a:ext cx="1945617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424127" y="4327428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424127" y="4099987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2424127" y="3872545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24127" y="3645103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 flipV="1">
            <a:off x="2424127" y="3417661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79466" y="2606040"/>
            <a:ext cx="1678290" cy="512064"/>
          </a:xfrm>
          <a:prstGeom prst="rect">
            <a:avLst/>
          </a:prstGeom>
          <a:solidFill>
            <a:srgbClr val="F9E795">
              <a:alpha val="80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47946" y="2331720"/>
            <a:ext cx="31413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cuerpo de campanas (renacentista)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63747" y="2148840"/>
            <a:ext cx="109728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2695651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veleta giratoria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68680" y="4873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torres, una dentro de la otra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5340096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F5F6FB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340096"/>
            <a:ext cx="6547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 árabe llegó a España con la conquista musulmana (711) y floreció casi 800 años en Al-Ándalus. La Giralda (97,5 m) era el minarete de la mezquita de Sevilla: dos torres, una dentro de la otra, con una rampa interior para subir a caballo; encima, cuerpo de campanas renacentista y veleta giratoria.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0" y="1572768"/>
            <a:ext cx="3867912" cy="596973"/>
          </a:xfrm>
          <a:prstGeom prst="roundRect">
            <a:avLst>
              <a:gd name="adj" fmla="val 9190"/>
            </a:avLst>
          </a:prstGeom>
          <a:solidFill>
            <a:srgbClr val="F5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45552" y="1572768"/>
            <a:ext cx="329184" cy="59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66176" y="1591056"/>
            <a:ext cx="3264408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minarete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минарет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0" y="2261181"/>
            <a:ext cx="3867912" cy="596973"/>
          </a:xfrm>
          <a:prstGeom prst="roundRect">
            <a:avLst>
              <a:gd name="adj" fmla="val 9190"/>
            </a:avLst>
          </a:prstGeom>
          <a:solidFill>
            <a:srgbClr val="F5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7845552" y="2261181"/>
            <a:ext cx="329184" cy="59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🕋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66176" y="2279469"/>
            <a:ext cx="3264408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mezquita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мечеть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0" y="2949593"/>
            <a:ext cx="3867912" cy="596973"/>
          </a:xfrm>
          <a:prstGeom prst="roundRect">
            <a:avLst>
              <a:gd name="adj" fmla="val 9190"/>
            </a:avLst>
          </a:prstGeom>
          <a:solidFill>
            <a:srgbClr val="F5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45552" y="2949593"/>
            <a:ext cx="329184" cy="59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👑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66176" y="2967881"/>
            <a:ext cx="3264408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sultán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султан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772400" y="3638006"/>
            <a:ext cx="3867912" cy="596973"/>
          </a:xfrm>
          <a:prstGeom prst="roundRect">
            <a:avLst>
              <a:gd name="adj" fmla="val 9190"/>
            </a:avLst>
          </a:prstGeom>
          <a:solidFill>
            <a:srgbClr val="F5F6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45552" y="3638006"/>
            <a:ext cx="329184" cy="59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🐎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66176" y="3656294"/>
            <a:ext cx="3264408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rampa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пандус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0" y="4326418"/>
            <a:ext cx="3867912" cy="596973"/>
          </a:xfrm>
          <a:prstGeom prst="roundRect">
            <a:avLst>
              <a:gd name="adj" fmla="val 9190"/>
            </a:avLst>
          </a:prstGeom>
          <a:solidFill>
            <a:srgbClr val="F5F6FB"/>
          </a:solidFill>
          <a:ln/>
        </p:spPr>
      </p:sp>
      <p:sp>
        <p:nvSpPr>
          <p:cNvPr id="35" name="Text 33"/>
          <p:cNvSpPr/>
          <p:nvPr/>
        </p:nvSpPr>
        <p:spPr>
          <a:xfrm>
            <a:off x="7845552" y="4326418"/>
            <a:ext cx="329184" cy="59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66176" y="4344706"/>
            <a:ext cx="3264408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(de campanas)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ярус (колоколов)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5014831"/>
            <a:ext cx="3867912" cy="596973"/>
          </a:xfrm>
          <a:prstGeom prst="roundRect">
            <a:avLst>
              <a:gd name="adj" fmla="val 9190"/>
            </a:avLst>
          </a:prstGeom>
          <a:solidFill>
            <a:srgbClr val="F5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845552" y="5014831"/>
            <a:ext cx="329184" cy="59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🎭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266176" y="5033119"/>
            <a:ext cx="3264408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renacentista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ренессансный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772400" y="5703243"/>
            <a:ext cx="3867912" cy="596973"/>
          </a:xfrm>
          <a:prstGeom prst="roundRect">
            <a:avLst>
              <a:gd name="adj" fmla="val 9190"/>
            </a:avLst>
          </a:prstGeom>
          <a:solidFill>
            <a:srgbClr val="F5F6FB"/>
          </a:solidFill>
          <a:ln/>
        </p:spPr>
      </p:sp>
      <p:sp>
        <p:nvSpPr>
          <p:cNvPr id="41" name="Text 39"/>
          <p:cNvSpPr/>
          <p:nvPr/>
        </p:nvSpPr>
        <p:spPr>
          <a:xfrm>
            <a:off x="7845552" y="5703243"/>
            <a:ext cx="329184" cy="59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🌬️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266176" y="5721531"/>
            <a:ext cx="3264408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veleta (giratoria)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флюгер (вращающийся)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1 · MODERNO (S. XXI)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Museo de las Ciencias Príncipe Felipe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de las Artes y las Ciencias, Valencia — arquitecto Santiago Calatrava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10335" y="3447288"/>
            <a:ext cx="9144" cy="274320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85485" y="3110056"/>
            <a:ext cx="9144" cy="611552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60635" y="2839617"/>
            <a:ext cx="9144" cy="881991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5785" y="2689535"/>
            <a:ext cx="9144" cy="1032073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0935" y="2689535"/>
            <a:ext cx="9144" cy="1032073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86085" y="2839617"/>
            <a:ext cx="9144" cy="881991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235" y="3110056"/>
            <a:ext cx="9144" cy="611552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36385" y="3447288"/>
            <a:ext cx="9144" cy="274320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10335" y="2350008"/>
            <a:ext cx="5426050" cy="1143000"/>
          </a:xfrm>
          <a:prstGeom prst="arc">
            <a:avLst>
              <a:gd name="adj1" fmla="val 10800000"/>
              <a:gd name="adj2" fmla="val 21600000"/>
            </a:avLst>
          </a:prstGeom>
          <a:ln w="38100">
            <a:solidFill>
              <a:srgbClr val="F9616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0335" y="3493008"/>
            <a:ext cx="5426050" cy="0"/>
          </a:xfrm>
          <a:prstGeom prst="line">
            <a:avLst/>
          </a:prstGeom>
          <a:noFill/>
          <a:ln w="19050">
            <a:solidFill>
              <a:srgbClr val="2F3C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7856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nervios (forma de esqueleto)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425696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F5F6FB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425696"/>
            <a:ext cx="6547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moderna (s. XX-XXI) rompió con los estilos históricos gracias a materiales como el acero y el hormigón, que permiten formas libres. Este museo, del arquitecto Santiago Calatrava, es un museo interactivo inaugurado en 2000, con una estructura de nervios que recuerda al esqueleto de un dinosaurio.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1572768"/>
            <a:ext cx="3867912" cy="689458"/>
          </a:xfrm>
          <a:prstGeom prst="roundRect">
            <a:avLst>
              <a:gd name="adj" fmla="val 7958"/>
            </a:avLst>
          </a:prstGeom>
          <a:solidFill>
            <a:srgbClr val="F5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45552" y="1572768"/>
            <a:ext cx="329184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66176" y="1591056"/>
            <a:ext cx="3264408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museo interactivo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интерактивный музей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0" y="2353666"/>
            <a:ext cx="3867912" cy="689458"/>
          </a:xfrm>
          <a:prstGeom prst="roundRect">
            <a:avLst>
              <a:gd name="adj" fmla="val 7958"/>
            </a:avLst>
          </a:prstGeom>
          <a:solidFill>
            <a:srgbClr val="F5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45552" y="2353666"/>
            <a:ext cx="329184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🏙️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66176" y="2371954"/>
            <a:ext cx="3264408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arquitectónico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архитектурный ансамбль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0" y="3134563"/>
            <a:ext cx="3867912" cy="689458"/>
          </a:xfrm>
          <a:prstGeom prst="roundRect">
            <a:avLst>
              <a:gd name="adj" fmla="val 7958"/>
            </a:avLst>
          </a:prstGeom>
          <a:solidFill>
            <a:srgbClr val="F5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7845552" y="3134563"/>
            <a:ext cx="329184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66176" y="3152851"/>
            <a:ext cx="3264408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0" y="3915461"/>
            <a:ext cx="3867912" cy="689458"/>
          </a:xfrm>
          <a:prstGeom prst="roundRect">
            <a:avLst>
              <a:gd name="adj" fmla="val 7958"/>
            </a:avLst>
          </a:prstGeom>
          <a:solidFill>
            <a:srgbClr val="F5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45552" y="3915461"/>
            <a:ext cx="329184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🎊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66176" y="3933749"/>
            <a:ext cx="3264408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inaugurar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торжественно открывать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772400" y="4696358"/>
            <a:ext cx="3867912" cy="689458"/>
          </a:xfrm>
          <a:prstGeom prst="roundRect">
            <a:avLst>
              <a:gd name="adj" fmla="val 7958"/>
            </a:avLst>
          </a:prstGeom>
          <a:solidFill>
            <a:srgbClr val="F5F6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45552" y="4696358"/>
            <a:ext cx="329184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🦴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66176" y="4714646"/>
            <a:ext cx="3264408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 forma de esqueleto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иметь форму скелета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ESCUCHAR · IGLESIA DE SAN FRANCISCO EL GRANDE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Léxico de la iglesia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del recuadro antes de escuchar el audio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691640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691640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⛰️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63901" y="1636776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ermita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скит, уединённая часовня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3069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3983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983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🏛️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3901" y="23434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convento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монастырь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136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1050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1050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63901" y="30501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rotonda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ротонда (круглый зал/здание)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7203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8117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38117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🔵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63901" y="37568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cúpula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купол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4270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45184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45184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🖼️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63901" y="44635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lienzo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холст, полотно (картина)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33703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5225143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5225143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63901" y="5170279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capilla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капелла, часовня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840403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8368" y="5931843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5931843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🥈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3901" y="5876979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plateresco/a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платереско (стиль испанского Ренессанса)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1600200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64808" y="1691640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464808" y="1691640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➰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70341" y="1636776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cordón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шнур, верёвочный пояс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55080" y="23069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64808" y="23983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464808" y="23983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👑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70341" y="23434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trono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трон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30136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64808" y="31050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464808" y="31050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🦺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70341" y="30501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chaleco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жилет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355080" y="37203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64808" y="38117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6464808" y="38117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❤️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70341" y="37568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virtud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добродетель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355080" y="44270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464808" y="45184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6464808" y="45184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🕯️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70341" y="44635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altar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алтарь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355080" y="5133703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464808" y="5225143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464808" y="5225143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🏺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6970341" y="5170279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mayólica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майолика (расписная керамика)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Cuadro comparativo de los 4 estilos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repasar de un vistazo antes del ejercicio 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55448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645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03120" y="1645920"/>
            <a:ext cx="137160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/>
          <p:nvPr/>
        </p:nvSpPr>
        <p:spPr>
          <a:xfrm>
            <a:off x="2176272" y="16459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46888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64592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 típico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1645920"/>
            <a:ext cx="320040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/>
          <p:nvPr/>
        </p:nvSpPr>
        <p:spPr>
          <a:xfrm>
            <a:off x="6016752" y="16459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clave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0" y="1645920"/>
            <a:ext cx="2496312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4" name="Text 12"/>
          <p:cNvSpPr/>
          <p:nvPr/>
        </p:nvSpPr>
        <p:spPr>
          <a:xfrm>
            <a:off x="9217152" y="164592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del capítulo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103120"/>
            <a:ext cx="15544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10312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Románico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103120" y="2103120"/>
            <a:ext cx="13716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76272" y="210312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XI-XII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74720" y="2103120"/>
            <a:ext cx="24688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210312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medio punto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0" y="2103120"/>
            <a:ext cx="32004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16752" y="210312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bóveda de cañón, ábside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44000" y="2103120"/>
            <a:ext cx="2496312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7152" y="210312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Iglesia de San Martín, Frómista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154680"/>
            <a:ext cx="1554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15468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Gótico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2103120" y="3154680"/>
            <a:ext cx="13716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76272" y="315468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XIII-XVI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0" y="3154680"/>
            <a:ext cx="24688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47872" y="315468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apuntado / ojival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0" y="3154680"/>
            <a:ext cx="32004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16752" y="315468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aguja, cimborrio, claustro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144000" y="3154680"/>
            <a:ext cx="249631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17152" y="315468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Catedral de Burgos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4206240"/>
            <a:ext cx="15544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420624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Árabe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103120" y="4206240"/>
            <a:ext cx="13716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76272" y="420624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XII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474720" y="4206240"/>
            <a:ext cx="24688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47872" y="420624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herradura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943600" y="4206240"/>
            <a:ext cx="32004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16752" y="420624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minarete, rampa interior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144000" y="4206240"/>
            <a:ext cx="2496312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17152" y="420624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Giralda, Sevilla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5257800"/>
            <a:ext cx="1554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" y="525780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2103120" y="5257800"/>
            <a:ext cx="13716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76272" y="525780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XXI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474720" y="5257800"/>
            <a:ext cx="24688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47872" y="525780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de acero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943600" y="5257800"/>
            <a:ext cx="32004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16752" y="525780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interactivo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144000" y="5257800"/>
            <a:ext cx="249631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17152" y="525780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Museo Príncipe Felipe, Valencia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F9616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¡A REPASAR!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conoces el léxico de la Unidad 12B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leer los 4 textos del libro fijándote en estas palabras: románico, gótico,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árabe y moderno ya no deberían sonar difíciles.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ejercicio 5, escucha el audio sobre San Francisco el Grande usando el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de la última tabla.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Léxico del arte y la arquitectura — Turismo cultural (B2, Unidad 12B)</dc:title>
  <dc:subject>PptxGenJS Presentation</dc:subject>
  <dc:creator>PptxGenJS</dc:creator>
  <cp:lastModifiedBy>PptxGenJS</cp:lastModifiedBy>
  <cp:revision>1</cp:revision>
  <dcterms:created xsi:type="dcterms:W3CDTF">2026-08-09T09:39:13Z</dcterms:created>
  <dcterms:modified xsi:type="dcterms:W3CDTF">2026-08-09T09:39:13Z</dcterms:modified>
</cp:coreProperties>
</file>