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572000"/>
            <a:ext cx="3474720" cy="347472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NIVEL A1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Vocabulario visual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 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Repasa las palabras de la Unidad 1 con imágenes y colores, para memorizarlas más fácil.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78308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8308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274320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💼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370332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0332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🔢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466344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🪪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2296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→ Ruso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190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elaborado por Angel Luis Acosta González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· SALUDOS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Saludos y despedidas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 y terminar una conversación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¡Hola!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Привет!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días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Доброе утро! / Добрый день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☀️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tardes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Добрый день (после полудня)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🌙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noches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Добрый вечер! / Спокойной ночи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tal?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дела?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Bien, ¿y tú?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Хорошо, а ты?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😊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bien, gracias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хорошо, спасибо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Encantado / Encantada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приятно (м. / ж.)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🤗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 gusto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приятно (при знакомстве)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Igualmente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Взаимно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👋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свидания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luego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/ До скорого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mañana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завтра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pronto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скорой встречи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clase y el alfabeto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Frases útiles para pedir ayuda en clase, y cómo hablamos de las letras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¿Puede repetir, por favor?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Повторите, пожалуйста?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dice...?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сказать...?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✍️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escribe?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пишется?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💭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significa...?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значит...?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Perdone, no entiendo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Извините, я не понимаю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abecedario / el alfabeto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алфавит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🗣️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deletrear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произносить по буквам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🅰️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mayúscula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заглавная буква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🔡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minúscula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строчная буква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5330952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5376672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tilde / el acento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знак ударения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5330952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5376672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sílaba tónica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ударный слог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· CONOCERSE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 personales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(informal) y usted (formal) — las mismas preguntas, dos formas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11426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1142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07008" y="1636776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te llamas? / ¿Cómo se llama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тебя / Вас зовут?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89581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800807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80080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2626157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llamo...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 зовут...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7896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7901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7901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07008" y="361553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eres? / ¿De dónde es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ты / Вы?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56834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779569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77956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07008" y="460491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 de...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из...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557723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768950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7689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💼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07008" y="5594299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qué te dedicas? / ¿A qué se dedica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Кем ты работаешь / Вы работаете?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1600200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64808" y="1811426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464808" y="181142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🏠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13448" y="1636776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vives? / ¿Dónde vive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ты живёшь / Вы живёте?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55080" y="2589581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64808" y="2800807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280080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📞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013448" y="2626157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tu número de teléfono?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у тебя номер телефона?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55080" y="357896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64808" y="37901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464808" y="37901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✉️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013448" y="361553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tu correo electrónico?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у тебя адрес электронной почты?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55080" y="456834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64808" y="4779569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6464808" y="477956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👉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013448" y="460491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es... / Esta es...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Это... (представляя мужчину / женщину)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355080" y="5557723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64808" y="5768950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464808" y="57689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🤝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013448" y="5594299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presento a...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Позвольте представить Вам...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interrogativos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Dónde, de dónde y adónde: no son lo mismo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2148840"/>
          </a:xfrm>
          <a:prstGeom prst="roundRect">
            <a:avLst>
              <a:gd name="adj" fmla="val 425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78508" y="1856232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1778508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🏠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2935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2278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(punto de partida: ¿de dónde eres?)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92724" y="1856232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5792724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📍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62856" y="25694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¿dónde?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935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54296" y="32278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(lugar / posición: ¿dónde estás?)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806940" y="1856232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9806940" y="18562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🏁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577072" y="256946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¿adónde?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77072" y="2935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668512" y="32278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(destino: ¿adónde vas?)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11880" y="180136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180136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548640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94944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188720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/ какой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807208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953512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9" name="Text 27"/>
          <p:cNvSpPr/>
          <p:nvPr/>
        </p:nvSpPr>
        <p:spPr>
          <a:xfrm>
            <a:off x="2953512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🤔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447288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65776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212080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3" name="Text 31"/>
          <p:cNvSpPr/>
          <p:nvPr/>
        </p:nvSpPr>
        <p:spPr>
          <a:xfrm>
            <a:off x="5212080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🔀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705856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¿cuál? / ¿cuáles?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/ какие (из вариантов)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324344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470648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7" name="Text 35"/>
          <p:cNvSpPr/>
          <p:nvPr/>
        </p:nvSpPr>
        <p:spPr>
          <a:xfrm>
            <a:off x="7470648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🙋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964424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¿quién? / ¿quiénes?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582912" y="3950208"/>
            <a:ext cx="2057400" cy="2450592"/>
          </a:xfrm>
          <a:prstGeom prst="roundRect">
            <a:avLst>
              <a:gd name="adj" fmla="val 4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729216" y="4974336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1" name="Text 39"/>
          <p:cNvSpPr/>
          <p:nvPr/>
        </p:nvSpPr>
        <p:spPr>
          <a:xfrm>
            <a:off x="972921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🔢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10222992" y="4005072"/>
            <a:ext cx="12893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¿cuánto/a/os/as?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· TÚ / USTED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de tratamiento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hablar de tú y cuándo de usted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 (неформальное обращение)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🎩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usted (Ud.)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(формальное, ед. ч.)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ustedes (Uds.)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(формальное, мн. ч.)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señor (Sr.)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господин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👩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señora (Sra.)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госпожа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jefe / la jefa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начальник / начальница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8688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16636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166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❔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83260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desconocido/a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незнакомый человек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· LA FICHA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personales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vocabulario para rellenar cualquier formulario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95060" y="1572768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32307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🪪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26580" y="1618488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apellido / los apellidos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фамилия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825496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7665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2871216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nacionalidad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национальность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95060" y="2825496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2307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32307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26580" y="2871216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profesión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профессия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78224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80160" y="4123944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domicilio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 проживания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95060" y="4078224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2307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32307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🏙️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26580" y="4123944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ciudad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330952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📞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5376672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teléfono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95060" y="5330952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2307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32307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✉️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26580" y="5376672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correo electrónico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электронная почта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1A/1C · PAÍSES (1/2)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Países y nacionalidades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bandera con su gentilicio en español y en ruso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🇩🇪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alemán / alemana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немец / немка (Германия)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🇪🇸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/ española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испанец / испанка (Испания)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🇫🇷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francés / francesa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француз / француженка (Франция)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🇮🇹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italiano / italiana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итальянец / итальянка (Италия)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🇧🇷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brasileño / brasileña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бразилец / бразильянка (Бразилия)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🇵🇹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portugués / portuguesa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португалец / португалка (Португалия)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🇲🇦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marroquí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марокканец / марокканка (Марокко)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chino / china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китаец / китаянка (Китай)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🇮🇷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иранец / иранка (Иран)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🇬🇧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británico / británica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британец / британка (Великобритания)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🇹🇷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turco / turca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турок / турчанка (Турция)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🇿🇦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sudafricano / sudafricana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южноафриканец / -нка (ЮАР)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🇨🇴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colombiano / colombiana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колумбиец / колумбийка (Колумбия)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1A/1C · PAÍSES (2/2)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Países y nacionalidades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bandera con su gentilicio en español y en ruso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polaco / polaca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поляк / полька (Польша)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🇸🇪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sueco / sueca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швед / шведка (Швеция)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canadiense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канадец / канадка (Канада)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🇵🇪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peruano / peruana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перуанец / перуанка (Перу)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🇧🇾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bielorruso / bielorrusa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белорус / белоруска (Беларусь)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🇲🇽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mexicano / mexicana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мексиканец / мексиканка (Мексика)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🇮🇪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irlandés / irlandesa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ирландец / ирландка (Ирландия)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🇺🇸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estadounidense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американец / американка (США)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🇨🇺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cubano / cubana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кубинец / кубинка (Куба)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🇦🇷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argentino / argentina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аргентинец / аргентинка (Аргентина)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🇳🇬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nigeriano / nigeriana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нигериец / нигерийка (Нигерия)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🇵🇰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paquistaní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пакистанец / пакистанка (Пакистан)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🇵🇷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puertorriqueño / puertorriqueña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пуэрториканец / -ка (Пуэрто-Рико)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 · ESPAÑA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Gentilicios de España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llama la gente de cada comunidad autónoma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andaluz / andaluza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андалусец / андалуска (Андалусия)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aragonés / aragonesa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арагонец / арагонка (Арагон)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asturiano / asturiana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астуриец / астурийка (Астурия)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balear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балеарец / балеарка (Балеарские о-ва)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canario / canaria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канарец / канарка (Канарские о-ва)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cántabro / cántabra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кантабриец / кантабрийка (Кантабрия)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castellanoleonés / -esa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уроженец Кастилии и Леона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castellanomanchego / -a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уроженец Кастилии-Ла-Манчи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catalán / catalana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каталонец / каталонка (Каталония)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extremeño / extremeña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эстремадурец / -ка (Эстремадура)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gallego / gallega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галисиец / галисийка (Галисия)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madrileño / madrileña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мадридец / мадридка (Мадрид)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murciano / murciana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мурсиец / мурсийка (Мурсия)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valenciano / valenciana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валенсиец / валенсийка (Валенсия)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807720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20521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3" name="Text 61"/>
          <p:cNvSpPr/>
          <p:nvPr/>
        </p:nvSpPr>
        <p:spPr>
          <a:xfrm>
            <a:off x="820521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880872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vasco / vasca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баск / баска (Страна Басков)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PROFESIONES (1/2)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 qué te dedicas?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en masculino y femenino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peluquero/a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парикмахер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🧑‍🏫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преподаватель, учитель/-ница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🩺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официант/-ка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de casa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домохозяйка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🚕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таксист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📮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почтальон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actor/actriz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актёр / актриса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⚖️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abogado/a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адвокат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limpiador/a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уборщик/-ца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продавец / продавщица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секретарь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водитель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cocinero/a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повар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PROFESIONES (2/2)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 qué te dedicas?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en masculino y femenino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futbolista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футболист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певец / певица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jardinero/a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садовник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🎹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пианист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экономист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президент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🎒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студент/-ка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💻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специалист по информатике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💉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медбрат / медсестра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архитектор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переводчик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художник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director/a de cine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кинорежиссёр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Verbos clave en presente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Regulares e irregulares: la misma terminación no siempre sirve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 REGULARES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19072"/>
            <a:ext cx="3514344" cy="2084832"/>
          </a:xfrm>
          <a:prstGeom prst="roundRect">
            <a:avLst>
              <a:gd name="adj" fmla="val 4386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865376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💼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298448" y="1856232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8448" y="2221992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работать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2615184"/>
            <a:ext cx="314858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8686" y="2670048"/>
            <a:ext cx="0" cy="941832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1518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876702" y="261518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6384" y="279044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9044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876702" y="279044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6384" y="296570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296570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76702" y="296570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6384" y="314096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14096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876702" y="314096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trabajamos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" y="331622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331622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876702" y="331622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trabajáis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6384" y="349148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49148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876702" y="349148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37304" y="1719072"/>
            <a:ext cx="3514344" cy="2084832"/>
          </a:xfrm>
          <a:prstGeom prst="roundRect">
            <a:avLst>
              <a:gd name="adj" fmla="val 4386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01896" y="1865376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2" name="Text 30"/>
          <p:cNvSpPr/>
          <p:nvPr/>
        </p:nvSpPr>
        <p:spPr>
          <a:xfrm>
            <a:off x="4501896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🍽️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5087112" y="1856232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87112" y="2221992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есть, кушать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20184" y="2615184"/>
            <a:ext cx="314858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537350" y="2670048"/>
            <a:ext cx="0" cy="941832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1624" y="261518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665366" y="261518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5048" y="279044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1624" y="279044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65366" y="279044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575048" y="296570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11624" y="296570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665366" y="296570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5048" y="314096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1624" y="314096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665366" y="314096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comemos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5048" y="331622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11624" y="331622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665366" y="331622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coméis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5048" y="349148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11624" y="349148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665366" y="349148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125968" y="1719072"/>
            <a:ext cx="3514344" cy="2084832"/>
          </a:xfrm>
          <a:prstGeom prst="roundRect">
            <a:avLst>
              <a:gd name="adj" fmla="val 4386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290560" y="1865376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6" name="Text 54"/>
          <p:cNvSpPr/>
          <p:nvPr/>
        </p:nvSpPr>
        <p:spPr>
          <a:xfrm>
            <a:off x="8290560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🏡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8875776" y="1856232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8875776" y="2221992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жить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308848" y="2615184"/>
            <a:ext cx="314858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10326014" y="2670048"/>
            <a:ext cx="0" cy="941832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00288" y="261518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10454030" y="261518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vivo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363712" y="279044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400288" y="279044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10454030" y="279044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363712" y="296570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400288" y="296570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10454030" y="296570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363712" y="314096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00288" y="314096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10454030" y="314096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vivimos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8363712" y="331622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400288" y="331622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0454030" y="331622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vivís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8363712" y="3491484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400288" y="3491484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10454030" y="3491484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548640" y="39136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 IRREGULARES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548640" y="4169664"/>
            <a:ext cx="3514344" cy="2084832"/>
          </a:xfrm>
          <a:prstGeom prst="roundRect">
            <a:avLst>
              <a:gd name="adj" fmla="val 4386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713232" y="431596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1" name="Text 79"/>
          <p:cNvSpPr/>
          <p:nvPr/>
        </p:nvSpPr>
        <p:spPr>
          <a:xfrm>
            <a:off x="713232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🤲</a:t>
            </a:r>
            <a:endParaRPr lang="en-US" sz="2600" dirty="0"/>
          </a:p>
        </p:txBody>
      </p:sp>
      <p:sp>
        <p:nvSpPr>
          <p:cNvPr id="82" name="Text 80"/>
          <p:cNvSpPr/>
          <p:nvPr/>
        </p:nvSpPr>
        <p:spPr>
          <a:xfrm>
            <a:off x="1298448" y="4306824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</a:t>
            </a:r>
            <a:endParaRPr lang="en-US" sz="1800" dirty="0"/>
          </a:p>
        </p:txBody>
      </p:sp>
      <p:sp>
        <p:nvSpPr>
          <p:cNvPr id="83" name="Text 81"/>
          <p:cNvSpPr/>
          <p:nvPr/>
        </p:nvSpPr>
        <p:spPr>
          <a:xfrm>
            <a:off x="1298448" y="4672584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иметь</a:t>
            </a:r>
            <a:endParaRPr lang="en-US" sz="1150" dirty="0"/>
          </a:p>
        </p:txBody>
      </p:sp>
      <p:sp>
        <p:nvSpPr>
          <p:cNvPr id="84" name="Shape 82"/>
          <p:cNvSpPr/>
          <p:nvPr/>
        </p:nvSpPr>
        <p:spPr>
          <a:xfrm>
            <a:off x="731520" y="5065776"/>
            <a:ext cx="314858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5" name="Shape 83"/>
          <p:cNvSpPr/>
          <p:nvPr/>
        </p:nvSpPr>
        <p:spPr>
          <a:xfrm>
            <a:off x="2748686" y="5120640"/>
            <a:ext cx="0" cy="941832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22960" y="5065776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2876702" y="5065776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tengo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786384" y="524103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22960" y="5241036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2876702" y="5241036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786384" y="541629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2960" y="5416296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2876702" y="5416296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786384" y="559155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2960" y="5591556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2876702" y="5591556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tenemos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786384" y="576681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22960" y="5766816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876702" y="5766816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tenéis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786384" y="5942076"/>
            <a:ext cx="303885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22960" y="5942076"/>
            <a:ext cx="1742846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2876702" y="5942076"/>
            <a:ext cx="1039978" cy="175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tienen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 y estar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verbos más importantes... y los que más se confunden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36192"/>
            <a:ext cx="5385816" cy="2880360"/>
          </a:xfrm>
          <a:prstGeom prst="roundRect">
            <a:avLst>
              <a:gd name="adj" fmla="val 3175"/>
            </a:avLst>
          </a:prstGeom>
          <a:solidFill>
            <a:srgbClr val="EFE9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700784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✨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80744" y="1664208"/>
            <a:ext cx="4379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80744" y="2048256"/>
            <a:ext cx="437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быть, являться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404872"/>
            <a:ext cx="492861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3862426" y="2459736"/>
            <a:ext cx="0" cy="1307592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40487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990442" y="240487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32104" y="264109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64109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990442" y="264109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" y="287731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87731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990442" y="287731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2104" y="311353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11353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990442" y="311353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2104" y="334975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34975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90442" y="334975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2104" y="358597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358597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990442" y="358597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7240" y="3895344"/>
            <a:ext cx="4928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para: имя, семья, происхождение, профессия, постоянные качества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54496" y="1536192"/>
            <a:ext cx="5385816" cy="2880360"/>
          </a:xfrm>
          <a:prstGeom prst="roundRect">
            <a:avLst>
              <a:gd name="adj" fmla="val 3175"/>
            </a:avLst>
          </a:prstGeom>
          <a:solidFill>
            <a:srgbClr val="FDECEC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37376" y="1700784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2" name="Text 30"/>
          <p:cNvSpPr/>
          <p:nvPr/>
        </p:nvSpPr>
        <p:spPr>
          <a:xfrm>
            <a:off x="6437376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📍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7086600" y="1664208"/>
            <a:ext cx="4379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ESTAR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086600" y="2048256"/>
            <a:ext cx="437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быть, находиться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83096" y="2404872"/>
            <a:ext cx="492861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568282" y="2459736"/>
            <a:ext cx="0" cy="1307592"/>
          </a:xfrm>
          <a:prstGeom prst="line">
            <a:avLst/>
          </a:prstGeom>
          <a:noFill/>
          <a:ln w="12700">
            <a:solidFill>
              <a:srgbClr val="D8DB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74536" y="240487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96298" y="240487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37960" y="264109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74536" y="264109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696298" y="264109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537960" y="287731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4536" y="287731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696298" y="287731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537960" y="311353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74536" y="311353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696298" y="311353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537960" y="334975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74536" y="334975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696298" y="334975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estáis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537960" y="3585972"/>
            <a:ext cx="4818888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74536" y="3585972"/>
            <a:ext cx="2810866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696298" y="3585972"/>
            <a:ext cx="175199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483096" y="3895344"/>
            <a:ext cx="4928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para: местонахождение, временное состояние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48640" y="4617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ADJETIVO, DISTINTO SIGNIFICADO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48640" y="4928616"/>
            <a:ext cx="5408676" cy="1472184"/>
          </a:xfrm>
          <a:prstGeom prst="roundRect">
            <a:avLst>
              <a:gd name="adj" fmla="val 4969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676656" y="4965192"/>
            <a:ext cx="515264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 es alegre.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Хосе весёлый.  ·  así es su carácter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40080" y="5664708"/>
            <a:ext cx="522579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6656" y="5701284"/>
            <a:ext cx="515264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 está alegre.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Хосе весел.  ·  en este momento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31636" y="4928616"/>
            <a:ext cx="5408676" cy="1472184"/>
          </a:xfrm>
          <a:prstGeom prst="roundRect">
            <a:avLst>
              <a:gd name="adj" fmla="val 4969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359652" y="4965192"/>
            <a:ext cx="515264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es guapa.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Пилар красивая.  ·  cualidad física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323076" y="5664708"/>
            <a:ext cx="5225796" cy="0"/>
          </a:xfrm>
          <a:prstGeom prst="line">
            <a:avLst/>
          </a:prstGeom>
          <a:noFill/>
          <a:ln w="9525">
            <a:solidFill>
              <a:srgbClr val="E7E9F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59652" y="5701284"/>
            <a:ext cx="515264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está guapa.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Пилар нарядная.  ·  hoy, así arreglada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 · NÚMEROS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Números 0-20 y operaciones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decir tu teléfono, tu dirección y hacer cuentas sencillas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/ ноль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56678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56678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202398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/ один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64715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64715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810435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/ два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72753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72753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418473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/ три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80791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80791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026511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/ четыре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88829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88829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634549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/ пять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96866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196866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0242586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/ шесть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94360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/ семь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156678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156678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2202398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/ восемь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764715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64715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810435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/ девять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72753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372753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5418473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/ десять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980791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980791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7026511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/ одиннадцать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588829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588829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8634549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 / двенадцать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196866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196866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10242586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 / тринадцать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8640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48640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594360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catorce / четырнадцать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56678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156678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2202398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/ пятнадцать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764715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764715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3810435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dieciséis / шестнадцать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372753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372753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5418473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diecisiete / семнадцать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980791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80791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61" name="Text 59"/>
          <p:cNvSpPr/>
          <p:nvPr/>
        </p:nvSpPr>
        <p:spPr>
          <a:xfrm>
            <a:off x="7026511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dieciocho / восемнадцать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588829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8588829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64" name="Text 62"/>
          <p:cNvSpPr/>
          <p:nvPr/>
        </p:nvSpPr>
        <p:spPr>
          <a:xfrm>
            <a:off x="8634549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diecinueve / девятнадцать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0196866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10196866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67" name="Text 65"/>
          <p:cNvSpPr/>
          <p:nvPr/>
        </p:nvSpPr>
        <p:spPr>
          <a:xfrm>
            <a:off x="10242586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veinte / двадцать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48640" y="5852160"/>
            <a:ext cx="3514344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640080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➕</a:t>
            </a:r>
            <a:endParaRPr lang="en-US" sz="2200" dirty="0"/>
          </a:p>
        </p:txBody>
      </p:sp>
      <p:sp>
        <p:nvSpPr>
          <p:cNvPr id="70" name="Text 68"/>
          <p:cNvSpPr/>
          <p:nvPr/>
        </p:nvSpPr>
        <p:spPr>
          <a:xfrm>
            <a:off x="1143000" y="5852160"/>
            <a:ext cx="282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4337304" y="5852160"/>
            <a:ext cx="3514344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4428744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➖</a:t>
            </a:r>
            <a:endParaRPr lang="en-US" sz="2200" dirty="0"/>
          </a:p>
        </p:txBody>
      </p:sp>
      <p:sp>
        <p:nvSpPr>
          <p:cNvPr id="73" name="Text 71"/>
          <p:cNvSpPr/>
          <p:nvPr/>
        </p:nvSpPr>
        <p:spPr>
          <a:xfrm>
            <a:off x="4931664" y="5852160"/>
            <a:ext cx="282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125968" y="5852160"/>
            <a:ext cx="3514344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8217408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✖️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8720328" y="5852160"/>
            <a:ext cx="282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умножить на (×)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F9616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¡BUEN TRABAJO!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repasaste toda la Unidad 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 estas palabras un poco cada día: repítelas en voz alta, tápalas y trata de recordarlas, y úsalas en frases propias.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¡La próxima unidad, más vocabulario visual como este!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0749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Angel Luis Acosta González, tu profesor de español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Vocabulario visual — Nuevo Español en Marcha 1, Unidad 1</dc:title>
  <dc:subject>PptxGenJS Presentation</dc:subject>
  <dc:creator>PptxGenJS</dc:creator>
  <cp:lastModifiedBy>PptxGenJS</cp:lastModifiedBy>
  <cp:revision>1</cp:revision>
  <dcterms:created xsi:type="dcterms:W3CDTF">2026-08-02T16:09:19Z</dcterms:created>
  <dcterms:modified xsi:type="dcterms:W3CDTF">2026-08-02T16:09:19Z</dcterms:modified>
</cp:coreProperties>
</file>