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F96167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4572000"/>
            <a:ext cx="3474720" cy="3474720"/>
          </a:xfrm>
          <a:prstGeom prst="ellipse">
            <a:avLst/>
          </a:prstGeom>
          <a:solidFill>
            <a:srgbClr val="F9E795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965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1 · NIVEL A1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2331720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Vocabulario visual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Unidad 1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822960" y="397764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Repasa las palabras de la Unidad 1 con imágenes y colores, para memorizarlas más fácil.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22960" y="5074920"/>
            <a:ext cx="777240" cy="777240"/>
          </a:xfrm>
          <a:prstGeom prst="ellipse">
            <a:avLst/>
          </a:prstGeom>
          <a:solidFill>
            <a:srgbClr val="F96167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50749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👋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1783080" y="5074920"/>
            <a:ext cx="777240" cy="777240"/>
          </a:xfrm>
          <a:prstGeom prst="ellipse">
            <a:avLst/>
          </a:prstGeom>
          <a:solidFill>
            <a:srgbClr val="F96167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783080" y="50749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🌍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2743200" y="5074920"/>
            <a:ext cx="777240" cy="777240"/>
          </a:xfrm>
          <a:prstGeom prst="ellipse">
            <a:avLst/>
          </a:prstGeom>
          <a:solidFill>
            <a:srgbClr val="F96167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743200" y="50749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💼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3703320" y="5074920"/>
            <a:ext cx="777240" cy="777240"/>
          </a:xfrm>
          <a:prstGeom prst="ellipse">
            <a:avLst/>
          </a:prstGeom>
          <a:solidFill>
            <a:srgbClr val="F96167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703320" y="50749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🔢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4663440" y="5074920"/>
            <a:ext cx="777240" cy="777240"/>
          </a:xfrm>
          <a:prstGeom prst="ellipse">
            <a:avLst/>
          </a:prstGeom>
          <a:solidFill>
            <a:srgbClr val="F96167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663440" y="50749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🪪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822960" y="60807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9B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Español → Ruso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" y="641908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7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elaborado por Angel Luis Acosta González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1A · SALUDOS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Saludos y despedidas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empezar y terminar una conversación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7665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👋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8016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¡Hola!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Привет!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1292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4093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1" name="Text 9"/>
          <p:cNvSpPr/>
          <p:nvPr/>
        </p:nvSpPr>
        <p:spPr>
          <a:xfrm>
            <a:off x="444093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🌅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04444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Buenos días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Доброе утро! / Добрый день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7720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0521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5" name="Text 13"/>
          <p:cNvSpPr/>
          <p:nvPr/>
        </p:nvSpPr>
        <p:spPr>
          <a:xfrm>
            <a:off x="820521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☀️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80872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Buenas tardes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Добрый день (после полудня)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665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🌙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8016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Buenas noches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Добрый вечер! / Спокойной ночи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1292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44093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3" name="Text 21"/>
          <p:cNvSpPr/>
          <p:nvPr/>
        </p:nvSpPr>
        <p:spPr>
          <a:xfrm>
            <a:off x="444093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💬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04444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tal?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дела?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7720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20521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7" name="Text 25"/>
          <p:cNvSpPr/>
          <p:nvPr/>
        </p:nvSpPr>
        <p:spPr>
          <a:xfrm>
            <a:off x="820521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🙂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80872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Bien, ¿y tú?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Хорошо, а ты?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7665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1" name="Text 29"/>
          <p:cNvSpPr/>
          <p:nvPr/>
        </p:nvSpPr>
        <p:spPr>
          <a:xfrm>
            <a:off x="67665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😊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28016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Muy bien, gracias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Очень хорошо, спасибо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31292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44093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5" name="Text 33"/>
          <p:cNvSpPr/>
          <p:nvPr/>
        </p:nvSpPr>
        <p:spPr>
          <a:xfrm>
            <a:off x="444093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🤝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504444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Encantado / Encantada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Очень приятно (м. / ж.)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07720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20521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9" name="Text 37"/>
          <p:cNvSpPr/>
          <p:nvPr/>
        </p:nvSpPr>
        <p:spPr>
          <a:xfrm>
            <a:off x="820521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🤗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880872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Mucho gusto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Очень приятно (при знакомстве)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4864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7665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3" name="Text 41"/>
          <p:cNvSpPr/>
          <p:nvPr/>
        </p:nvSpPr>
        <p:spPr>
          <a:xfrm>
            <a:off x="67665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🔁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28016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Igualmente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Взаимно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431292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444093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7" name="Text 45"/>
          <p:cNvSpPr/>
          <p:nvPr/>
        </p:nvSpPr>
        <p:spPr>
          <a:xfrm>
            <a:off x="444093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👋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504444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Adiós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свидания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807720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820521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1" name="Text 49"/>
          <p:cNvSpPr/>
          <p:nvPr/>
        </p:nvSpPr>
        <p:spPr>
          <a:xfrm>
            <a:off x="820521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⏳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880872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luego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 / До скорого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548640" y="558149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676656" y="575340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5" name="Text 53"/>
          <p:cNvSpPr/>
          <p:nvPr/>
        </p:nvSpPr>
        <p:spPr>
          <a:xfrm>
            <a:off x="676656" y="575340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📅</a:t>
            </a:r>
            <a:endParaRPr lang="en-US" sz="1800" dirty="0"/>
          </a:p>
        </p:txBody>
      </p:sp>
      <p:sp>
        <p:nvSpPr>
          <p:cNvPr id="56" name="Text 54"/>
          <p:cNvSpPr/>
          <p:nvPr/>
        </p:nvSpPr>
        <p:spPr>
          <a:xfrm>
            <a:off x="1280160" y="562721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mañana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завтра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4312920" y="558149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4440936" y="575340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9" name="Text 57"/>
          <p:cNvSpPr/>
          <p:nvPr/>
        </p:nvSpPr>
        <p:spPr>
          <a:xfrm>
            <a:off x="4440936" y="575340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⏰</a:t>
            </a:r>
            <a:endParaRPr lang="en-US" sz="1800" dirty="0"/>
          </a:p>
        </p:txBody>
      </p:sp>
      <p:sp>
        <p:nvSpPr>
          <p:cNvPr id="60" name="Text 58"/>
          <p:cNvSpPr/>
          <p:nvPr/>
        </p:nvSpPr>
        <p:spPr>
          <a:xfrm>
            <a:off x="5044440" y="562721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pronto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скорой встречи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1 · Unidad 1 · Vocabulario visual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Angel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clase y el alfabeto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Frases útiles para pedir ayuda en clase, y cómo hablamos de las letras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356311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76656" y="186994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18699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🔁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80160" y="1618488"/>
            <a:ext cx="272186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¿Puede repetir, por favor?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Повторите, пожалуйста?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12920" y="1572768"/>
            <a:ext cx="356311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40936" y="186994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1" name="Text 9"/>
          <p:cNvSpPr/>
          <p:nvPr/>
        </p:nvSpPr>
        <p:spPr>
          <a:xfrm>
            <a:off x="4440936" y="18699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❓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044440" y="1618488"/>
            <a:ext cx="272186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se dice...?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сказать...?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77200" y="1572768"/>
            <a:ext cx="356311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05216" y="186994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5" name="Text 13"/>
          <p:cNvSpPr/>
          <p:nvPr/>
        </p:nvSpPr>
        <p:spPr>
          <a:xfrm>
            <a:off x="8205216" y="18699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✍️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808720" y="1618488"/>
            <a:ext cx="272186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se escribe?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это пишется?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2825496"/>
            <a:ext cx="356311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6656" y="3122676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" y="31226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💭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80160" y="2871216"/>
            <a:ext cx="272186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significa...?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значит...?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12920" y="2825496"/>
            <a:ext cx="356311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440936" y="3122676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3" name="Text 21"/>
          <p:cNvSpPr/>
          <p:nvPr/>
        </p:nvSpPr>
        <p:spPr>
          <a:xfrm>
            <a:off x="4440936" y="31226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🙇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044440" y="2871216"/>
            <a:ext cx="272186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Perdone, no entiendo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Извините, я не понимаю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77200" y="2825496"/>
            <a:ext cx="356311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205216" y="3122676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7" name="Text 25"/>
          <p:cNvSpPr/>
          <p:nvPr/>
        </p:nvSpPr>
        <p:spPr>
          <a:xfrm>
            <a:off x="8205216" y="31226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🔤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808720" y="2871216"/>
            <a:ext cx="272186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abecedario / el alfabeto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алфавит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4078224"/>
            <a:ext cx="356311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76656" y="4375404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1" name="Text 29"/>
          <p:cNvSpPr/>
          <p:nvPr/>
        </p:nvSpPr>
        <p:spPr>
          <a:xfrm>
            <a:off x="676656" y="43754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🗣️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280160" y="4123944"/>
            <a:ext cx="272186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deletrear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произносить по буквам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312920" y="4078224"/>
            <a:ext cx="356311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440936" y="4375404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5" name="Text 33"/>
          <p:cNvSpPr/>
          <p:nvPr/>
        </p:nvSpPr>
        <p:spPr>
          <a:xfrm>
            <a:off x="4440936" y="43754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🅰️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5044440" y="4123944"/>
            <a:ext cx="272186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mayúscula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заглавная буква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077200" y="4078224"/>
            <a:ext cx="356311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205216" y="4375404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9" name="Text 37"/>
          <p:cNvSpPr/>
          <p:nvPr/>
        </p:nvSpPr>
        <p:spPr>
          <a:xfrm>
            <a:off x="8205216" y="43754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🔡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8808720" y="4123944"/>
            <a:ext cx="272186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minúscula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строчная буква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48640" y="5330952"/>
            <a:ext cx="356311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76656" y="562813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3" name="Text 41"/>
          <p:cNvSpPr/>
          <p:nvPr/>
        </p:nvSpPr>
        <p:spPr>
          <a:xfrm>
            <a:off x="676656" y="56281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280160" y="5376672"/>
            <a:ext cx="272186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tilde / el acento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знак ударения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4312920" y="5330952"/>
            <a:ext cx="356311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4440936" y="562813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7" name="Text 45"/>
          <p:cNvSpPr/>
          <p:nvPr/>
        </p:nvSpPr>
        <p:spPr>
          <a:xfrm>
            <a:off x="4440936" y="56281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🔊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5044440" y="5376672"/>
            <a:ext cx="272186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sílaba tónica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ударный слог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1 · Unidad 1 · Vocabulario visual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Angel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1A · CONOCERSE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Preguntas personales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Tú (informal) y usted (formal) — las mismas preguntas, dos formas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349240" cy="843077"/>
          </a:xfrm>
          <a:prstGeom prst="roundRect">
            <a:avLst>
              <a:gd name="adj" fmla="val 867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58368" y="1811426"/>
            <a:ext cx="420624" cy="42062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181142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🧑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07008" y="1636776"/>
            <a:ext cx="4581144" cy="769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te llamas? / ¿Cómo se llama usted?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тебя / Вас зовут?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589581"/>
            <a:ext cx="5349240" cy="843077"/>
          </a:xfrm>
          <a:prstGeom prst="roundRect">
            <a:avLst>
              <a:gd name="adj" fmla="val 867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" y="2800807"/>
            <a:ext cx="420624" cy="42062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800807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🙋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07008" y="2626157"/>
            <a:ext cx="4581144" cy="769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llamo...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Меня зовут...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578962"/>
            <a:ext cx="5349240" cy="843077"/>
          </a:xfrm>
          <a:prstGeom prst="roundRect">
            <a:avLst>
              <a:gd name="adj" fmla="val 867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58368" y="3790188"/>
            <a:ext cx="420624" cy="42062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37901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🌍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207008" y="3615538"/>
            <a:ext cx="4581144" cy="769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¿De dónde eres? / ¿De dónde es usted?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Откуда ты / Вы?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4568342"/>
            <a:ext cx="5349240" cy="843077"/>
          </a:xfrm>
          <a:prstGeom prst="roundRect">
            <a:avLst>
              <a:gd name="adj" fmla="val 867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8368" y="4779569"/>
            <a:ext cx="420624" cy="42062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" y="4779569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📍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207008" y="4604918"/>
            <a:ext cx="4581144" cy="769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Soy de...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 из...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5557723"/>
            <a:ext cx="5349240" cy="843077"/>
          </a:xfrm>
          <a:prstGeom prst="roundRect">
            <a:avLst>
              <a:gd name="adj" fmla="val 867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58368" y="5768950"/>
            <a:ext cx="420624" cy="42062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3" name="Text 21"/>
          <p:cNvSpPr/>
          <p:nvPr/>
        </p:nvSpPr>
        <p:spPr>
          <a:xfrm>
            <a:off x="658368" y="576895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💼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207008" y="5594299"/>
            <a:ext cx="4581144" cy="769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¿A qué te dedicas? / ¿A qué se dedica usted?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Кем ты работаешь / Вы работаете?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355080" y="1600200"/>
            <a:ext cx="5349240" cy="843077"/>
          </a:xfrm>
          <a:prstGeom prst="roundRect">
            <a:avLst>
              <a:gd name="adj" fmla="val 867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64808" y="1811426"/>
            <a:ext cx="420624" cy="42062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7" name="Text 25"/>
          <p:cNvSpPr/>
          <p:nvPr/>
        </p:nvSpPr>
        <p:spPr>
          <a:xfrm>
            <a:off x="6464808" y="181142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🏠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7013448" y="1636776"/>
            <a:ext cx="4581144" cy="769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¿Dónde vives? / ¿Dónde vive usted?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Где ты живёшь / Вы живёте?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355080" y="2589581"/>
            <a:ext cx="5349240" cy="843077"/>
          </a:xfrm>
          <a:prstGeom prst="roundRect">
            <a:avLst>
              <a:gd name="adj" fmla="val 867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64808" y="2800807"/>
            <a:ext cx="420624" cy="42062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1" name="Text 29"/>
          <p:cNvSpPr/>
          <p:nvPr/>
        </p:nvSpPr>
        <p:spPr>
          <a:xfrm>
            <a:off x="6464808" y="2800807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📞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7013448" y="2626157"/>
            <a:ext cx="4581144" cy="769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¿Cuál es tu número de teléfono?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Какой у тебя номер телефона?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355080" y="3578962"/>
            <a:ext cx="5349240" cy="843077"/>
          </a:xfrm>
          <a:prstGeom prst="roundRect">
            <a:avLst>
              <a:gd name="adj" fmla="val 867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464808" y="3790188"/>
            <a:ext cx="420624" cy="42062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5" name="Text 33"/>
          <p:cNvSpPr/>
          <p:nvPr/>
        </p:nvSpPr>
        <p:spPr>
          <a:xfrm>
            <a:off x="6464808" y="37901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✉️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7013448" y="3615538"/>
            <a:ext cx="4581144" cy="769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¿Cuál es tu correo electrónico?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Какой у тебя адрес электронной почты?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355080" y="4568342"/>
            <a:ext cx="5349240" cy="843077"/>
          </a:xfrm>
          <a:prstGeom prst="roundRect">
            <a:avLst>
              <a:gd name="adj" fmla="val 867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6464808" y="4779569"/>
            <a:ext cx="420624" cy="42062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9" name="Text 37"/>
          <p:cNvSpPr/>
          <p:nvPr/>
        </p:nvSpPr>
        <p:spPr>
          <a:xfrm>
            <a:off x="6464808" y="4779569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👉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7013448" y="4604918"/>
            <a:ext cx="4581144" cy="769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es... / Esta es...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Это... (представляя мужчину / женщину)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6355080" y="5557723"/>
            <a:ext cx="5349240" cy="843077"/>
          </a:xfrm>
          <a:prstGeom prst="roundRect">
            <a:avLst>
              <a:gd name="adj" fmla="val 867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464808" y="5768950"/>
            <a:ext cx="420624" cy="42062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3" name="Text 41"/>
          <p:cNvSpPr/>
          <p:nvPr/>
        </p:nvSpPr>
        <p:spPr>
          <a:xfrm>
            <a:off x="6464808" y="576895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🤝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7013448" y="5594299"/>
            <a:ext cx="4581144" cy="769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presento a...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Позвольте представить Вам...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1 · Unidad 1 · Vocabulario visual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Angel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1C · GRAMÁTICA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interrogativos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Dónde, de dónde y adónde: no son lo mismo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1672" cy="2148840"/>
          </a:xfrm>
          <a:prstGeom prst="roundRect">
            <a:avLst>
              <a:gd name="adj" fmla="val 425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778508" y="1856232"/>
            <a:ext cx="603504" cy="6035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1778508" y="185623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🏠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548640" y="2569464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¿de dónde?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548640" y="2935224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откуда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3227832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(punto de partida: ¿de dónde eres?)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792724" y="1856232"/>
            <a:ext cx="603504" cy="6035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2" name="Text 10"/>
          <p:cNvSpPr/>
          <p:nvPr/>
        </p:nvSpPr>
        <p:spPr>
          <a:xfrm>
            <a:off x="5792724" y="185623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📍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562856" y="2569464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¿dónde?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562856" y="2935224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где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654296" y="3227832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(lugar / posición: ¿dónde estás?)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806940" y="1856232"/>
            <a:ext cx="603504" cy="6035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7" name="Text 15"/>
          <p:cNvSpPr/>
          <p:nvPr/>
        </p:nvSpPr>
        <p:spPr>
          <a:xfrm>
            <a:off x="9806940" y="185623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🏁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8577072" y="2569464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¿adónde?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577072" y="2935224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куда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668512" y="3227832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(destino: ¿adónde vas?)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611880" y="1801368"/>
            <a:ext cx="9509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626096" y="1801368"/>
            <a:ext cx="9509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</a:t>
            </a:r>
            <a:endParaRPr lang="en-US" sz="3000" dirty="0"/>
          </a:p>
        </p:txBody>
      </p:sp>
      <p:sp>
        <p:nvSpPr>
          <p:cNvPr id="23" name="Shape 21"/>
          <p:cNvSpPr/>
          <p:nvPr/>
        </p:nvSpPr>
        <p:spPr>
          <a:xfrm>
            <a:off x="548640" y="3950208"/>
            <a:ext cx="2057400" cy="2450592"/>
          </a:xfrm>
          <a:prstGeom prst="roundRect">
            <a:avLst>
              <a:gd name="adj" fmla="val 4000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94944" y="4974336"/>
            <a:ext cx="402336" cy="40233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5" name="Text 23"/>
          <p:cNvSpPr/>
          <p:nvPr/>
        </p:nvSpPr>
        <p:spPr>
          <a:xfrm>
            <a:off x="694944" y="49743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❓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188720" y="4005072"/>
            <a:ext cx="1289304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¿qué?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/ какой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807208" y="3950208"/>
            <a:ext cx="2057400" cy="2450592"/>
          </a:xfrm>
          <a:prstGeom prst="roundRect">
            <a:avLst>
              <a:gd name="adj" fmla="val 4000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2953512" y="4974336"/>
            <a:ext cx="402336" cy="40233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9" name="Text 27"/>
          <p:cNvSpPr/>
          <p:nvPr/>
        </p:nvSpPr>
        <p:spPr>
          <a:xfrm>
            <a:off x="2953512" y="49743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🤔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3447288" y="4005072"/>
            <a:ext cx="1289304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¿cómo?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065776" y="3950208"/>
            <a:ext cx="2057400" cy="2450592"/>
          </a:xfrm>
          <a:prstGeom prst="roundRect">
            <a:avLst>
              <a:gd name="adj" fmla="val 4000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212080" y="4974336"/>
            <a:ext cx="402336" cy="40233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3" name="Text 31"/>
          <p:cNvSpPr/>
          <p:nvPr/>
        </p:nvSpPr>
        <p:spPr>
          <a:xfrm>
            <a:off x="5212080" y="49743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🔀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5705856" y="4005072"/>
            <a:ext cx="1289304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¿cuál? / ¿cuáles?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какой / какие (из вариантов)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7324344" y="3950208"/>
            <a:ext cx="2057400" cy="2450592"/>
          </a:xfrm>
          <a:prstGeom prst="roundRect">
            <a:avLst>
              <a:gd name="adj" fmla="val 4000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470648" y="4974336"/>
            <a:ext cx="402336" cy="40233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7" name="Text 35"/>
          <p:cNvSpPr/>
          <p:nvPr/>
        </p:nvSpPr>
        <p:spPr>
          <a:xfrm>
            <a:off x="7470648" y="49743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🙋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7964424" y="4005072"/>
            <a:ext cx="1289304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¿quién? / ¿quiénes?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9582912" y="3950208"/>
            <a:ext cx="2057400" cy="2450592"/>
          </a:xfrm>
          <a:prstGeom prst="roundRect">
            <a:avLst>
              <a:gd name="adj" fmla="val 4000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9729216" y="4974336"/>
            <a:ext cx="402336" cy="40233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1" name="Text 39"/>
          <p:cNvSpPr/>
          <p:nvPr/>
        </p:nvSpPr>
        <p:spPr>
          <a:xfrm>
            <a:off x="9729216" y="49743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🔢</a:t>
            </a:r>
            <a:endParaRPr lang="en-US" sz="2000" dirty="0"/>
          </a:p>
        </p:txBody>
      </p:sp>
      <p:sp>
        <p:nvSpPr>
          <p:cNvPr id="42" name="Text 40"/>
          <p:cNvSpPr/>
          <p:nvPr/>
        </p:nvSpPr>
        <p:spPr>
          <a:xfrm>
            <a:off x="10222992" y="4005072"/>
            <a:ext cx="1289304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¿cuánto/a/os/as?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сколько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1 · Unidad 1 · Vocabulario visual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Angel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 · TÚ / USTED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Fórmulas de tratamiento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Cuándo hablar de tú y cuándo de usted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52244"/>
            <a:ext cx="3563112" cy="1234440"/>
          </a:xfrm>
          <a:prstGeom prst="roundRect">
            <a:avLst>
              <a:gd name="adj" fmla="val 666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76656" y="233172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23317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🧑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80160" y="1997964"/>
            <a:ext cx="27218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tú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ты (неформальное обращение)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12920" y="1952244"/>
            <a:ext cx="3563112" cy="1234440"/>
          </a:xfrm>
          <a:prstGeom prst="roundRect">
            <a:avLst>
              <a:gd name="adj" fmla="val 666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40936" y="233172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1" name="Text 9"/>
          <p:cNvSpPr/>
          <p:nvPr/>
        </p:nvSpPr>
        <p:spPr>
          <a:xfrm>
            <a:off x="4440936" y="23317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🎩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044440" y="1997964"/>
            <a:ext cx="27218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usted (Ud.)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 (формальное, ед. ч.)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77200" y="1952244"/>
            <a:ext cx="3563112" cy="1234440"/>
          </a:xfrm>
          <a:prstGeom prst="roundRect">
            <a:avLst>
              <a:gd name="adj" fmla="val 666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05216" y="233172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5" name="Text 13"/>
          <p:cNvSpPr/>
          <p:nvPr/>
        </p:nvSpPr>
        <p:spPr>
          <a:xfrm>
            <a:off x="8205216" y="23317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👥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808720" y="1997964"/>
            <a:ext cx="27218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ustedes (Uds.)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 (формальное, мн. ч.)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369564"/>
            <a:ext cx="3563112" cy="1234440"/>
          </a:xfrm>
          <a:prstGeom prst="roundRect">
            <a:avLst>
              <a:gd name="adj" fmla="val 666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665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👨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80160" y="3415284"/>
            <a:ext cx="27218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señor (Sr.)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господин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12920" y="3369564"/>
            <a:ext cx="3563112" cy="1234440"/>
          </a:xfrm>
          <a:prstGeom prst="roundRect">
            <a:avLst>
              <a:gd name="adj" fmla="val 666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44093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3" name="Text 21"/>
          <p:cNvSpPr/>
          <p:nvPr/>
        </p:nvSpPr>
        <p:spPr>
          <a:xfrm>
            <a:off x="444093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👩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044440" y="3415284"/>
            <a:ext cx="27218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señora (Sra.)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госпожа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77200" y="3369564"/>
            <a:ext cx="3563112" cy="1234440"/>
          </a:xfrm>
          <a:prstGeom prst="roundRect">
            <a:avLst>
              <a:gd name="adj" fmla="val 666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20521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7" name="Text 25"/>
          <p:cNvSpPr/>
          <p:nvPr/>
        </p:nvSpPr>
        <p:spPr>
          <a:xfrm>
            <a:off x="820521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💼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808720" y="3415284"/>
            <a:ext cx="27218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jefe / la jefa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начальник / начальница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4786884"/>
            <a:ext cx="3563112" cy="1234440"/>
          </a:xfrm>
          <a:prstGeom prst="roundRect">
            <a:avLst>
              <a:gd name="adj" fmla="val 666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76656" y="516636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1" name="Text 29"/>
          <p:cNvSpPr/>
          <p:nvPr/>
        </p:nvSpPr>
        <p:spPr>
          <a:xfrm>
            <a:off x="676656" y="51663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❔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280160" y="4832604"/>
            <a:ext cx="27218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desconocido/a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незнакомый человек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1 · Unidad 1 · Vocabulario visual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Angel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 · LA FICHA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Datos personales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vocabulario para rellenar cualquier formulario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544525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76656" y="186994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18699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🧑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80160" y="1618488"/>
            <a:ext cx="460400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nombre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имя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95060" y="1572768"/>
            <a:ext cx="544525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323076" y="186994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1" name="Text 9"/>
          <p:cNvSpPr/>
          <p:nvPr/>
        </p:nvSpPr>
        <p:spPr>
          <a:xfrm>
            <a:off x="6323076" y="18699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🪪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926580" y="1618488"/>
            <a:ext cx="460400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apellido / los apellidos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фамилия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2825496"/>
            <a:ext cx="544525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76656" y="3122676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5" name="Text 13"/>
          <p:cNvSpPr/>
          <p:nvPr/>
        </p:nvSpPr>
        <p:spPr>
          <a:xfrm>
            <a:off x="676656" y="31226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🌍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80160" y="2871216"/>
            <a:ext cx="460400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nacionalidad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национальность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195060" y="2825496"/>
            <a:ext cx="544525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23076" y="3122676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9" name="Text 17"/>
          <p:cNvSpPr/>
          <p:nvPr/>
        </p:nvSpPr>
        <p:spPr>
          <a:xfrm>
            <a:off x="6323076" y="31226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💼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926580" y="2871216"/>
            <a:ext cx="460400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profesión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профессия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4078224"/>
            <a:ext cx="544525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76656" y="4375404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3" name="Text 21"/>
          <p:cNvSpPr/>
          <p:nvPr/>
        </p:nvSpPr>
        <p:spPr>
          <a:xfrm>
            <a:off x="676656" y="43754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🏠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280160" y="4123944"/>
            <a:ext cx="460400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domicilio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адрес проживания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95060" y="4078224"/>
            <a:ext cx="544525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323076" y="4375404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7" name="Text 25"/>
          <p:cNvSpPr/>
          <p:nvPr/>
        </p:nvSpPr>
        <p:spPr>
          <a:xfrm>
            <a:off x="6323076" y="43754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🏙️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926580" y="4123944"/>
            <a:ext cx="460400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ciudad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город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548640" y="5330952"/>
            <a:ext cx="544525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76656" y="562813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1" name="Text 29"/>
          <p:cNvSpPr/>
          <p:nvPr/>
        </p:nvSpPr>
        <p:spPr>
          <a:xfrm>
            <a:off x="676656" y="56281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📞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280160" y="5376672"/>
            <a:ext cx="460400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teléfono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телефон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195060" y="5330952"/>
            <a:ext cx="544525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323076" y="562813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5" name="Text 33"/>
          <p:cNvSpPr/>
          <p:nvPr/>
        </p:nvSpPr>
        <p:spPr>
          <a:xfrm>
            <a:off x="6323076" y="56281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✉️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6926580" y="5376672"/>
            <a:ext cx="460400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correo electrónico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электронная почта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1 · Unidad 1 · Vocabulario visual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Angel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1A/1C · PAÍSES (1/2)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Países y nacionalidades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bandera con su gentilicio en español y en ruso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7665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🇩🇪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8016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alemán / alemana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немец / немка (Германия)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1292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4093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1" name="Text 9"/>
          <p:cNvSpPr/>
          <p:nvPr/>
        </p:nvSpPr>
        <p:spPr>
          <a:xfrm>
            <a:off x="444093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🇪🇸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04444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español / española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испанец / испанка (Испания)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7720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0521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5" name="Text 13"/>
          <p:cNvSpPr/>
          <p:nvPr/>
        </p:nvSpPr>
        <p:spPr>
          <a:xfrm>
            <a:off x="820521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🇫🇷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80872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francés / francesa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француз / француженка (Франция)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665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🇮🇹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8016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italiano / italiana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итальянец / итальянка (Италия)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1292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44093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3" name="Text 21"/>
          <p:cNvSpPr/>
          <p:nvPr/>
        </p:nvSpPr>
        <p:spPr>
          <a:xfrm>
            <a:off x="444093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🇧🇷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04444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brasileño / brasileña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бразилец / бразильянка (Бразилия)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7720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20521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7" name="Text 25"/>
          <p:cNvSpPr/>
          <p:nvPr/>
        </p:nvSpPr>
        <p:spPr>
          <a:xfrm>
            <a:off x="820521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🇵🇹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80872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portugués / portuguesa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португалец / португалка (Португалия)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7665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1" name="Text 29"/>
          <p:cNvSpPr/>
          <p:nvPr/>
        </p:nvSpPr>
        <p:spPr>
          <a:xfrm>
            <a:off x="67665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🇲🇦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28016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marroquí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марокканец / марокканка (Марокко)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31292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44093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5" name="Text 33"/>
          <p:cNvSpPr/>
          <p:nvPr/>
        </p:nvSpPr>
        <p:spPr>
          <a:xfrm>
            <a:off x="444093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🇨🇳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504444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chino / china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китаец / китаянка (Китай)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07720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20521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9" name="Text 37"/>
          <p:cNvSpPr/>
          <p:nvPr/>
        </p:nvSpPr>
        <p:spPr>
          <a:xfrm>
            <a:off x="820521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🇮🇷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880872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iraní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иранец / иранка (Иран)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4864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7665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3" name="Text 41"/>
          <p:cNvSpPr/>
          <p:nvPr/>
        </p:nvSpPr>
        <p:spPr>
          <a:xfrm>
            <a:off x="67665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🇬🇧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28016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británico / británica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британец / британка (Великобритания)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431292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444093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7" name="Text 45"/>
          <p:cNvSpPr/>
          <p:nvPr/>
        </p:nvSpPr>
        <p:spPr>
          <a:xfrm>
            <a:off x="444093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🇹🇷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504444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turco / turca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турок / турчанка (Турция)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807720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820521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1" name="Text 49"/>
          <p:cNvSpPr/>
          <p:nvPr/>
        </p:nvSpPr>
        <p:spPr>
          <a:xfrm>
            <a:off x="820521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🇿🇦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880872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sudafricano / sudafricana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южноафриканец / -нка (ЮАР)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548640" y="558149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676656" y="575340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5" name="Text 53"/>
          <p:cNvSpPr/>
          <p:nvPr/>
        </p:nvSpPr>
        <p:spPr>
          <a:xfrm>
            <a:off x="676656" y="575340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🇨🇴</a:t>
            </a:r>
            <a:endParaRPr lang="en-US" sz="1800" dirty="0"/>
          </a:p>
        </p:txBody>
      </p:sp>
      <p:sp>
        <p:nvSpPr>
          <p:cNvPr id="56" name="Text 54"/>
          <p:cNvSpPr/>
          <p:nvPr/>
        </p:nvSpPr>
        <p:spPr>
          <a:xfrm>
            <a:off x="1280160" y="562721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colombiano / colombiana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колумбиец / колумбийка (Колумбия)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1 · Unidad 1 · Vocabulario visual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Angel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1A/1C · PAÍSES (2/2)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Países y nacionalidades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bandera con su gentilicio en español y en ruso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7665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🇵🇱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8016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polaco / polaca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поляк / полька (Польша)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1292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4093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1" name="Text 9"/>
          <p:cNvSpPr/>
          <p:nvPr/>
        </p:nvSpPr>
        <p:spPr>
          <a:xfrm>
            <a:off x="444093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🇸🇪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04444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sueco / sueca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швед / шведка (Швеция)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7720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0521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5" name="Text 13"/>
          <p:cNvSpPr/>
          <p:nvPr/>
        </p:nvSpPr>
        <p:spPr>
          <a:xfrm>
            <a:off x="820521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🇨🇦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80872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canadiense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канадец / канадка (Канада)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665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🇵🇪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8016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peruano / peruana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перуанец / перуанка (Перу)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1292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44093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3" name="Text 21"/>
          <p:cNvSpPr/>
          <p:nvPr/>
        </p:nvSpPr>
        <p:spPr>
          <a:xfrm>
            <a:off x="444093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🇧🇾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04444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bielorruso / bielorrusa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белорус / белоруска (Беларусь)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7720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20521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7" name="Text 25"/>
          <p:cNvSpPr/>
          <p:nvPr/>
        </p:nvSpPr>
        <p:spPr>
          <a:xfrm>
            <a:off x="820521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🇲🇽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80872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mexicano / mexicana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мексиканец / мексиканка (Мексика)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7665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1" name="Text 29"/>
          <p:cNvSpPr/>
          <p:nvPr/>
        </p:nvSpPr>
        <p:spPr>
          <a:xfrm>
            <a:off x="67665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🇮🇪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28016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irlandés / irlandesa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ирландец / ирландка (Ирландия)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31292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44093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5" name="Text 33"/>
          <p:cNvSpPr/>
          <p:nvPr/>
        </p:nvSpPr>
        <p:spPr>
          <a:xfrm>
            <a:off x="444093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🇺🇸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504444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estadounidense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американец / американка (США)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07720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20521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9" name="Text 37"/>
          <p:cNvSpPr/>
          <p:nvPr/>
        </p:nvSpPr>
        <p:spPr>
          <a:xfrm>
            <a:off x="820521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🇨🇺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880872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cubano / cubana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кубинец / кубинка (Куба)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4864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7665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3" name="Text 41"/>
          <p:cNvSpPr/>
          <p:nvPr/>
        </p:nvSpPr>
        <p:spPr>
          <a:xfrm>
            <a:off x="67665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🇦🇷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28016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argentino / argentina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аргентинец / аргентинка (Аргентина)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431292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444093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7" name="Text 45"/>
          <p:cNvSpPr/>
          <p:nvPr/>
        </p:nvSpPr>
        <p:spPr>
          <a:xfrm>
            <a:off x="444093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🇳🇬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504444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nigeriano / nigeriana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нигериец / нигерийка (Нигерия)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807720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820521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1" name="Text 49"/>
          <p:cNvSpPr/>
          <p:nvPr/>
        </p:nvSpPr>
        <p:spPr>
          <a:xfrm>
            <a:off x="820521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🇵🇰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880872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paquistaní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пакистанец / пакистанка (Пакистан)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548640" y="558149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676656" y="575340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5" name="Text 53"/>
          <p:cNvSpPr/>
          <p:nvPr/>
        </p:nvSpPr>
        <p:spPr>
          <a:xfrm>
            <a:off x="676656" y="575340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🇵🇷</a:t>
            </a:r>
            <a:endParaRPr lang="en-US" sz="1800" dirty="0"/>
          </a:p>
        </p:txBody>
      </p:sp>
      <p:sp>
        <p:nvSpPr>
          <p:cNvPr id="56" name="Text 54"/>
          <p:cNvSpPr/>
          <p:nvPr/>
        </p:nvSpPr>
        <p:spPr>
          <a:xfrm>
            <a:off x="1280160" y="562721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puertorriqueño / puertorriqueña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пуэрториканец / -ка (Пуэрто-Рико)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1 · Unidad 1 · Vocabulario visual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Angel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 · ESPAÑA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Gentilicios de España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llama la gente de cada comunidad autónoma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7665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8016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andaluz / andaluza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андалусец / андалуска (Андалусия)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1292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4093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1" name="Text 9"/>
          <p:cNvSpPr/>
          <p:nvPr/>
        </p:nvSpPr>
        <p:spPr>
          <a:xfrm>
            <a:off x="444093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04444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aragonés / aragonesa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арагонец / арагонка (Арагон)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7720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0521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5" name="Text 13"/>
          <p:cNvSpPr/>
          <p:nvPr/>
        </p:nvSpPr>
        <p:spPr>
          <a:xfrm>
            <a:off x="820521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80872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asturiano / asturiana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астуриец / астурийка (Астурия)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665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8016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balear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балеарец / балеарка (Балеарские о-ва)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1292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44093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3" name="Text 21"/>
          <p:cNvSpPr/>
          <p:nvPr/>
        </p:nvSpPr>
        <p:spPr>
          <a:xfrm>
            <a:off x="444093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04444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canario / canaria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канарец / канарка (Канарские о-ва)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7720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20521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7" name="Text 25"/>
          <p:cNvSpPr/>
          <p:nvPr/>
        </p:nvSpPr>
        <p:spPr>
          <a:xfrm>
            <a:off x="820521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80872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cántabro / cántabra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кантабриец / кантабрийка (Кантабрия)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7665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1" name="Text 29"/>
          <p:cNvSpPr/>
          <p:nvPr/>
        </p:nvSpPr>
        <p:spPr>
          <a:xfrm>
            <a:off x="67665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28016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castellanoleonés / -esa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уроженец Кастилии и Леона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31292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44093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5" name="Text 33"/>
          <p:cNvSpPr/>
          <p:nvPr/>
        </p:nvSpPr>
        <p:spPr>
          <a:xfrm>
            <a:off x="444093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504444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castellanomanchego / -a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уроженец Кастилии-Ла-Манчи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07720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20521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9" name="Text 37"/>
          <p:cNvSpPr/>
          <p:nvPr/>
        </p:nvSpPr>
        <p:spPr>
          <a:xfrm>
            <a:off x="820521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880872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catalán / catalana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каталонец / каталонка (Каталония)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4864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7665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3" name="Text 41"/>
          <p:cNvSpPr/>
          <p:nvPr/>
        </p:nvSpPr>
        <p:spPr>
          <a:xfrm>
            <a:off x="67665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28016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extremeño / extremeña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эстремадурец / -ка (Эстремадура)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431292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444093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7" name="Text 45"/>
          <p:cNvSpPr/>
          <p:nvPr/>
        </p:nvSpPr>
        <p:spPr>
          <a:xfrm>
            <a:off x="444093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504444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gallego / gallega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галисиец / галисийка (Галисия)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807720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820521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1" name="Text 49"/>
          <p:cNvSpPr/>
          <p:nvPr/>
        </p:nvSpPr>
        <p:spPr>
          <a:xfrm>
            <a:off x="820521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880872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madrileño / madrileña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мадридец / мадридка (Мадрид)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548640" y="558149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676656" y="575340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5" name="Text 53"/>
          <p:cNvSpPr/>
          <p:nvPr/>
        </p:nvSpPr>
        <p:spPr>
          <a:xfrm>
            <a:off x="676656" y="575340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56" name="Text 54"/>
          <p:cNvSpPr/>
          <p:nvPr/>
        </p:nvSpPr>
        <p:spPr>
          <a:xfrm>
            <a:off x="1280160" y="562721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murciano / murciana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мурсиец / мурсийка (Мурсия)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4312920" y="558149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4440936" y="575340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9" name="Text 57"/>
          <p:cNvSpPr/>
          <p:nvPr/>
        </p:nvSpPr>
        <p:spPr>
          <a:xfrm>
            <a:off x="4440936" y="575340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60" name="Text 58"/>
          <p:cNvSpPr/>
          <p:nvPr/>
        </p:nvSpPr>
        <p:spPr>
          <a:xfrm>
            <a:off x="5044440" y="562721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valenciano / valenciana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валенсиец / валенсийка (Валенсия)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8077200" y="558149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8205216" y="575340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63" name="Text 61"/>
          <p:cNvSpPr/>
          <p:nvPr/>
        </p:nvSpPr>
        <p:spPr>
          <a:xfrm>
            <a:off x="8205216" y="575340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64" name="Text 62"/>
          <p:cNvSpPr/>
          <p:nvPr/>
        </p:nvSpPr>
        <p:spPr>
          <a:xfrm>
            <a:off x="8808720" y="562721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vasco / vasca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баск / баска (Страна Басков)</a:t>
            </a:r>
            <a:endParaRPr lang="en-US" sz="1300" dirty="0"/>
          </a:p>
        </p:txBody>
      </p:sp>
      <p:sp>
        <p:nvSpPr>
          <p:cNvPr id="65" name="Text 6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1 · Unidad 1 · Vocabulario visual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Angel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1B · PROFESIONES (1/2)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¿A qué te dedicas?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Profesiones en masculino y femenino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7665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💇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8016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peluquero/a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парикмахер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1292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4093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1" name="Text 9"/>
          <p:cNvSpPr/>
          <p:nvPr/>
        </p:nvSpPr>
        <p:spPr>
          <a:xfrm>
            <a:off x="444093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🧑‍🏫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04444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profesor/a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преподаватель, учитель/-ница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7720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0521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5" name="Text 13"/>
          <p:cNvSpPr/>
          <p:nvPr/>
        </p:nvSpPr>
        <p:spPr>
          <a:xfrm>
            <a:off x="820521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🩺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80872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médico/a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врач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665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🍽️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8016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camarero/a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официант/-ка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1292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44093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3" name="Text 21"/>
          <p:cNvSpPr/>
          <p:nvPr/>
        </p:nvSpPr>
        <p:spPr>
          <a:xfrm>
            <a:off x="444093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🏠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04444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 de casa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домохозяйка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7720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20521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7" name="Text 25"/>
          <p:cNvSpPr/>
          <p:nvPr/>
        </p:nvSpPr>
        <p:spPr>
          <a:xfrm>
            <a:off x="820521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🚕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80872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taxista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таксист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7665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1" name="Text 29"/>
          <p:cNvSpPr/>
          <p:nvPr/>
        </p:nvSpPr>
        <p:spPr>
          <a:xfrm>
            <a:off x="67665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📮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28016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cartero/a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почтальон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31292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44093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5" name="Text 33"/>
          <p:cNvSpPr/>
          <p:nvPr/>
        </p:nvSpPr>
        <p:spPr>
          <a:xfrm>
            <a:off x="444093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🎭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504444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actor/actriz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актёр / актриса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07720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20521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9" name="Text 37"/>
          <p:cNvSpPr/>
          <p:nvPr/>
        </p:nvSpPr>
        <p:spPr>
          <a:xfrm>
            <a:off x="820521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⚖️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880872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abogado/a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адвокат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4864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7665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3" name="Text 41"/>
          <p:cNvSpPr/>
          <p:nvPr/>
        </p:nvSpPr>
        <p:spPr>
          <a:xfrm>
            <a:off x="67665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🧹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28016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limpiador/a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уборщик/-ца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431292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444093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7" name="Text 45"/>
          <p:cNvSpPr/>
          <p:nvPr/>
        </p:nvSpPr>
        <p:spPr>
          <a:xfrm>
            <a:off x="444093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🛍️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504444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vendedor/a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продавец / продавщица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807720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820521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1" name="Text 49"/>
          <p:cNvSpPr/>
          <p:nvPr/>
        </p:nvSpPr>
        <p:spPr>
          <a:xfrm>
            <a:off x="820521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🗂️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880872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secretario/a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секретарь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548640" y="558149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676656" y="575340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5" name="Text 53"/>
          <p:cNvSpPr/>
          <p:nvPr/>
        </p:nvSpPr>
        <p:spPr>
          <a:xfrm>
            <a:off x="676656" y="575340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🚗</a:t>
            </a:r>
            <a:endParaRPr lang="en-US" sz="1800" dirty="0"/>
          </a:p>
        </p:txBody>
      </p:sp>
      <p:sp>
        <p:nvSpPr>
          <p:cNvPr id="56" name="Text 54"/>
          <p:cNvSpPr/>
          <p:nvPr/>
        </p:nvSpPr>
        <p:spPr>
          <a:xfrm>
            <a:off x="1280160" y="562721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conductor/a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водитель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4312920" y="558149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4440936" y="575340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9" name="Text 57"/>
          <p:cNvSpPr/>
          <p:nvPr/>
        </p:nvSpPr>
        <p:spPr>
          <a:xfrm>
            <a:off x="4440936" y="575340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👨‍🍳</a:t>
            </a:r>
            <a:endParaRPr lang="en-US" sz="1800" dirty="0"/>
          </a:p>
        </p:txBody>
      </p:sp>
      <p:sp>
        <p:nvSpPr>
          <p:cNvPr id="60" name="Text 58"/>
          <p:cNvSpPr/>
          <p:nvPr/>
        </p:nvSpPr>
        <p:spPr>
          <a:xfrm>
            <a:off x="5044440" y="562721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cocinero/a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повар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1 · Unidad 1 · Vocabulario visual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Angel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1B · PROFESIONES (2/2)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¿A qué te dedicas?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Profesiones en masculino y femenino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7665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⚽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8016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futbolista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футболист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1292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4093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1" name="Text 9"/>
          <p:cNvSpPr/>
          <p:nvPr/>
        </p:nvSpPr>
        <p:spPr>
          <a:xfrm>
            <a:off x="444093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🎤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04444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cantante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певец / певица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7720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0521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5" name="Text 13"/>
          <p:cNvSpPr/>
          <p:nvPr/>
        </p:nvSpPr>
        <p:spPr>
          <a:xfrm>
            <a:off x="820521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🌳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80872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jardinero/a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садовник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665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🗺️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8016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гид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1292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44093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3" name="Text 21"/>
          <p:cNvSpPr/>
          <p:nvPr/>
        </p:nvSpPr>
        <p:spPr>
          <a:xfrm>
            <a:off x="444093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🎹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04444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pianista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пианист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7720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20521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7" name="Text 25"/>
          <p:cNvSpPr/>
          <p:nvPr/>
        </p:nvSpPr>
        <p:spPr>
          <a:xfrm>
            <a:off x="820521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📈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80872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economista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экономист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7665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1" name="Text 29"/>
          <p:cNvSpPr/>
          <p:nvPr/>
        </p:nvSpPr>
        <p:spPr>
          <a:xfrm>
            <a:off x="67665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🏛️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28016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presidente/a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президент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31292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44093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5" name="Text 33"/>
          <p:cNvSpPr/>
          <p:nvPr/>
        </p:nvSpPr>
        <p:spPr>
          <a:xfrm>
            <a:off x="444093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🎒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504444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estudiante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студент/-ка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07720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20521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9" name="Text 37"/>
          <p:cNvSpPr/>
          <p:nvPr/>
        </p:nvSpPr>
        <p:spPr>
          <a:xfrm>
            <a:off x="820521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💻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880872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informático/a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специалист по информатике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4864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7665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3" name="Text 41"/>
          <p:cNvSpPr/>
          <p:nvPr/>
        </p:nvSpPr>
        <p:spPr>
          <a:xfrm>
            <a:off x="67665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💉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28016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enfermero/a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медбрат / медсестра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431292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444093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7" name="Text 45"/>
          <p:cNvSpPr/>
          <p:nvPr/>
        </p:nvSpPr>
        <p:spPr>
          <a:xfrm>
            <a:off x="444093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📐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504444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arquitecto/a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архитектор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807720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820521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1" name="Text 49"/>
          <p:cNvSpPr/>
          <p:nvPr/>
        </p:nvSpPr>
        <p:spPr>
          <a:xfrm>
            <a:off x="820521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🌐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880872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traductor/a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переводчик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548640" y="558149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676656" y="575340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5" name="Text 53"/>
          <p:cNvSpPr/>
          <p:nvPr/>
        </p:nvSpPr>
        <p:spPr>
          <a:xfrm>
            <a:off x="676656" y="575340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🎨</a:t>
            </a:r>
            <a:endParaRPr lang="en-US" sz="1800" dirty="0"/>
          </a:p>
        </p:txBody>
      </p:sp>
      <p:sp>
        <p:nvSpPr>
          <p:cNvPr id="56" name="Text 54"/>
          <p:cNvSpPr/>
          <p:nvPr/>
        </p:nvSpPr>
        <p:spPr>
          <a:xfrm>
            <a:off x="1280160" y="562721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pintor/a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художник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4312920" y="558149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4440936" y="575340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9" name="Text 57"/>
          <p:cNvSpPr/>
          <p:nvPr/>
        </p:nvSpPr>
        <p:spPr>
          <a:xfrm>
            <a:off x="4440936" y="575340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🎬</a:t>
            </a:r>
            <a:endParaRPr lang="en-US" sz="1800" dirty="0"/>
          </a:p>
        </p:txBody>
      </p:sp>
      <p:sp>
        <p:nvSpPr>
          <p:cNvPr id="60" name="Text 58"/>
          <p:cNvSpPr/>
          <p:nvPr/>
        </p:nvSpPr>
        <p:spPr>
          <a:xfrm>
            <a:off x="5044440" y="562721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director/a de cine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кинорежиссёр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1 · Unidad 1 · Vocabulario visual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Angel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1B · GRAMÁTICA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Verbos regulares en presente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misma terminación para -ar, -er, -ir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3514344" cy="4846320"/>
          </a:xfrm>
          <a:prstGeom prst="roundRect">
            <a:avLst>
              <a:gd name="adj" fmla="val 260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700784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17007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💼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298448" y="1691640"/>
            <a:ext cx="2599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8448" y="2057400"/>
            <a:ext cx="2599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работать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2450592"/>
            <a:ext cx="3148584" cy="3813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2748686" y="2505456"/>
            <a:ext cx="0" cy="3703320"/>
          </a:xfrm>
          <a:prstGeom prst="line">
            <a:avLst/>
          </a:prstGeom>
          <a:noFill/>
          <a:ln w="12700">
            <a:solidFill>
              <a:srgbClr val="D8DB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2450592"/>
            <a:ext cx="1742846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876702" y="2450592"/>
            <a:ext cx="1039978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86384" y="3086100"/>
            <a:ext cx="3038856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086100"/>
            <a:ext cx="1742846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tú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876702" y="3086100"/>
            <a:ext cx="1039978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6384" y="3721608"/>
            <a:ext cx="3038856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3721608"/>
            <a:ext cx="1742846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él/ella/Ud.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876702" y="3721608"/>
            <a:ext cx="1039978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86384" y="4357116"/>
            <a:ext cx="3038856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4357116"/>
            <a:ext cx="1742846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nosotros/nosotras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876702" y="4357116"/>
            <a:ext cx="1039978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trabajamos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86384" y="4992624"/>
            <a:ext cx="3038856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4992624"/>
            <a:ext cx="1742846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vosotros/vosotras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876702" y="4992624"/>
            <a:ext cx="1039978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trabajáis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86384" y="5628132"/>
            <a:ext cx="3038856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5628132"/>
            <a:ext cx="1742846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ellos/ellas/Uds.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2876702" y="5628132"/>
            <a:ext cx="1039978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trabajan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337304" y="1554480"/>
            <a:ext cx="3514344" cy="4846320"/>
          </a:xfrm>
          <a:prstGeom prst="roundRect">
            <a:avLst>
              <a:gd name="adj" fmla="val 260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501896" y="1700784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1" name="Text 29"/>
          <p:cNvSpPr/>
          <p:nvPr/>
        </p:nvSpPr>
        <p:spPr>
          <a:xfrm>
            <a:off x="4501896" y="17007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🍽️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087112" y="1691640"/>
            <a:ext cx="2599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5087112" y="2057400"/>
            <a:ext cx="2599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есть, кушать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4520184" y="2450592"/>
            <a:ext cx="3148584" cy="3813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Shape 33"/>
          <p:cNvSpPr/>
          <p:nvPr/>
        </p:nvSpPr>
        <p:spPr>
          <a:xfrm>
            <a:off x="6537350" y="2505456"/>
            <a:ext cx="0" cy="3703320"/>
          </a:xfrm>
          <a:prstGeom prst="line">
            <a:avLst/>
          </a:prstGeom>
          <a:noFill/>
          <a:ln w="12700">
            <a:solidFill>
              <a:srgbClr val="D8DBE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611624" y="2450592"/>
            <a:ext cx="1742846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665366" y="2450592"/>
            <a:ext cx="1039978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575048" y="3086100"/>
            <a:ext cx="3038856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611624" y="3086100"/>
            <a:ext cx="1742846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tú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665366" y="3086100"/>
            <a:ext cx="1039978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575048" y="3721608"/>
            <a:ext cx="3038856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611624" y="3721608"/>
            <a:ext cx="1742846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él/ella/Ud.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6665366" y="3721608"/>
            <a:ext cx="1039978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4575048" y="4357116"/>
            <a:ext cx="3038856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611624" y="4357116"/>
            <a:ext cx="1742846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nosotros/nosotras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6665366" y="4357116"/>
            <a:ext cx="1039978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comemos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4575048" y="4992624"/>
            <a:ext cx="3038856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611624" y="4992624"/>
            <a:ext cx="1742846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vosotros/vosotras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6665366" y="4992624"/>
            <a:ext cx="1039978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coméis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4575048" y="5628132"/>
            <a:ext cx="3038856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611624" y="5628132"/>
            <a:ext cx="1742846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ellos/ellas/Uds.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6665366" y="5628132"/>
            <a:ext cx="1039978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8125968" y="1554480"/>
            <a:ext cx="3514344" cy="4846320"/>
          </a:xfrm>
          <a:prstGeom prst="roundRect">
            <a:avLst>
              <a:gd name="adj" fmla="val 260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8290560" y="1700784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5" name="Text 53"/>
          <p:cNvSpPr/>
          <p:nvPr/>
        </p:nvSpPr>
        <p:spPr>
          <a:xfrm>
            <a:off x="8290560" y="17007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🏡</a:t>
            </a:r>
            <a:endParaRPr lang="en-US" sz="2600" dirty="0"/>
          </a:p>
        </p:txBody>
      </p:sp>
      <p:sp>
        <p:nvSpPr>
          <p:cNvPr id="56" name="Text 54"/>
          <p:cNvSpPr/>
          <p:nvPr/>
        </p:nvSpPr>
        <p:spPr>
          <a:xfrm>
            <a:off x="8875776" y="1691640"/>
            <a:ext cx="2599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vivir</a:t>
            </a:r>
            <a:endParaRPr lang="en-US" sz="1800" dirty="0"/>
          </a:p>
        </p:txBody>
      </p:sp>
      <p:sp>
        <p:nvSpPr>
          <p:cNvPr id="57" name="Text 55"/>
          <p:cNvSpPr/>
          <p:nvPr/>
        </p:nvSpPr>
        <p:spPr>
          <a:xfrm>
            <a:off x="8875776" y="2057400"/>
            <a:ext cx="2599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жить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8308848" y="2450592"/>
            <a:ext cx="3148584" cy="3813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9" name="Shape 57"/>
          <p:cNvSpPr/>
          <p:nvPr/>
        </p:nvSpPr>
        <p:spPr>
          <a:xfrm>
            <a:off x="10326014" y="2505456"/>
            <a:ext cx="0" cy="3703320"/>
          </a:xfrm>
          <a:prstGeom prst="line">
            <a:avLst/>
          </a:prstGeom>
          <a:noFill/>
          <a:ln w="12700">
            <a:solidFill>
              <a:srgbClr val="D8DBEA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400288" y="2450592"/>
            <a:ext cx="1742846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10454030" y="2450592"/>
            <a:ext cx="1039978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vivo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8363712" y="3086100"/>
            <a:ext cx="3038856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400288" y="3086100"/>
            <a:ext cx="1742846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tú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10454030" y="3086100"/>
            <a:ext cx="1039978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vives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363712" y="3721608"/>
            <a:ext cx="3038856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400288" y="3721608"/>
            <a:ext cx="1742846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él/ella/Ud.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10454030" y="3721608"/>
            <a:ext cx="1039978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vive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8363712" y="4357116"/>
            <a:ext cx="3038856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8400288" y="4357116"/>
            <a:ext cx="1742846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nosotros/nosotras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10454030" y="4357116"/>
            <a:ext cx="1039978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vivimos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8363712" y="4992624"/>
            <a:ext cx="3038856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8400288" y="4992624"/>
            <a:ext cx="1742846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vosotros/vosotras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10454030" y="4992624"/>
            <a:ext cx="1039978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vivís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8363712" y="5628132"/>
            <a:ext cx="3038856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400288" y="5628132"/>
            <a:ext cx="1742846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ellos/ellas/Uds.</a:t>
            </a:r>
            <a:endParaRPr lang="en-US" sz="1050" dirty="0"/>
          </a:p>
        </p:txBody>
      </p:sp>
      <p:sp>
        <p:nvSpPr>
          <p:cNvPr id="76" name="Text 74"/>
          <p:cNvSpPr/>
          <p:nvPr/>
        </p:nvSpPr>
        <p:spPr>
          <a:xfrm>
            <a:off x="10454030" y="5628132"/>
            <a:ext cx="1039978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viven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1 · Unidad 1 · Vocabulario visual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Angel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1B · GRAMÁTICA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Tener, ser y estar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irregular más... y los dos verbos que más se confunden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36192"/>
            <a:ext cx="3291840" cy="2880360"/>
          </a:xfrm>
          <a:prstGeom prst="roundRect">
            <a:avLst>
              <a:gd name="adj" fmla="val 317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682496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1682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🤲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298448" y="16733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8448" y="20391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иметь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2432304"/>
            <a:ext cx="2926080" cy="18470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2615184" y="2487168"/>
            <a:ext cx="0" cy="1737360"/>
          </a:xfrm>
          <a:prstGeom prst="line">
            <a:avLst/>
          </a:prstGeom>
          <a:noFill/>
          <a:ln w="12700">
            <a:solidFill>
              <a:srgbClr val="D8DB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2432304"/>
            <a:ext cx="1609344" cy="307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743200" y="2432304"/>
            <a:ext cx="950976" cy="307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tengo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86384" y="2740152"/>
            <a:ext cx="2816352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2740152"/>
            <a:ext cx="1609344" cy="307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tú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743200" y="2740152"/>
            <a:ext cx="950976" cy="307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6384" y="3048000"/>
            <a:ext cx="2816352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3048000"/>
            <a:ext cx="1609344" cy="307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él/ella/Ud.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743200" y="3048000"/>
            <a:ext cx="950976" cy="307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86384" y="3355848"/>
            <a:ext cx="2816352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3355848"/>
            <a:ext cx="1609344" cy="307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nosotros/nosotras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743200" y="3355848"/>
            <a:ext cx="950976" cy="307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tenemos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86384" y="3663696"/>
            <a:ext cx="2816352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3663696"/>
            <a:ext cx="1609344" cy="307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vosotros/vosotras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743200" y="3663696"/>
            <a:ext cx="950976" cy="307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tenéis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86384" y="3971544"/>
            <a:ext cx="2816352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3971544"/>
            <a:ext cx="1609344" cy="307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ellos/ellas/Uds.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2743200" y="3971544"/>
            <a:ext cx="950976" cy="307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tienen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114800" y="1536192"/>
            <a:ext cx="3625596" cy="2880360"/>
          </a:xfrm>
          <a:prstGeom prst="roundRect">
            <a:avLst>
              <a:gd name="adj" fmla="val 3175"/>
            </a:avLst>
          </a:prstGeom>
          <a:solidFill>
            <a:srgbClr val="EFE9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297680" y="1700784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1" name="Text 29"/>
          <p:cNvSpPr/>
          <p:nvPr/>
        </p:nvSpPr>
        <p:spPr>
          <a:xfrm>
            <a:off x="4297680" y="17007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✨</a:t>
            </a:r>
            <a:endParaRPr lang="en-US" sz="2800" dirty="0"/>
          </a:p>
        </p:txBody>
      </p:sp>
      <p:sp>
        <p:nvSpPr>
          <p:cNvPr id="32" name="Text 30"/>
          <p:cNvSpPr/>
          <p:nvPr/>
        </p:nvSpPr>
        <p:spPr>
          <a:xfrm>
            <a:off x="4946904" y="1664208"/>
            <a:ext cx="26197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4946904" y="2048256"/>
            <a:ext cx="2619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быть, являться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343400" y="2404872"/>
            <a:ext cx="3168396" cy="1417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Shape 33"/>
          <p:cNvSpPr/>
          <p:nvPr/>
        </p:nvSpPr>
        <p:spPr>
          <a:xfrm>
            <a:off x="6372454" y="2459736"/>
            <a:ext cx="0" cy="1307592"/>
          </a:xfrm>
          <a:prstGeom prst="line">
            <a:avLst/>
          </a:prstGeom>
          <a:noFill/>
          <a:ln w="12700">
            <a:solidFill>
              <a:srgbClr val="D8DBE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434840" y="2404872"/>
            <a:ext cx="1754734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500470" y="2404872"/>
            <a:ext cx="1047902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soy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398264" y="2641092"/>
            <a:ext cx="3058668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434840" y="2641092"/>
            <a:ext cx="1754734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tú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500470" y="2641092"/>
            <a:ext cx="1047902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398264" y="2877312"/>
            <a:ext cx="3058668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434840" y="2877312"/>
            <a:ext cx="1754734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él/ella/Ud.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6500470" y="2877312"/>
            <a:ext cx="1047902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4398264" y="3113532"/>
            <a:ext cx="3058668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434840" y="3113532"/>
            <a:ext cx="1754734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nosotros/nosotras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6500470" y="3113532"/>
            <a:ext cx="1047902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somos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4398264" y="3349752"/>
            <a:ext cx="3058668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434840" y="3349752"/>
            <a:ext cx="1754734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vosotros/vosotras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6500470" y="3349752"/>
            <a:ext cx="1047902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sois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4398264" y="3585972"/>
            <a:ext cx="3058668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434840" y="3585972"/>
            <a:ext cx="1754734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ellos/ellas/Uds.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6500470" y="3585972"/>
            <a:ext cx="1047902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4343400" y="3895344"/>
            <a:ext cx="31683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usa para: имя, семья, происхождение, профессия, постоянные качества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8014716" y="1536192"/>
            <a:ext cx="3625596" cy="2880360"/>
          </a:xfrm>
          <a:prstGeom prst="roundRect">
            <a:avLst>
              <a:gd name="adj" fmla="val 3175"/>
            </a:avLst>
          </a:prstGeom>
          <a:solidFill>
            <a:srgbClr val="FDECEC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8197596" y="1700784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6" name="Text 54"/>
          <p:cNvSpPr/>
          <p:nvPr/>
        </p:nvSpPr>
        <p:spPr>
          <a:xfrm>
            <a:off x="8197596" y="17007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📍</a:t>
            </a:r>
            <a:endParaRPr lang="en-US" sz="2800" dirty="0"/>
          </a:p>
        </p:txBody>
      </p:sp>
      <p:sp>
        <p:nvSpPr>
          <p:cNvPr id="57" name="Text 55"/>
          <p:cNvSpPr/>
          <p:nvPr/>
        </p:nvSpPr>
        <p:spPr>
          <a:xfrm>
            <a:off x="8846820" y="1664208"/>
            <a:ext cx="26197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ESTAR</a:t>
            </a:r>
            <a:endParaRPr lang="en-US" sz="2200" dirty="0"/>
          </a:p>
        </p:txBody>
      </p:sp>
      <p:sp>
        <p:nvSpPr>
          <p:cNvPr id="58" name="Text 56"/>
          <p:cNvSpPr/>
          <p:nvPr/>
        </p:nvSpPr>
        <p:spPr>
          <a:xfrm>
            <a:off x="8846820" y="2048256"/>
            <a:ext cx="2619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быть, находиться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8243316" y="2404872"/>
            <a:ext cx="3168396" cy="1417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Shape 58"/>
          <p:cNvSpPr/>
          <p:nvPr/>
        </p:nvSpPr>
        <p:spPr>
          <a:xfrm>
            <a:off x="10272370" y="2459736"/>
            <a:ext cx="0" cy="1307592"/>
          </a:xfrm>
          <a:prstGeom prst="line">
            <a:avLst/>
          </a:prstGeom>
          <a:noFill/>
          <a:ln w="12700">
            <a:solidFill>
              <a:srgbClr val="D8DBE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334756" y="2404872"/>
            <a:ext cx="1754734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10400386" y="2404872"/>
            <a:ext cx="1047902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estoy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8298180" y="2641092"/>
            <a:ext cx="3058668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8334756" y="2641092"/>
            <a:ext cx="1754734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tú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10400386" y="2641092"/>
            <a:ext cx="1047902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estás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8298180" y="2877312"/>
            <a:ext cx="3058668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334756" y="2877312"/>
            <a:ext cx="1754734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él/ella/Ud.</a:t>
            </a:r>
            <a:endParaRPr lang="en-US" sz="1050" dirty="0"/>
          </a:p>
        </p:txBody>
      </p:sp>
      <p:sp>
        <p:nvSpPr>
          <p:cNvPr id="68" name="Text 66"/>
          <p:cNvSpPr/>
          <p:nvPr/>
        </p:nvSpPr>
        <p:spPr>
          <a:xfrm>
            <a:off x="10400386" y="2877312"/>
            <a:ext cx="1047902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8298180" y="3113532"/>
            <a:ext cx="3058668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334756" y="3113532"/>
            <a:ext cx="1754734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nosotros/nosotras</a:t>
            </a:r>
            <a:endParaRPr lang="en-US" sz="1050" dirty="0"/>
          </a:p>
        </p:txBody>
      </p:sp>
      <p:sp>
        <p:nvSpPr>
          <p:cNvPr id="71" name="Text 69"/>
          <p:cNvSpPr/>
          <p:nvPr/>
        </p:nvSpPr>
        <p:spPr>
          <a:xfrm>
            <a:off x="10400386" y="3113532"/>
            <a:ext cx="1047902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estamos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8298180" y="3349752"/>
            <a:ext cx="3058668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8334756" y="3349752"/>
            <a:ext cx="1754734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vosotros/vosotras</a:t>
            </a:r>
            <a:endParaRPr lang="en-US" sz="1050" dirty="0"/>
          </a:p>
        </p:txBody>
      </p:sp>
      <p:sp>
        <p:nvSpPr>
          <p:cNvPr id="74" name="Text 72"/>
          <p:cNvSpPr/>
          <p:nvPr/>
        </p:nvSpPr>
        <p:spPr>
          <a:xfrm>
            <a:off x="10400386" y="3349752"/>
            <a:ext cx="1047902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estáis</a:t>
            </a:r>
            <a:endParaRPr lang="en-US" sz="1100" dirty="0"/>
          </a:p>
        </p:txBody>
      </p:sp>
      <p:sp>
        <p:nvSpPr>
          <p:cNvPr id="75" name="Shape 73"/>
          <p:cNvSpPr/>
          <p:nvPr/>
        </p:nvSpPr>
        <p:spPr>
          <a:xfrm>
            <a:off x="8298180" y="3585972"/>
            <a:ext cx="3058668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8334756" y="3585972"/>
            <a:ext cx="1754734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ellos/ellas/Uds.</a:t>
            </a:r>
            <a:endParaRPr lang="en-US" sz="1050" dirty="0"/>
          </a:p>
        </p:txBody>
      </p:sp>
      <p:sp>
        <p:nvSpPr>
          <p:cNvPr id="77" name="Text 75"/>
          <p:cNvSpPr/>
          <p:nvPr/>
        </p:nvSpPr>
        <p:spPr>
          <a:xfrm>
            <a:off x="10400386" y="3585972"/>
            <a:ext cx="1047902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están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8243316" y="3895344"/>
            <a:ext cx="31683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usa para: местонахождение, временное состояние</a:t>
            </a:r>
            <a:endParaRPr lang="en-US" sz="1050" dirty="0"/>
          </a:p>
        </p:txBody>
      </p:sp>
      <p:sp>
        <p:nvSpPr>
          <p:cNvPr id="79" name="Text 77"/>
          <p:cNvSpPr/>
          <p:nvPr/>
        </p:nvSpPr>
        <p:spPr>
          <a:xfrm>
            <a:off x="548640" y="46177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MISMO ADJETIVO, DISTINTO SIGNIFICADO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548640" y="4928616"/>
            <a:ext cx="5408676" cy="1472184"/>
          </a:xfrm>
          <a:prstGeom prst="roundRect">
            <a:avLst>
              <a:gd name="adj" fmla="val 4969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676656" y="4965192"/>
            <a:ext cx="5152644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José es alegre.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Хосе весёлый.  ·  así es su carácter</a:t>
            </a:r>
            <a:endParaRPr lang="en-US" sz="1150" dirty="0"/>
          </a:p>
        </p:txBody>
      </p:sp>
      <p:sp>
        <p:nvSpPr>
          <p:cNvPr id="82" name="Shape 80"/>
          <p:cNvSpPr/>
          <p:nvPr/>
        </p:nvSpPr>
        <p:spPr>
          <a:xfrm>
            <a:off x="640080" y="5664708"/>
            <a:ext cx="5225796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76656" y="5701284"/>
            <a:ext cx="5152644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José está alegre.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Хосе весел.  ·  en este momento</a:t>
            </a:r>
            <a:endParaRPr lang="en-US" sz="1150" dirty="0"/>
          </a:p>
        </p:txBody>
      </p:sp>
      <p:sp>
        <p:nvSpPr>
          <p:cNvPr id="84" name="Shape 82"/>
          <p:cNvSpPr/>
          <p:nvPr/>
        </p:nvSpPr>
        <p:spPr>
          <a:xfrm>
            <a:off x="6231636" y="4928616"/>
            <a:ext cx="5408676" cy="1472184"/>
          </a:xfrm>
          <a:prstGeom prst="roundRect">
            <a:avLst>
              <a:gd name="adj" fmla="val 4969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85" name="Text 83"/>
          <p:cNvSpPr/>
          <p:nvPr/>
        </p:nvSpPr>
        <p:spPr>
          <a:xfrm>
            <a:off x="6359652" y="4965192"/>
            <a:ext cx="5152644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Pilar es guapa.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Пилар красивая.  ·  cualidad física</a:t>
            </a:r>
            <a:endParaRPr lang="en-US" sz="1150" dirty="0"/>
          </a:p>
        </p:txBody>
      </p:sp>
      <p:sp>
        <p:nvSpPr>
          <p:cNvPr id="86" name="Shape 84"/>
          <p:cNvSpPr/>
          <p:nvPr/>
        </p:nvSpPr>
        <p:spPr>
          <a:xfrm>
            <a:off x="6323076" y="5664708"/>
            <a:ext cx="5225796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6359652" y="5701284"/>
            <a:ext cx="5152644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Pilar está guapa.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Пилар нарядная.  ·  hoy, está arreglada</a:t>
            </a:r>
            <a:endParaRPr lang="en-US" sz="1150" dirty="0"/>
          </a:p>
        </p:txBody>
      </p:sp>
      <p:sp>
        <p:nvSpPr>
          <p:cNvPr id="88" name="Text 86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1 · Unidad 1 · Vocabulario visual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Angel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1C · NÚMEROS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Números 0-20 y operaciones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decir tu teléfono, tu dirección y hacer cuentas sencillas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627632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94360" y="2309957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cero / ноль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156678" y="1572768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156678" y="1627632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2202398" y="2309957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 / один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764715" y="1572768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764715" y="1627632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810435" y="2309957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/ два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372753" y="1572768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372753" y="1627632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5418473" y="2309957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/ три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980791" y="1572768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980791" y="1627632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7026511" y="2309957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/ четыре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588829" y="1572768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588829" y="1627632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8634549" y="2309957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/ пять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10196866" y="1572768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10196866" y="1627632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10242586" y="2309957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/ шесть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3008376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3063240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594360" y="3745565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siete / семь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2156678" y="3008376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2156678" y="3063240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2202398" y="3745565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ocho / восемь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764715" y="3008376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3764715" y="3063240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3810435" y="3745565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nueve / девять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372753" y="3008376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5372753" y="3063240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600" dirty="0"/>
          </a:p>
        </p:txBody>
      </p:sp>
      <p:sp>
        <p:nvSpPr>
          <p:cNvPr id="37" name="Text 35"/>
          <p:cNvSpPr/>
          <p:nvPr/>
        </p:nvSpPr>
        <p:spPr>
          <a:xfrm>
            <a:off x="5418473" y="3745565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diez / десять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980791" y="3008376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980791" y="3063240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600" dirty="0"/>
          </a:p>
        </p:txBody>
      </p:sp>
      <p:sp>
        <p:nvSpPr>
          <p:cNvPr id="40" name="Text 38"/>
          <p:cNvSpPr/>
          <p:nvPr/>
        </p:nvSpPr>
        <p:spPr>
          <a:xfrm>
            <a:off x="7026511" y="3745565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/ одиннадцать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8588829" y="3008376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588829" y="3063240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8634549" y="3745565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 / двенадцать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10196866" y="3008376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0196866" y="3063240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2600" dirty="0"/>
          </a:p>
        </p:txBody>
      </p:sp>
      <p:sp>
        <p:nvSpPr>
          <p:cNvPr id="46" name="Text 44"/>
          <p:cNvSpPr/>
          <p:nvPr/>
        </p:nvSpPr>
        <p:spPr>
          <a:xfrm>
            <a:off x="10242586" y="3745565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trece / тринадцать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548640" y="4443984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548640" y="4498848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600" dirty="0"/>
          </a:p>
        </p:txBody>
      </p:sp>
      <p:sp>
        <p:nvSpPr>
          <p:cNvPr id="49" name="Text 47"/>
          <p:cNvSpPr/>
          <p:nvPr/>
        </p:nvSpPr>
        <p:spPr>
          <a:xfrm>
            <a:off x="594360" y="5181173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catorce / четырнадцать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2156678" y="4443984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2156678" y="4498848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2600" dirty="0"/>
          </a:p>
        </p:txBody>
      </p:sp>
      <p:sp>
        <p:nvSpPr>
          <p:cNvPr id="52" name="Text 50"/>
          <p:cNvSpPr/>
          <p:nvPr/>
        </p:nvSpPr>
        <p:spPr>
          <a:xfrm>
            <a:off x="2202398" y="5181173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quince / пятнадцать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3764715" y="4443984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3764715" y="4498848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2600" dirty="0"/>
          </a:p>
        </p:txBody>
      </p:sp>
      <p:sp>
        <p:nvSpPr>
          <p:cNvPr id="55" name="Text 53"/>
          <p:cNvSpPr/>
          <p:nvPr/>
        </p:nvSpPr>
        <p:spPr>
          <a:xfrm>
            <a:off x="3810435" y="5181173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dieciséis / шестнадцать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5372753" y="4443984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5372753" y="4498848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2600" dirty="0"/>
          </a:p>
        </p:txBody>
      </p:sp>
      <p:sp>
        <p:nvSpPr>
          <p:cNvPr id="58" name="Text 56"/>
          <p:cNvSpPr/>
          <p:nvPr/>
        </p:nvSpPr>
        <p:spPr>
          <a:xfrm>
            <a:off x="5418473" y="5181173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diecisiete / семнадцать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6980791" y="4443984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6980791" y="4498848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2600" dirty="0"/>
          </a:p>
        </p:txBody>
      </p:sp>
      <p:sp>
        <p:nvSpPr>
          <p:cNvPr id="61" name="Text 59"/>
          <p:cNvSpPr/>
          <p:nvPr/>
        </p:nvSpPr>
        <p:spPr>
          <a:xfrm>
            <a:off x="7026511" y="5181173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dieciocho / восемнадцать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8588829" y="4443984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8588829" y="4498848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2600" dirty="0"/>
          </a:p>
        </p:txBody>
      </p:sp>
      <p:sp>
        <p:nvSpPr>
          <p:cNvPr id="64" name="Text 62"/>
          <p:cNvSpPr/>
          <p:nvPr/>
        </p:nvSpPr>
        <p:spPr>
          <a:xfrm>
            <a:off x="8634549" y="5181173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diecinueve / девятнадцать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10196866" y="4443984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6" name="Text 64"/>
          <p:cNvSpPr/>
          <p:nvPr/>
        </p:nvSpPr>
        <p:spPr>
          <a:xfrm>
            <a:off x="10196866" y="4498848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2600" dirty="0"/>
          </a:p>
        </p:txBody>
      </p:sp>
      <p:sp>
        <p:nvSpPr>
          <p:cNvPr id="67" name="Text 65"/>
          <p:cNvSpPr/>
          <p:nvPr/>
        </p:nvSpPr>
        <p:spPr>
          <a:xfrm>
            <a:off x="10242586" y="5181173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veinte / двадцать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548640" y="5852160"/>
            <a:ext cx="2567178" cy="685800"/>
          </a:xfrm>
          <a:prstGeom prst="roundRect">
            <a:avLst>
              <a:gd name="adj" fmla="val 12000"/>
            </a:avLst>
          </a:prstGeom>
          <a:solidFill>
            <a:srgbClr val="F9E795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9" name="Text 67"/>
          <p:cNvSpPr/>
          <p:nvPr/>
        </p:nvSpPr>
        <p:spPr>
          <a:xfrm>
            <a:off x="640080" y="5852160"/>
            <a:ext cx="548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➕</a:t>
            </a:r>
            <a:endParaRPr lang="en-US" sz="2200" dirty="0"/>
          </a:p>
        </p:txBody>
      </p:sp>
      <p:sp>
        <p:nvSpPr>
          <p:cNvPr id="70" name="Text 68"/>
          <p:cNvSpPr/>
          <p:nvPr/>
        </p:nvSpPr>
        <p:spPr>
          <a:xfrm>
            <a:off x="1143000" y="5852160"/>
            <a:ext cx="18813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плюс</a:t>
            </a:r>
            <a:endParaRPr lang="en-US" sz="1300" dirty="0"/>
          </a:p>
        </p:txBody>
      </p:sp>
      <p:sp>
        <p:nvSpPr>
          <p:cNvPr id="71" name="Shape 69"/>
          <p:cNvSpPr/>
          <p:nvPr/>
        </p:nvSpPr>
        <p:spPr>
          <a:xfrm>
            <a:off x="3390138" y="5852160"/>
            <a:ext cx="2567178" cy="685800"/>
          </a:xfrm>
          <a:prstGeom prst="roundRect">
            <a:avLst>
              <a:gd name="adj" fmla="val 12000"/>
            </a:avLst>
          </a:prstGeom>
          <a:solidFill>
            <a:srgbClr val="F9E795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72" name="Text 70"/>
          <p:cNvSpPr/>
          <p:nvPr/>
        </p:nvSpPr>
        <p:spPr>
          <a:xfrm>
            <a:off x="3481578" y="5852160"/>
            <a:ext cx="548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➖</a:t>
            </a:r>
            <a:endParaRPr lang="en-US" sz="2200" dirty="0"/>
          </a:p>
        </p:txBody>
      </p:sp>
      <p:sp>
        <p:nvSpPr>
          <p:cNvPr id="73" name="Text 71"/>
          <p:cNvSpPr/>
          <p:nvPr/>
        </p:nvSpPr>
        <p:spPr>
          <a:xfrm>
            <a:off x="3984498" y="5852160"/>
            <a:ext cx="18813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минус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6231636" y="5852160"/>
            <a:ext cx="2567178" cy="685800"/>
          </a:xfrm>
          <a:prstGeom prst="roundRect">
            <a:avLst>
              <a:gd name="adj" fmla="val 12000"/>
            </a:avLst>
          </a:prstGeom>
          <a:solidFill>
            <a:srgbClr val="F9E795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75" name="Text 73"/>
          <p:cNvSpPr/>
          <p:nvPr/>
        </p:nvSpPr>
        <p:spPr>
          <a:xfrm>
            <a:off x="6323076" y="5852160"/>
            <a:ext cx="548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✖️</a:t>
            </a:r>
            <a:endParaRPr lang="en-US" sz="2200" dirty="0"/>
          </a:p>
        </p:txBody>
      </p:sp>
      <p:sp>
        <p:nvSpPr>
          <p:cNvPr id="76" name="Text 74"/>
          <p:cNvSpPr/>
          <p:nvPr/>
        </p:nvSpPr>
        <p:spPr>
          <a:xfrm>
            <a:off x="6825996" y="5852160"/>
            <a:ext cx="18813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умножить на (×)</a:t>
            </a:r>
            <a:endParaRPr lang="en-US" sz="1300" dirty="0"/>
          </a:p>
        </p:txBody>
      </p:sp>
      <p:sp>
        <p:nvSpPr>
          <p:cNvPr id="77" name="Shape 75"/>
          <p:cNvSpPr/>
          <p:nvPr/>
        </p:nvSpPr>
        <p:spPr>
          <a:xfrm>
            <a:off x="9073134" y="5852160"/>
            <a:ext cx="2567178" cy="685800"/>
          </a:xfrm>
          <a:prstGeom prst="roundRect">
            <a:avLst>
              <a:gd name="adj" fmla="val 12000"/>
            </a:avLst>
          </a:prstGeom>
          <a:solidFill>
            <a:srgbClr val="F9E795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78" name="Text 76"/>
          <p:cNvSpPr/>
          <p:nvPr/>
        </p:nvSpPr>
        <p:spPr>
          <a:xfrm>
            <a:off x="9164574" y="5852160"/>
            <a:ext cx="548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➗</a:t>
            </a:r>
            <a:endParaRPr lang="en-US" sz="2200" dirty="0"/>
          </a:p>
        </p:txBody>
      </p:sp>
      <p:sp>
        <p:nvSpPr>
          <p:cNvPr id="79" name="Text 77"/>
          <p:cNvSpPr/>
          <p:nvPr/>
        </p:nvSpPr>
        <p:spPr>
          <a:xfrm>
            <a:off x="9667494" y="5852160"/>
            <a:ext cx="18813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разделить на (÷)</a:t>
            </a:r>
            <a:endParaRPr lang="en-US" sz="1300" dirty="0"/>
          </a:p>
        </p:txBody>
      </p:sp>
      <p:sp>
        <p:nvSpPr>
          <p:cNvPr id="80" name="Text 78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1 · Unidad 1 · Vocabulario visual</a:t>
            </a:r>
            <a:endParaRPr lang="en-US" sz="1000" dirty="0"/>
          </a:p>
        </p:txBody>
      </p:sp>
      <p:sp>
        <p:nvSpPr>
          <p:cNvPr id="81" name="Text 79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Angel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645920"/>
            <a:ext cx="4572000" cy="4572000"/>
          </a:xfrm>
          <a:prstGeom prst="ellipse">
            <a:avLst/>
          </a:prstGeom>
          <a:solidFill>
            <a:srgbClr val="F96167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4206240"/>
            <a:ext cx="3840480" cy="3840480"/>
          </a:xfrm>
          <a:prstGeom prst="ellipse">
            <a:avLst/>
          </a:prstGeom>
          <a:solidFill>
            <a:srgbClr val="F9E795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103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¡BUEN TRABAJO!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 repasaste toda la Unidad 1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22960" y="3520440"/>
            <a:ext cx="9784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 estas palabras un poco cada día: repítelas en voz alta, tápalas y trata de recordarlas, y úsalas en frases propias.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¡La próxima unidad, más vocabulario visual como este!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5074920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9E7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 Angel Luis Acosta González, tu profesor de español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6217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9B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1 · Unidad 1 · Vocabulario visual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Vocabulario visual — Nuevo Español en Marcha 1, Unidad 1</dc:title>
  <dc:subject>PptxGenJS Presentation</dc:subject>
  <dc:creator>PptxGenJS</dc:creator>
  <cp:lastModifiedBy>PptxGenJS</cp:lastModifiedBy>
  <cp:revision>1</cp:revision>
  <dcterms:created xsi:type="dcterms:W3CDTF">2026-08-02T16:21:54Z</dcterms:created>
  <dcterms:modified xsi:type="dcterms:W3CDTF">2026-08-02T16:21:54Z</dcterms:modified>
</cp:coreProperties>
</file>