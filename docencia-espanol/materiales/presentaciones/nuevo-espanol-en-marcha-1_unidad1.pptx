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572000"/>
            <a:ext cx="3474720" cy="347472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NIVEL A1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Vocabulario visual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 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Repasa las palabras de la Unidad 1 con imágenes y colores, para memorizarlas más fácil.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👋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78308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78308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🌍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274320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💼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370332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0332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🔢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466344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6344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🪪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22960" y="6080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→ Ruso · Plantilla genérica para cualquier alumno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190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elaborado por Ángel Luis Acosta González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 · SALUDOS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Saludos y despedidas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empezar y terminar una conversación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¡Hola!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Привет!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días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Доброе утро! / Добрый день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☀️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tardes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Добрый день (после полудня)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🌙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noches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Добрый вечер! / Спокойной ночи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tal?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дела?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🙂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Bien, ¿y tú?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Хорошо, а ты?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😊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bien, gracias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Очень хорошо, спасибо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Encantado / Encantada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Очень приятно (м. / ж.)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🤗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 gusto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Очень приятно (при знакомстве)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Igualmente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Взаимно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👋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свидания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luego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/ До скорого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mañana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завтра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pronto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скорой встречи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clase y el alfabeto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Frases útiles para pedir ayuda en clase, y cómo hablamos de las letras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¿Puede repetir, por favor?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Повторите, пожалуйста?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dice...?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сказать...?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✍️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escribe?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это пишется?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825496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💭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871216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significa...?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значит...?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825496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871216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Perdone, no entiendo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Извините, я не понимаю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825496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🔤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871216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abecedario / el alfabeto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алфавит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078224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🗣️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4123944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deletrear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произносить по буквам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4078224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🅰️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4123944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mayúscula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заглавная буква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4078224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🔡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4123944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minúscula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строчная буква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5330952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5376672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tilde / el acento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знак ударения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5330952"/>
            <a:ext cx="356311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5376672"/>
            <a:ext cx="272186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sílaba tónica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ударный слог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 · CONOCERSE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Preguntas personales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(informal) y usted (formal) — las mismas preguntas, dos formas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11426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81142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🧑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07008" y="1636776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te llamas? / ¿Cómo se llama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тебя / Вас зовут?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89581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800807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80080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07008" y="2626157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llamo...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Меня зовут...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57896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790188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7901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07008" y="361553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eres? / ¿De dónde es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ты / Вы?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56834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4779569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77956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07008" y="460491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 de...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 из...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557723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5768950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576895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💼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07008" y="5594299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qué te dedicas? / ¿A qué se dedica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Кем ты работаешь / Вы работаете?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1600200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64808" y="1811426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464808" y="181142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🏠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13448" y="1636776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vives? / ¿Dónde vive usted?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ты живёшь / Вы живёте?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55080" y="2589581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64808" y="2800807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280080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📞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013448" y="2626157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tu número de teléfono?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у тебя номер телефона?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55080" y="357896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64808" y="3790188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464808" y="37901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✉️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013448" y="361553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tu correo electrónico?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у тебя адрес электронной почты?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55080" y="4568342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64808" y="4779569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6464808" y="477956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👉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013448" y="4604918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es... / Esta es...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Это... (представляя мужчину / женщину)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355080" y="5557723"/>
            <a:ext cx="5349240" cy="843077"/>
          </a:xfrm>
          <a:prstGeom prst="roundRect">
            <a:avLst>
              <a:gd name="adj" fmla="val 867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64808" y="5768950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464808" y="576895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🤝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013448" y="5594299"/>
            <a:ext cx="4581144" cy="76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presento a...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Позвольте представить Вам...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 · GRAMÁTICA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interrogativos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palabras clave para preguntar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46504"/>
            <a:ext cx="3563112" cy="1371600"/>
          </a:xfrm>
          <a:prstGeom prst="roundRect">
            <a:avLst>
              <a:gd name="adj" fmla="val 6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2176272"/>
            <a:ext cx="512064" cy="51206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1762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❓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316736" y="1792224"/>
            <a:ext cx="2685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/ какой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12920" y="1746504"/>
            <a:ext cx="3563112" cy="1371600"/>
          </a:xfrm>
          <a:prstGeom prst="roundRect">
            <a:avLst>
              <a:gd name="adj" fmla="val 6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2176272"/>
            <a:ext cx="512064" cy="51206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21762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📍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081016" y="1792224"/>
            <a:ext cx="2685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77200" y="1746504"/>
            <a:ext cx="3563112" cy="1371600"/>
          </a:xfrm>
          <a:prstGeom prst="roundRect">
            <a:avLst>
              <a:gd name="adj" fmla="val 6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2176272"/>
            <a:ext cx="512064" cy="51206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21762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🧭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845296" y="1792224"/>
            <a:ext cx="2685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300984"/>
            <a:ext cx="3563112" cy="1371600"/>
          </a:xfrm>
          <a:prstGeom prst="roundRect">
            <a:avLst>
              <a:gd name="adj" fmla="val 6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730752"/>
            <a:ext cx="512064" cy="51206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➡️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316736" y="3346704"/>
            <a:ext cx="2685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adónde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312920" y="3300984"/>
            <a:ext cx="3563112" cy="1371600"/>
          </a:xfrm>
          <a:prstGeom prst="roundRect">
            <a:avLst>
              <a:gd name="adj" fmla="val 6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3730752"/>
            <a:ext cx="512064" cy="51206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🤔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5081016" y="3346704"/>
            <a:ext cx="2685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077200" y="3300984"/>
            <a:ext cx="3563112" cy="1371600"/>
          </a:xfrm>
          <a:prstGeom prst="roundRect">
            <a:avLst>
              <a:gd name="adj" fmla="val 6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3730752"/>
            <a:ext cx="512064" cy="51206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🔀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845296" y="3346704"/>
            <a:ext cx="2685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cuál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(из вариантов)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48640" y="4855464"/>
            <a:ext cx="3563112" cy="1371600"/>
          </a:xfrm>
          <a:prstGeom prst="roundRect">
            <a:avLst>
              <a:gd name="adj" fmla="val 6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5285232"/>
            <a:ext cx="512064" cy="51206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285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🙋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1316736" y="4901184"/>
            <a:ext cx="2685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/ quiénes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312920" y="4855464"/>
            <a:ext cx="3563112" cy="1371600"/>
          </a:xfrm>
          <a:prstGeom prst="roundRect">
            <a:avLst>
              <a:gd name="adj" fmla="val 600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5285232"/>
            <a:ext cx="512064" cy="51206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5285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🔢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5081016" y="4901184"/>
            <a:ext cx="2685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cuánto/a/os/as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· TÚ / USTED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 de tratamiento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hablar de tú y cuándo de usted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 (неформальное обращение)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🎩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usted (Ud.)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(формальное, ед. ч.)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ustedes (Uds.)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(формальное, мн. ч.)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señor (Sr.)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господин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👩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señora (Sra.)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госпожа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jefe / la jefa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начальник / начальница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78688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516636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166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❔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483260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desconocido/a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незнакомый человек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· LA FICHA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personales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vocabulario para rellenar cualquier formulario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95060" y="1572768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23076" y="186994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323076" y="18699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🪪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26580" y="1618488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apellido / los apellidos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фамилия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825496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7665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2871216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nacionalidad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национальность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95060" y="2825496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23076" y="3122676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323076" y="31226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26580" y="2871216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profesión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профессия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078224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665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80160" y="4123944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domicilio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 проживания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95060" y="4078224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323076" y="437540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323076" y="43754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🏙️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26580" y="4123944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ciudad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5330952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📞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5376672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teléfono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95060" y="5330952"/>
            <a:ext cx="5445252" cy="1069848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23076" y="562813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323076" y="56281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✉️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26580" y="5376672"/>
            <a:ext cx="460400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correo electrónico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электронная почта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1A/1C · PAÍSES (1/2)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Países y nacionalidades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bandera con su gentilicio en español y en ruso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🇩🇪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alemán / alemana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немец / немка (Германия)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🇪🇸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/ española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испанец / испанка (Испания)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🇫🇷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francés / francesa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француз / француженка (Франция)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🇮🇹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italiano / italiana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итальянец / итальянка (Италия)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🇧🇷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brasileño / brasileña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бразилец / бразильянка (Бразилия)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🇵🇹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portugués / portuguesa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португалец / португалка (Португалия)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🇲🇦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marroquí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марокканец / марокканка (Марокко)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🇨🇳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chino / china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китаец / китаянка (Китай)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🇮🇷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iraní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иранец / иранка (Иран)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🇬🇧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británico / británica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британец / британка (Великобритания)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🇹🇷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turco / turca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турок / турчанка (Турция)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🇿🇦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sudafricano / sudafricana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южноафриканец / -нка (ЮАР)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🇨🇴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colombiano / colombiana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колумбиец / колумбийка (Колумбия)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1A/1C · PAÍSES (2/2)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Países y nacionalidades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bandera con su gentilicio en español y en ruso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🇵🇱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polaco / polaca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поляк / полька (Польша)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🇸🇪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sueco / sueca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швед / шведка (Швеция)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🇨🇦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canadiense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канадец / канадка (Канада)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🇵🇪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peruano / peruana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перуанец / перуанка (Перу)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🇧🇾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bielorruso / bielorrusa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белорус / белоруска (Беларусь)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🇲🇽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mexicano / mexicana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мексиканец / мексиканка (Мексика)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🇮🇪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irlandés / irlandesa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ирландец / ирландка (Ирландия)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🇺🇸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estadounidense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американец / американка (США)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🇨🇺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cubano / cubana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кубинец / кубинка (Куба)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🇦🇷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argentino / argentina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аргентинец / аргентинка (Аргентина)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🇳🇬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nigeriano / nigeriana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нигериец / нигерийка (Нигерия)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🇵🇰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paquistaní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пакистанец / пакистанка (Пакистан)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🇵🇷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puertorriqueño / puertorriqueña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пуэрториканец / -ка (Пуэрто-Рико)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 · ESPAÑA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Gentilicios de España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llama la gente de cada comunidad autónoma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andaluz / andaluza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андалусец / андалуска (Андалусия)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aragonés / aragonesa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арагонец / арагонка (Арагон)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asturiano / asturiana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астуриец / астурийка (Астурия)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balear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балеарец / балеарка (Балеарские о-ва)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canario / canaria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канарец / канарка (Канарские о-ва)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cántabro / cántabra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кантабриец / кантабрийка (Кантабрия)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castellanoleonés / -esa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уроженец Кастилии и Леона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castellanomanchego / -a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уроженец Кастилии-Ла-Манчи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catalán / catalana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каталонец / каталонка (Каталония)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extremeño / extremeña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эстремадурец / -ка (Эстремадура)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gallego / gallega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галисиец / галисийка (Галисия)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madrileño / madrileña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мадридец / мадридка (Мадрид)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murciano / murciana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мурсиец / мурсийка (Мурсия)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valenciano / valenciana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валенсиец / валенсийка (Валенсия)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807720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820521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3" name="Text 61"/>
          <p:cNvSpPr/>
          <p:nvPr/>
        </p:nvSpPr>
        <p:spPr>
          <a:xfrm>
            <a:off x="820521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880872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vasco / vasca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баск / баска (Страна Басков)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PROFESIONES (1/2)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¿A qué te dedicas?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Profesiones en masculino y femenino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peluquero/a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парикмахер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🧑‍🏫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преподаватель, учитель/-ница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🩺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врач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официант/-ка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de casa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домохозяйка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🚕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таксист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📮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почтальон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actor/actriz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актёр / актриса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⚖️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abogado/a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адвокат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🧹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limpiador/a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уборщик/-ца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🛍️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продавец / продавщица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секретарь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🚗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водитель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cocinero/a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повар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PROFESIONES (2/2)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¿A qué te dedicas?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Profesiones en masculino y femenino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futbolista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футболист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cantante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певец / певица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57276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174467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174467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🌳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61848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jardinero/a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садовник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🎹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пианист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2574950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2746858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274685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2620670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economista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экономист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🏛️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presidente/a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президент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1292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🎒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4444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студент/-ка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77200" y="3577133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💻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808720" y="3622853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специалист по информатике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7665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💉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8016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enfermero/a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медбрат / медсестра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31292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4093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444093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04444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arquitecto/a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архитектор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077200" y="4579315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205216" y="4751222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8205216" y="475122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8808720" y="4625035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traductor/a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переводчик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7665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7665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16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pintor/a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художник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312920" y="5581498"/>
            <a:ext cx="3563112" cy="819302"/>
          </a:xfrm>
          <a:prstGeom prst="roundRect">
            <a:avLst>
              <a:gd name="adj" fmla="val 10045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0936" y="5753405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9" name="Text 57"/>
          <p:cNvSpPr/>
          <p:nvPr/>
        </p:nvSpPr>
        <p:spPr>
          <a:xfrm>
            <a:off x="4440936" y="575340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🎬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044440" y="5627218"/>
            <a:ext cx="2721864" cy="7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director/a de cine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кинорежиссёр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· GRAMÁTICA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Verbos clave en presente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cinco verbos imprescindibles de la Unidad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14344" cy="2263140"/>
          </a:xfrm>
          <a:prstGeom prst="roundRect">
            <a:avLst>
              <a:gd name="adj" fmla="val 404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4650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✨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298448" y="173736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8448" y="210312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быть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3148584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  soy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 eres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  es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  somos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  sois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  son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7304" y="1600200"/>
            <a:ext cx="3514344" cy="2263140"/>
          </a:xfrm>
          <a:prstGeom prst="roundRect">
            <a:avLst>
              <a:gd name="adj" fmla="val 404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01896" y="174650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4501896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🤲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87112" y="173736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87112" y="210312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иметь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20184" y="2468880"/>
            <a:ext cx="3148584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  tengo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 tienes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  tiene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  tenemos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  tenéis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  tienen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25968" y="1600200"/>
            <a:ext cx="3514344" cy="2263140"/>
          </a:xfrm>
          <a:prstGeom prst="roundRect">
            <a:avLst>
              <a:gd name="adj" fmla="val 404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90560" y="174650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829056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💼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75776" y="173736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875776" y="210312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работать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308848" y="2468880"/>
            <a:ext cx="3148584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  trabajo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 trabajas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  trabaja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  trabajamos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  trabajáis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  trabajan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442972" y="4137660"/>
            <a:ext cx="3514344" cy="2263140"/>
          </a:xfrm>
          <a:prstGeom prst="roundRect">
            <a:avLst>
              <a:gd name="adj" fmla="val 404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607564" y="428396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2607564" y="42839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🍽️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3192780" y="427482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192780" y="464058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есть, кушать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625852" y="5006340"/>
            <a:ext cx="3148584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  como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 comes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  come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  comemos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  coméis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  comen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31636" y="4137660"/>
            <a:ext cx="3514344" cy="2263140"/>
          </a:xfrm>
          <a:prstGeom prst="roundRect">
            <a:avLst>
              <a:gd name="adj" fmla="val 4040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96228" y="428396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396228" y="42839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🏡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981444" y="4274820"/>
            <a:ext cx="2599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981444" y="4640580"/>
            <a:ext cx="2599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жить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14516" y="5006340"/>
            <a:ext cx="3148584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  vivo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 vives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él/ella/Ud.  vive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nosotros/nosotras  vivimos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vosotros/vosotras  vivís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ellos/ellas/Uds.  viven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 · NÚMEROS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Números 0-20 y operaciones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decir tu teléfono, tu dirección y hacer cuentas sencillas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— ноль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56678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56678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202398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— один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64715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64715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810435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— два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72753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72753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418473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— три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980791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80791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026511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— четыре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88829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88829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634549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— пять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96866" y="1572768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196866" y="1627632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0242586" y="2309957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— шесть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94360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— семь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156678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156678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2202398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— восемь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764715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764715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3810435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nueve — девять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72753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372753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5418473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— десять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980791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980791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7026511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— одиннадцать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588829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588829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8634549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 — двенадцать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0196866" y="3008376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196866" y="3063240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46" name="Text 44"/>
          <p:cNvSpPr/>
          <p:nvPr/>
        </p:nvSpPr>
        <p:spPr>
          <a:xfrm>
            <a:off x="10242586" y="3745565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trece — тринадцать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48640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48640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594360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catorce — четырнадцать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56678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156678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2202398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— пятнадцать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3764715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764715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3810435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dieciséis — шестнадцать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372753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372753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5418473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diecisiete — семнадцать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980791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980791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</p:txBody>
      </p:sp>
      <p:sp>
        <p:nvSpPr>
          <p:cNvPr id="61" name="Text 59"/>
          <p:cNvSpPr/>
          <p:nvPr/>
        </p:nvSpPr>
        <p:spPr>
          <a:xfrm>
            <a:off x="7026511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dieciocho — восемнадцать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588829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8588829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64" name="Text 62"/>
          <p:cNvSpPr/>
          <p:nvPr/>
        </p:nvSpPr>
        <p:spPr>
          <a:xfrm>
            <a:off x="8634549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diecinueve — девятнадцать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0196866" y="4443984"/>
            <a:ext cx="1443446" cy="1271016"/>
          </a:xfrm>
          <a:prstGeom prst="roundRect">
            <a:avLst>
              <a:gd name="adj" fmla="val 719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10196866" y="4498848"/>
            <a:ext cx="1443446" cy="737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600" dirty="0"/>
          </a:p>
        </p:txBody>
      </p:sp>
      <p:sp>
        <p:nvSpPr>
          <p:cNvPr id="67" name="Text 65"/>
          <p:cNvSpPr/>
          <p:nvPr/>
        </p:nvSpPr>
        <p:spPr>
          <a:xfrm>
            <a:off x="10242586" y="5181173"/>
            <a:ext cx="1352006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veinte — двадцать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48640" y="5852160"/>
            <a:ext cx="3514344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640080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➕</a:t>
            </a:r>
            <a:endParaRPr lang="en-US" sz="2200" dirty="0"/>
          </a:p>
        </p:txBody>
      </p:sp>
      <p:sp>
        <p:nvSpPr>
          <p:cNvPr id="70" name="Text 68"/>
          <p:cNvSpPr/>
          <p:nvPr/>
        </p:nvSpPr>
        <p:spPr>
          <a:xfrm>
            <a:off x="1143000" y="5852160"/>
            <a:ext cx="2828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4337304" y="5852160"/>
            <a:ext cx="3514344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4428744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➖</a:t>
            </a:r>
            <a:endParaRPr lang="en-US" sz="2200" dirty="0"/>
          </a:p>
        </p:txBody>
      </p:sp>
      <p:sp>
        <p:nvSpPr>
          <p:cNvPr id="73" name="Text 71"/>
          <p:cNvSpPr/>
          <p:nvPr/>
        </p:nvSpPr>
        <p:spPr>
          <a:xfrm>
            <a:off x="4931664" y="5852160"/>
            <a:ext cx="2828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125968" y="5852160"/>
            <a:ext cx="3514344" cy="685800"/>
          </a:xfrm>
          <a:prstGeom prst="roundRect">
            <a:avLst>
              <a:gd name="adj" fmla="val 12000"/>
            </a:avLst>
          </a:prstGeom>
          <a:solidFill>
            <a:srgbClr val="F9E795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8217408" y="5852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✖️</a:t>
            </a:r>
            <a:endParaRPr lang="en-US" sz="2200" dirty="0"/>
          </a:p>
        </p:txBody>
      </p:sp>
      <p:sp>
        <p:nvSpPr>
          <p:cNvPr id="76" name="Text 74"/>
          <p:cNvSpPr/>
          <p:nvPr/>
        </p:nvSpPr>
        <p:spPr>
          <a:xfrm>
            <a:off x="8720328" y="5852160"/>
            <a:ext cx="2828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умножить на (×)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Ángel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ellipse">
            <a:avLst/>
          </a:prstGeom>
          <a:solidFill>
            <a:srgbClr val="F96167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¡BUEN TRABAJO!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 repasaste toda la Unidad 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 estas palabras un poco cada día: repítelas en voz alta, tápalas y trata de recordarlas, y úsalas en frases propias.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¡La próxima unidad, más vocabulario visual como este!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0749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Ángel Luis Acosta González, tu profesor de español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1 · Unidad 1 · Vocabulario visual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Vocabulario visual — Nuevo Español en Marcha 1, Unidad 1</dc:title>
  <dc:subject>PptxGenJS Presentation</dc:subject>
  <dc:creator>PptxGenJS</dc:creator>
  <cp:lastModifiedBy>PptxGenJS</cp:lastModifiedBy>
  <cp:revision>1</cp:revision>
  <dcterms:created xsi:type="dcterms:W3CDTF">2026-08-02T15:37:01Z</dcterms:created>
  <dcterms:modified xsi:type="dcterms:W3CDTF">2026-08-02T15:37:01Z</dcterms:modified>
</cp:coreProperties>
</file>