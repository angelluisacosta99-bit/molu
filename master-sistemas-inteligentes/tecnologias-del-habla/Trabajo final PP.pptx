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4"/>
  </p:sldMasterIdLst>
  <p:notesMasterIdLst>
    <p:notesMasterId r:id="rId31"/>
  </p:notesMasterIdLst>
  <p:handoutMasterIdLst>
    <p:handoutMasterId r:id="rId32"/>
  </p:handoutMasterIdLst>
  <p:sldIdLst>
    <p:sldId id="256" r:id="rId5"/>
    <p:sldId id="257" r:id="rId6"/>
    <p:sldId id="258" r:id="rId7"/>
    <p:sldId id="259" r:id="rId8"/>
    <p:sldId id="260" r:id="rId9"/>
    <p:sldId id="261" r:id="rId10"/>
    <p:sldId id="262" r:id="rId11"/>
    <p:sldId id="263" r:id="rId12"/>
    <p:sldId id="268" r:id="rId13"/>
    <p:sldId id="264" r:id="rId14"/>
    <p:sldId id="265" r:id="rId15"/>
    <p:sldId id="266" r:id="rId16"/>
    <p:sldId id="267"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2"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C242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78" d="100"/>
          <a:sy n="78" d="100"/>
        </p:scale>
        <p:origin x="715" y="62"/>
      </p:cViewPr>
      <p:guideLst/>
    </p:cSldViewPr>
  </p:slideViewPr>
  <p:notesTextViewPr>
    <p:cViewPr>
      <p:scale>
        <a:sx n="1" d="1"/>
        <a:sy n="1" d="1"/>
      </p:scale>
      <p:origin x="0" y="0"/>
    </p:cViewPr>
  </p:notesTextViewPr>
  <p:notesViewPr>
    <p:cSldViewPr snapToGrid="0">
      <p:cViewPr varScale="1">
        <p:scale>
          <a:sx n="89" d="100"/>
          <a:sy n="89" d="100"/>
        </p:scale>
        <p:origin x="3054"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56F7EC2-FBE2-4F14-BFF8-D82EBC6E3AC0}" type="doc">
      <dgm:prSet loTypeId="urn:microsoft.com/office/officeart/2005/8/layout/default" loCatId="list" qsTypeId="urn:microsoft.com/office/officeart/2005/8/quickstyle/simple1" qsCatId="simple" csTypeId="urn:microsoft.com/office/officeart/2005/8/colors/accent2_1" csCatId="accent2" phldr="1"/>
      <dgm:spPr/>
      <dgm:t>
        <a:bodyPr/>
        <a:lstStyle/>
        <a:p>
          <a:endParaRPr lang="es-ES"/>
        </a:p>
      </dgm:t>
    </dgm:pt>
    <dgm:pt modelId="{5F3AF929-92FC-447B-B8E2-0BADFC41806A}">
      <dgm:prSet/>
      <dgm:spPr/>
      <dgm:t>
        <a:bodyPr/>
        <a:lstStyle/>
        <a:p>
          <a:r>
            <a:rPr lang="es-ES" dirty="0"/>
            <a:t>En el servicio de telecomunicaciones</a:t>
          </a:r>
        </a:p>
      </dgm:t>
    </dgm:pt>
    <dgm:pt modelId="{B4E0BA68-6112-4716-A982-B2E1BED71381}" type="parTrans" cxnId="{A5EBCD0F-973B-4EDE-8B5F-6092464CCF9C}">
      <dgm:prSet/>
      <dgm:spPr/>
      <dgm:t>
        <a:bodyPr/>
        <a:lstStyle/>
        <a:p>
          <a:endParaRPr lang="es-ES"/>
        </a:p>
      </dgm:t>
    </dgm:pt>
    <dgm:pt modelId="{08AA276C-AFDE-41AD-874C-7C5DF700A68D}" type="sibTrans" cxnId="{A5EBCD0F-973B-4EDE-8B5F-6092464CCF9C}">
      <dgm:prSet/>
      <dgm:spPr/>
      <dgm:t>
        <a:bodyPr/>
        <a:lstStyle/>
        <a:p>
          <a:endParaRPr lang="es-ES"/>
        </a:p>
      </dgm:t>
    </dgm:pt>
    <dgm:pt modelId="{FAF09BD2-D838-4361-8658-5BC826F2CA7D}">
      <dgm:prSet/>
      <dgm:spPr/>
      <dgm:t>
        <a:bodyPr/>
        <a:lstStyle/>
        <a:p>
          <a:r>
            <a:rPr lang="es-ES" dirty="0"/>
            <a:t>Ayuda a las discapacidades</a:t>
          </a:r>
        </a:p>
      </dgm:t>
    </dgm:pt>
    <dgm:pt modelId="{DC86F89D-1E1D-487C-B5B8-A3D2F2722010}" type="parTrans" cxnId="{3B140724-2EED-4E2A-9A1F-13D5564CBC86}">
      <dgm:prSet/>
      <dgm:spPr/>
      <dgm:t>
        <a:bodyPr/>
        <a:lstStyle/>
        <a:p>
          <a:endParaRPr lang="es-ES"/>
        </a:p>
      </dgm:t>
    </dgm:pt>
    <dgm:pt modelId="{2D906760-6BAD-4047-8DA1-3D45022B7BC5}" type="sibTrans" cxnId="{3B140724-2EED-4E2A-9A1F-13D5564CBC86}">
      <dgm:prSet/>
      <dgm:spPr/>
      <dgm:t>
        <a:bodyPr/>
        <a:lstStyle/>
        <a:p>
          <a:endParaRPr lang="es-ES"/>
        </a:p>
      </dgm:t>
    </dgm:pt>
    <dgm:pt modelId="{771F6E23-B555-439C-BFA3-28F300654639}">
      <dgm:prSet/>
      <dgm:spPr/>
      <dgm:t>
        <a:bodyPr/>
        <a:lstStyle/>
        <a:p>
          <a:r>
            <a:rPr lang="es-ES" dirty="0"/>
            <a:t>Monitoreo vocal</a:t>
          </a:r>
        </a:p>
      </dgm:t>
    </dgm:pt>
    <dgm:pt modelId="{F5D70FB1-C3C4-4F1D-8D07-10F579A12917}" type="parTrans" cxnId="{17E2B531-CF60-4041-AFB4-F00B4B7F3F82}">
      <dgm:prSet/>
      <dgm:spPr/>
      <dgm:t>
        <a:bodyPr/>
        <a:lstStyle/>
        <a:p>
          <a:endParaRPr lang="es-ES"/>
        </a:p>
      </dgm:t>
    </dgm:pt>
    <dgm:pt modelId="{808CB5A5-4AAA-48C4-8E74-88D9FD6174BB}" type="sibTrans" cxnId="{17E2B531-CF60-4041-AFB4-F00B4B7F3F82}">
      <dgm:prSet/>
      <dgm:spPr/>
      <dgm:t>
        <a:bodyPr/>
        <a:lstStyle/>
        <a:p>
          <a:endParaRPr lang="es-ES"/>
        </a:p>
      </dgm:t>
    </dgm:pt>
    <dgm:pt modelId="{3047A59B-68B9-4B6D-A4D8-6B54FCD703A5}">
      <dgm:prSet/>
      <dgm:spPr/>
      <dgm:t>
        <a:bodyPr/>
        <a:lstStyle/>
        <a:p>
          <a:r>
            <a:rPr lang="es-ES" dirty="0"/>
            <a:t>Sistemas complejos de respuesta de voz interactiva</a:t>
          </a:r>
        </a:p>
      </dgm:t>
    </dgm:pt>
    <dgm:pt modelId="{7BF56690-3A21-4B94-947F-5B47F145D307}" type="parTrans" cxnId="{F1109A3C-6E72-427B-99F9-6E1105E5D1F4}">
      <dgm:prSet/>
      <dgm:spPr/>
      <dgm:t>
        <a:bodyPr/>
        <a:lstStyle/>
        <a:p>
          <a:endParaRPr lang="es-ES"/>
        </a:p>
      </dgm:t>
    </dgm:pt>
    <dgm:pt modelId="{A17ADA3C-0F07-4905-813B-3B39505898E9}" type="sibTrans" cxnId="{F1109A3C-6E72-427B-99F9-6E1105E5D1F4}">
      <dgm:prSet/>
      <dgm:spPr/>
      <dgm:t>
        <a:bodyPr/>
        <a:lstStyle/>
        <a:p>
          <a:endParaRPr lang="es-ES"/>
        </a:p>
      </dgm:t>
    </dgm:pt>
    <dgm:pt modelId="{BD0E8BD2-611C-4772-B1F2-4DE78E056C42}">
      <dgm:prSet/>
      <dgm:spPr/>
      <dgm:t>
        <a:bodyPr/>
        <a:lstStyle/>
        <a:p>
          <a:r>
            <a:rPr lang="es-ES" dirty="0"/>
            <a:t>Multimedia, comunicación hombre-máquina</a:t>
          </a:r>
        </a:p>
      </dgm:t>
    </dgm:pt>
    <dgm:pt modelId="{10936CCD-892A-4CCE-AAA0-46D798CA41A0}" type="parTrans" cxnId="{981F5521-6E17-4DDA-9902-C57AFC53F928}">
      <dgm:prSet/>
      <dgm:spPr/>
      <dgm:t>
        <a:bodyPr/>
        <a:lstStyle/>
        <a:p>
          <a:endParaRPr lang="es-ES"/>
        </a:p>
      </dgm:t>
    </dgm:pt>
    <dgm:pt modelId="{5CAE1B7B-91CF-478B-9B1C-798F04237C5D}" type="sibTrans" cxnId="{981F5521-6E17-4DDA-9902-C57AFC53F928}">
      <dgm:prSet/>
      <dgm:spPr/>
      <dgm:t>
        <a:bodyPr/>
        <a:lstStyle/>
        <a:p>
          <a:endParaRPr lang="es-ES"/>
        </a:p>
      </dgm:t>
    </dgm:pt>
    <dgm:pt modelId="{C944322F-FED5-4CDF-BF76-A734C448483B}" type="pres">
      <dgm:prSet presAssocID="{756F7EC2-FBE2-4F14-BFF8-D82EBC6E3AC0}" presName="diagram" presStyleCnt="0">
        <dgm:presLayoutVars>
          <dgm:dir/>
          <dgm:resizeHandles val="exact"/>
        </dgm:presLayoutVars>
      </dgm:prSet>
      <dgm:spPr/>
    </dgm:pt>
    <dgm:pt modelId="{6F36FFC9-0121-4D5D-B797-F5477D084C4C}" type="pres">
      <dgm:prSet presAssocID="{5F3AF929-92FC-447B-B8E2-0BADFC41806A}" presName="node" presStyleLbl="node1" presStyleIdx="0" presStyleCnt="5">
        <dgm:presLayoutVars>
          <dgm:bulletEnabled val="1"/>
        </dgm:presLayoutVars>
      </dgm:prSet>
      <dgm:spPr/>
    </dgm:pt>
    <dgm:pt modelId="{96EDFCAD-E5C6-4905-8905-9BEF9E69D9CE}" type="pres">
      <dgm:prSet presAssocID="{08AA276C-AFDE-41AD-874C-7C5DF700A68D}" presName="sibTrans" presStyleCnt="0"/>
      <dgm:spPr/>
    </dgm:pt>
    <dgm:pt modelId="{286AE929-1F6C-43DC-A944-5C4634998FAE}" type="pres">
      <dgm:prSet presAssocID="{FAF09BD2-D838-4361-8658-5BC826F2CA7D}" presName="node" presStyleLbl="node1" presStyleIdx="1" presStyleCnt="5">
        <dgm:presLayoutVars>
          <dgm:bulletEnabled val="1"/>
        </dgm:presLayoutVars>
      </dgm:prSet>
      <dgm:spPr/>
    </dgm:pt>
    <dgm:pt modelId="{197B80BB-B7D1-4FF8-9D8C-E5A91ED06358}" type="pres">
      <dgm:prSet presAssocID="{2D906760-6BAD-4047-8DA1-3D45022B7BC5}" presName="sibTrans" presStyleCnt="0"/>
      <dgm:spPr/>
    </dgm:pt>
    <dgm:pt modelId="{CA440785-2A7A-4562-8C41-CAD9770ABE6A}" type="pres">
      <dgm:prSet presAssocID="{771F6E23-B555-439C-BFA3-28F300654639}" presName="node" presStyleLbl="node1" presStyleIdx="2" presStyleCnt="5">
        <dgm:presLayoutVars>
          <dgm:bulletEnabled val="1"/>
        </dgm:presLayoutVars>
      </dgm:prSet>
      <dgm:spPr/>
    </dgm:pt>
    <dgm:pt modelId="{78C57246-0DDB-4B12-A2D7-BC17A9E92B7A}" type="pres">
      <dgm:prSet presAssocID="{808CB5A5-4AAA-48C4-8E74-88D9FD6174BB}" presName="sibTrans" presStyleCnt="0"/>
      <dgm:spPr/>
    </dgm:pt>
    <dgm:pt modelId="{0355F5B8-E7D1-4BE5-8A98-70DAB3D95CE4}" type="pres">
      <dgm:prSet presAssocID="{3047A59B-68B9-4B6D-A4D8-6B54FCD703A5}" presName="node" presStyleLbl="node1" presStyleIdx="3" presStyleCnt="5">
        <dgm:presLayoutVars>
          <dgm:bulletEnabled val="1"/>
        </dgm:presLayoutVars>
      </dgm:prSet>
      <dgm:spPr/>
    </dgm:pt>
    <dgm:pt modelId="{6C0F2BE9-7FA2-4BF9-9F95-98A09C666ACA}" type="pres">
      <dgm:prSet presAssocID="{A17ADA3C-0F07-4905-813B-3B39505898E9}" presName="sibTrans" presStyleCnt="0"/>
      <dgm:spPr/>
    </dgm:pt>
    <dgm:pt modelId="{F9575EF2-7024-4F28-A617-1F94C0E28389}" type="pres">
      <dgm:prSet presAssocID="{BD0E8BD2-611C-4772-B1F2-4DE78E056C42}" presName="node" presStyleLbl="node1" presStyleIdx="4" presStyleCnt="5">
        <dgm:presLayoutVars>
          <dgm:bulletEnabled val="1"/>
        </dgm:presLayoutVars>
      </dgm:prSet>
      <dgm:spPr/>
    </dgm:pt>
  </dgm:ptLst>
  <dgm:cxnLst>
    <dgm:cxn modelId="{A5EBCD0F-973B-4EDE-8B5F-6092464CCF9C}" srcId="{756F7EC2-FBE2-4F14-BFF8-D82EBC6E3AC0}" destId="{5F3AF929-92FC-447B-B8E2-0BADFC41806A}" srcOrd="0" destOrd="0" parTransId="{B4E0BA68-6112-4716-A982-B2E1BED71381}" sibTransId="{08AA276C-AFDE-41AD-874C-7C5DF700A68D}"/>
    <dgm:cxn modelId="{9C35401C-164C-422B-A2C4-E2E810A8F5AC}" type="presOf" srcId="{771F6E23-B555-439C-BFA3-28F300654639}" destId="{CA440785-2A7A-4562-8C41-CAD9770ABE6A}" srcOrd="0" destOrd="0" presId="urn:microsoft.com/office/officeart/2005/8/layout/default"/>
    <dgm:cxn modelId="{981F5521-6E17-4DDA-9902-C57AFC53F928}" srcId="{756F7EC2-FBE2-4F14-BFF8-D82EBC6E3AC0}" destId="{BD0E8BD2-611C-4772-B1F2-4DE78E056C42}" srcOrd="4" destOrd="0" parTransId="{10936CCD-892A-4CCE-AAA0-46D798CA41A0}" sibTransId="{5CAE1B7B-91CF-478B-9B1C-798F04237C5D}"/>
    <dgm:cxn modelId="{3B140724-2EED-4E2A-9A1F-13D5564CBC86}" srcId="{756F7EC2-FBE2-4F14-BFF8-D82EBC6E3AC0}" destId="{FAF09BD2-D838-4361-8658-5BC826F2CA7D}" srcOrd="1" destOrd="0" parTransId="{DC86F89D-1E1D-487C-B5B8-A3D2F2722010}" sibTransId="{2D906760-6BAD-4047-8DA1-3D45022B7BC5}"/>
    <dgm:cxn modelId="{17E2B531-CF60-4041-AFB4-F00B4B7F3F82}" srcId="{756F7EC2-FBE2-4F14-BFF8-D82EBC6E3AC0}" destId="{771F6E23-B555-439C-BFA3-28F300654639}" srcOrd="2" destOrd="0" parTransId="{F5D70FB1-C3C4-4F1D-8D07-10F579A12917}" sibTransId="{808CB5A5-4AAA-48C4-8E74-88D9FD6174BB}"/>
    <dgm:cxn modelId="{F1109A3C-6E72-427B-99F9-6E1105E5D1F4}" srcId="{756F7EC2-FBE2-4F14-BFF8-D82EBC6E3AC0}" destId="{3047A59B-68B9-4B6D-A4D8-6B54FCD703A5}" srcOrd="3" destOrd="0" parTransId="{7BF56690-3A21-4B94-947F-5B47F145D307}" sibTransId="{A17ADA3C-0F07-4905-813B-3B39505898E9}"/>
    <dgm:cxn modelId="{2D728F61-744A-4FD1-958F-29A331A93E21}" type="presOf" srcId="{5F3AF929-92FC-447B-B8E2-0BADFC41806A}" destId="{6F36FFC9-0121-4D5D-B797-F5477D084C4C}" srcOrd="0" destOrd="0" presId="urn:microsoft.com/office/officeart/2005/8/layout/default"/>
    <dgm:cxn modelId="{ECB09942-F27A-462D-BF1D-22ECE1FCE2D7}" type="presOf" srcId="{FAF09BD2-D838-4361-8658-5BC826F2CA7D}" destId="{286AE929-1F6C-43DC-A944-5C4634998FAE}" srcOrd="0" destOrd="0" presId="urn:microsoft.com/office/officeart/2005/8/layout/default"/>
    <dgm:cxn modelId="{4D6EA180-4276-4C8B-A12B-29C72BA977C2}" type="presOf" srcId="{BD0E8BD2-611C-4772-B1F2-4DE78E056C42}" destId="{F9575EF2-7024-4F28-A617-1F94C0E28389}" srcOrd="0" destOrd="0" presId="urn:microsoft.com/office/officeart/2005/8/layout/default"/>
    <dgm:cxn modelId="{6AD5B6B0-8682-4ED6-A768-E799F3FC3560}" type="presOf" srcId="{3047A59B-68B9-4B6D-A4D8-6B54FCD703A5}" destId="{0355F5B8-E7D1-4BE5-8A98-70DAB3D95CE4}" srcOrd="0" destOrd="0" presId="urn:microsoft.com/office/officeart/2005/8/layout/default"/>
    <dgm:cxn modelId="{89B4CCC2-0123-40D2-AE1F-C414DF18D670}" type="presOf" srcId="{756F7EC2-FBE2-4F14-BFF8-D82EBC6E3AC0}" destId="{C944322F-FED5-4CDF-BF76-A734C448483B}" srcOrd="0" destOrd="0" presId="urn:microsoft.com/office/officeart/2005/8/layout/default"/>
    <dgm:cxn modelId="{F6B397D2-6987-4665-A53A-F2E46B3CF064}" type="presParOf" srcId="{C944322F-FED5-4CDF-BF76-A734C448483B}" destId="{6F36FFC9-0121-4D5D-B797-F5477D084C4C}" srcOrd="0" destOrd="0" presId="urn:microsoft.com/office/officeart/2005/8/layout/default"/>
    <dgm:cxn modelId="{62B023AD-867B-41ED-A93D-1B22DF2920EE}" type="presParOf" srcId="{C944322F-FED5-4CDF-BF76-A734C448483B}" destId="{96EDFCAD-E5C6-4905-8905-9BEF9E69D9CE}" srcOrd="1" destOrd="0" presId="urn:microsoft.com/office/officeart/2005/8/layout/default"/>
    <dgm:cxn modelId="{4C965CBD-FAD7-4D8E-9F51-AF81A7C96A69}" type="presParOf" srcId="{C944322F-FED5-4CDF-BF76-A734C448483B}" destId="{286AE929-1F6C-43DC-A944-5C4634998FAE}" srcOrd="2" destOrd="0" presId="urn:microsoft.com/office/officeart/2005/8/layout/default"/>
    <dgm:cxn modelId="{A97EFCB0-88E9-4036-B09A-9A256365A992}" type="presParOf" srcId="{C944322F-FED5-4CDF-BF76-A734C448483B}" destId="{197B80BB-B7D1-4FF8-9D8C-E5A91ED06358}" srcOrd="3" destOrd="0" presId="urn:microsoft.com/office/officeart/2005/8/layout/default"/>
    <dgm:cxn modelId="{1EEDE1FA-E289-4C89-8E71-5020F72147A1}" type="presParOf" srcId="{C944322F-FED5-4CDF-BF76-A734C448483B}" destId="{CA440785-2A7A-4562-8C41-CAD9770ABE6A}" srcOrd="4" destOrd="0" presId="urn:microsoft.com/office/officeart/2005/8/layout/default"/>
    <dgm:cxn modelId="{4808B66A-B691-442E-A0DB-635E0347BFD7}" type="presParOf" srcId="{C944322F-FED5-4CDF-BF76-A734C448483B}" destId="{78C57246-0DDB-4B12-A2D7-BC17A9E92B7A}" srcOrd="5" destOrd="0" presId="urn:microsoft.com/office/officeart/2005/8/layout/default"/>
    <dgm:cxn modelId="{AE333442-4696-44C6-AF30-86ECE4B8AAE1}" type="presParOf" srcId="{C944322F-FED5-4CDF-BF76-A734C448483B}" destId="{0355F5B8-E7D1-4BE5-8A98-70DAB3D95CE4}" srcOrd="6" destOrd="0" presId="urn:microsoft.com/office/officeart/2005/8/layout/default"/>
    <dgm:cxn modelId="{1B705F98-EF1A-43D0-9D07-F8ACA400DCF3}" type="presParOf" srcId="{C944322F-FED5-4CDF-BF76-A734C448483B}" destId="{6C0F2BE9-7FA2-4BF9-9F95-98A09C666ACA}" srcOrd="7" destOrd="0" presId="urn:microsoft.com/office/officeart/2005/8/layout/default"/>
    <dgm:cxn modelId="{D77BAF00-70E0-497F-B96C-CFDF85A23FD9}" type="presParOf" srcId="{C944322F-FED5-4CDF-BF76-A734C448483B}" destId="{F9575EF2-7024-4F28-A617-1F94C0E28389}"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36FFC9-0121-4D5D-B797-F5477D084C4C}">
      <dsp:nvSpPr>
        <dsp:cNvPr id="0" name=""/>
        <dsp:cNvSpPr/>
      </dsp:nvSpPr>
      <dsp:spPr>
        <a:xfrm>
          <a:off x="323765" y="676"/>
          <a:ext cx="2553093" cy="1531856"/>
        </a:xfrm>
        <a:prstGeom prst="rect">
          <a:avLst/>
        </a:prstGeom>
        <a:solidFill>
          <a:schemeClr val="lt1">
            <a:hueOff val="0"/>
            <a:satOff val="0"/>
            <a:lumOff val="0"/>
            <a:alphaOff val="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s-ES" sz="2300" kern="1200" dirty="0"/>
            <a:t>En el servicio de telecomunicaciones</a:t>
          </a:r>
        </a:p>
      </dsp:txBody>
      <dsp:txXfrm>
        <a:off x="323765" y="676"/>
        <a:ext cx="2553093" cy="1531856"/>
      </dsp:txXfrm>
    </dsp:sp>
    <dsp:sp modelId="{286AE929-1F6C-43DC-A944-5C4634998FAE}">
      <dsp:nvSpPr>
        <dsp:cNvPr id="0" name=""/>
        <dsp:cNvSpPr/>
      </dsp:nvSpPr>
      <dsp:spPr>
        <a:xfrm>
          <a:off x="3132168" y="676"/>
          <a:ext cx="2553093" cy="1531856"/>
        </a:xfrm>
        <a:prstGeom prst="rect">
          <a:avLst/>
        </a:prstGeom>
        <a:solidFill>
          <a:schemeClr val="lt1">
            <a:hueOff val="0"/>
            <a:satOff val="0"/>
            <a:lumOff val="0"/>
            <a:alphaOff val="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s-ES" sz="2300" kern="1200" dirty="0"/>
            <a:t>Ayuda a las discapacidades</a:t>
          </a:r>
        </a:p>
      </dsp:txBody>
      <dsp:txXfrm>
        <a:off x="3132168" y="676"/>
        <a:ext cx="2553093" cy="1531856"/>
      </dsp:txXfrm>
    </dsp:sp>
    <dsp:sp modelId="{CA440785-2A7A-4562-8C41-CAD9770ABE6A}">
      <dsp:nvSpPr>
        <dsp:cNvPr id="0" name=""/>
        <dsp:cNvSpPr/>
      </dsp:nvSpPr>
      <dsp:spPr>
        <a:xfrm>
          <a:off x="5940571" y="676"/>
          <a:ext cx="2553093" cy="1531856"/>
        </a:xfrm>
        <a:prstGeom prst="rect">
          <a:avLst/>
        </a:prstGeom>
        <a:solidFill>
          <a:schemeClr val="lt1">
            <a:hueOff val="0"/>
            <a:satOff val="0"/>
            <a:lumOff val="0"/>
            <a:alphaOff val="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s-ES" sz="2300" kern="1200" dirty="0"/>
            <a:t>Monitoreo vocal</a:t>
          </a:r>
        </a:p>
      </dsp:txBody>
      <dsp:txXfrm>
        <a:off x="5940571" y="676"/>
        <a:ext cx="2553093" cy="1531856"/>
      </dsp:txXfrm>
    </dsp:sp>
    <dsp:sp modelId="{0355F5B8-E7D1-4BE5-8A98-70DAB3D95CE4}">
      <dsp:nvSpPr>
        <dsp:cNvPr id="0" name=""/>
        <dsp:cNvSpPr/>
      </dsp:nvSpPr>
      <dsp:spPr>
        <a:xfrm>
          <a:off x="1727966" y="1787841"/>
          <a:ext cx="2553093" cy="1531856"/>
        </a:xfrm>
        <a:prstGeom prst="rect">
          <a:avLst/>
        </a:prstGeom>
        <a:solidFill>
          <a:schemeClr val="lt1">
            <a:hueOff val="0"/>
            <a:satOff val="0"/>
            <a:lumOff val="0"/>
            <a:alphaOff val="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s-ES" sz="2300" kern="1200" dirty="0"/>
            <a:t>Sistemas complejos de respuesta de voz interactiva</a:t>
          </a:r>
        </a:p>
      </dsp:txBody>
      <dsp:txXfrm>
        <a:off x="1727966" y="1787841"/>
        <a:ext cx="2553093" cy="1531856"/>
      </dsp:txXfrm>
    </dsp:sp>
    <dsp:sp modelId="{F9575EF2-7024-4F28-A617-1F94C0E28389}">
      <dsp:nvSpPr>
        <dsp:cNvPr id="0" name=""/>
        <dsp:cNvSpPr/>
      </dsp:nvSpPr>
      <dsp:spPr>
        <a:xfrm>
          <a:off x="4536369" y="1787841"/>
          <a:ext cx="2553093" cy="1531856"/>
        </a:xfrm>
        <a:prstGeom prst="rect">
          <a:avLst/>
        </a:prstGeom>
        <a:solidFill>
          <a:schemeClr val="lt1">
            <a:hueOff val="0"/>
            <a:satOff val="0"/>
            <a:lumOff val="0"/>
            <a:alphaOff val="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s-ES" sz="2300" kern="1200" dirty="0"/>
            <a:t>Multimedia, comunicación hombre-máquina</a:t>
          </a:r>
        </a:p>
      </dsp:txBody>
      <dsp:txXfrm>
        <a:off x="4536369" y="1787841"/>
        <a:ext cx="2553093" cy="1531856"/>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66C64CEC-EAFC-4F3E-9D33-CF71373FFF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0047B464-9F12-4132-AB18-EF6949F7F47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F49A0C4-19E3-4CB7-A0CE-A591ABBE3C4D}" type="datetime1">
              <a:rPr lang="es-ES" smtClean="0"/>
              <a:t>09/04/2024</a:t>
            </a:fld>
            <a:endParaRPr lang="es-ES"/>
          </a:p>
        </p:txBody>
      </p:sp>
      <p:sp>
        <p:nvSpPr>
          <p:cNvPr id="4" name="Marcador de pie de página 3">
            <a:extLst>
              <a:ext uri="{FF2B5EF4-FFF2-40B4-BE49-F238E27FC236}">
                <a16:creationId xmlns:a16="http://schemas.microsoft.com/office/drawing/2014/main" id="{1BA083B1-3BC2-484E-AFAD-070AE8A317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826AA960-F8D2-4942-80CF-768EF78ED99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52BC2BC-E3B0-4EB8-B491-5C1109F9CB2E}" type="slidenum">
              <a:rPr lang="es-ES" smtClean="0"/>
              <a:t>‹Nº›</a:t>
            </a:fld>
            <a:endParaRPr lang="es-ES"/>
          </a:p>
        </p:txBody>
      </p:sp>
    </p:spTree>
    <p:extLst>
      <p:ext uri="{BB962C8B-B14F-4D97-AF65-F5344CB8AC3E}">
        <p14:creationId xmlns:p14="http://schemas.microsoft.com/office/powerpoint/2010/main" val="172374206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a:p>
        </p:txBody>
      </p:sp>
      <p:sp>
        <p:nvSpPr>
          <p:cNvPr id="3" name="Marcador de posición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E803FFA6-7A9A-4C4D-A8DB-853C2EEDFE96}" type="datetime1">
              <a:rPr lang="es-ES" noProof="0" smtClean="0"/>
              <a:t>09/04/2024</a:t>
            </a:fld>
            <a:endParaRPr lang="es-ES" noProof="0"/>
          </a:p>
        </p:txBody>
      </p:sp>
      <p:sp>
        <p:nvSpPr>
          <p:cNvPr id="4" name="Marcador de posición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275CD8D-B1D9-4658-A4F0-38CA8D83ED5D}" type="slidenum">
              <a:rPr lang="es-ES" noProof="0" smtClean="0"/>
              <a:t>‹Nº›</a:t>
            </a:fld>
            <a:endParaRPr lang="es-ES" noProof="0"/>
          </a:p>
        </p:txBody>
      </p:sp>
    </p:spTree>
    <p:extLst>
      <p:ext uri="{BB962C8B-B14F-4D97-AF65-F5344CB8AC3E}">
        <p14:creationId xmlns:p14="http://schemas.microsoft.com/office/powerpoint/2010/main" val="383098029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pPr rtl="0"/>
            <a:fld id="{A0CA0AF3-38EB-4C63-8219-1BB50E1DE642}" type="datetime1">
              <a:rPr lang="es-ES" noProof="0" smtClean="0"/>
              <a:t>09/04/2024</a:t>
            </a:fld>
            <a:endParaRPr lang="es-ES" noProof="0"/>
          </a:p>
        </p:txBody>
      </p:sp>
      <p:sp>
        <p:nvSpPr>
          <p:cNvPr id="5" name="Footer Placeholder 4"/>
          <p:cNvSpPr>
            <a:spLocks noGrp="1"/>
          </p:cNvSpPr>
          <p:nvPr>
            <p:ph type="ftr" sz="quarter" idx="11"/>
          </p:nvPr>
        </p:nvSpPr>
        <p:spPr/>
        <p:txBody>
          <a:bodyPr/>
          <a:lstStyle/>
          <a:p>
            <a:pPr rtl="0"/>
            <a:endParaRPr lang="es-ES" noProof="0"/>
          </a:p>
        </p:txBody>
      </p:sp>
      <p:sp>
        <p:nvSpPr>
          <p:cNvPr id="6" name="Slide Number Placeholder 5"/>
          <p:cNvSpPr>
            <a:spLocks noGrp="1"/>
          </p:cNvSpPr>
          <p:nvPr>
            <p:ph type="sldNum" sz="quarter" idx="12"/>
          </p:nvPr>
        </p:nvSpPr>
        <p:spPr/>
        <p:txBody>
          <a:bodyPr/>
          <a:lstStyle/>
          <a:p>
            <a:pPr rtl="0"/>
            <a:fld id="{6D22F896-40B5-4ADD-8801-0D06FADFA095}" type="slidenum">
              <a:rPr lang="es-ES" noProof="0" smtClean="0"/>
              <a:t>‹Nº›</a:t>
            </a:fld>
            <a:endParaRPr lang="es-ES" noProof="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93074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rtl="0"/>
            <a:fld id="{1E95752A-3CB1-471B-A60A-70B55E468DDA}" type="datetime1">
              <a:rPr lang="es-ES" noProof="0" smtClean="0"/>
              <a:t>09/04/2024</a:t>
            </a:fld>
            <a:endParaRPr lang="es-ES" noProof="0" dirty="0"/>
          </a:p>
        </p:txBody>
      </p:sp>
      <p:sp>
        <p:nvSpPr>
          <p:cNvPr id="5" name="Footer Placeholder 4"/>
          <p:cNvSpPr>
            <a:spLocks noGrp="1"/>
          </p:cNvSpPr>
          <p:nvPr>
            <p:ph type="ftr" sz="quarter" idx="11"/>
          </p:nvPr>
        </p:nvSpPr>
        <p:spPr/>
        <p:txBody>
          <a:bodyPr/>
          <a:lstStyle/>
          <a:p>
            <a:pPr rtl="0"/>
            <a:endParaRPr lang="es-ES" noProof="0"/>
          </a:p>
        </p:txBody>
      </p:sp>
      <p:sp>
        <p:nvSpPr>
          <p:cNvPr id="6" name="Slide Number Placeholder 5"/>
          <p:cNvSpPr>
            <a:spLocks noGrp="1"/>
          </p:cNvSpPr>
          <p:nvPr>
            <p:ph type="sldNum" sz="quarter" idx="12"/>
          </p:nvPr>
        </p:nvSpPr>
        <p:spPr/>
        <p:txBody>
          <a:bodyPr/>
          <a:lstStyle/>
          <a:p>
            <a:pPr rtl="0"/>
            <a:fld id="{6D22F896-40B5-4ADD-8801-0D06FADFA095}" type="slidenum">
              <a:rPr lang="es-ES" noProof="0" smtClean="0"/>
              <a:pPr rtl="0"/>
              <a:t>‹Nº›</a:t>
            </a:fld>
            <a:endParaRPr lang="es-ES" noProof="0"/>
          </a:p>
        </p:txBody>
      </p:sp>
    </p:spTree>
    <p:extLst>
      <p:ext uri="{BB962C8B-B14F-4D97-AF65-F5344CB8AC3E}">
        <p14:creationId xmlns:p14="http://schemas.microsoft.com/office/powerpoint/2010/main" val="159892854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pPr rtl="0"/>
            <a:fld id="{BB54C683-0777-4D8C-AF75-A78D3205BAC8}" type="datetime1">
              <a:rPr lang="es-ES" noProof="0" smtClean="0"/>
              <a:t>09/04/2024</a:t>
            </a:fld>
            <a:endParaRPr lang="es-ES" noProof="0"/>
          </a:p>
        </p:txBody>
      </p:sp>
      <p:sp>
        <p:nvSpPr>
          <p:cNvPr id="5" name="Footer Placeholder 4"/>
          <p:cNvSpPr>
            <a:spLocks noGrp="1"/>
          </p:cNvSpPr>
          <p:nvPr>
            <p:ph type="ftr" sz="quarter" idx="11"/>
          </p:nvPr>
        </p:nvSpPr>
        <p:spPr/>
        <p:txBody>
          <a:bodyPr/>
          <a:lstStyle/>
          <a:p>
            <a:pPr rtl="0"/>
            <a:endParaRPr lang="es-ES" noProof="0"/>
          </a:p>
        </p:txBody>
      </p:sp>
      <p:sp>
        <p:nvSpPr>
          <p:cNvPr id="6" name="Slide Number Placeholder 5"/>
          <p:cNvSpPr>
            <a:spLocks noGrp="1"/>
          </p:cNvSpPr>
          <p:nvPr>
            <p:ph type="sldNum" sz="quarter" idx="12"/>
          </p:nvPr>
        </p:nvSpPr>
        <p:spPr/>
        <p:txBody>
          <a:bodyPr/>
          <a:lstStyle/>
          <a:p>
            <a:pPr rtl="0"/>
            <a:fld id="{6D22F896-40B5-4ADD-8801-0D06FADFA095}" type="slidenum">
              <a:rPr lang="es-ES" noProof="0" smtClean="0"/>
              <a:t>‹Nº›</a:t>
            </a:fld>
            <a:endParaRPr lang="es-ES" noProof="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32148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pPr rtl="0"/>
            <a:fld id="{62BBE8E3-4A21-45D7-A860-DFDA026419EC}" type="datetime1">
              <a:rPr lang="es-ES" noProof="0" smtClean="0"/>
              <a:t>09/04/2024</a:t>
            </a:fld>
            <a:endParaRPr lang="es-ES" noProof="0"/>
          </a:p>
        </p:txBody>
      </p:sp>
      <p:sp>
        <p:nvSpPr>
          <p:cNvPr id="6" name="Footer Placeholder 5"/>
          <p:cNvSpPr>
            <a:spLocks noGrp="1"/>
          </p:cNvSpPr>
          <p:nvPr>
            <p:ph type="ftr" sz="quarter" idx="11"/>
          </p:nvPr>
        </p:nvSpPr>
        <p:spPr/>
        <p:txBody>
          <a:bodyPr/>
          <a:lstStyle/>
          <a:p>
            <a:pPr rtl="0"/>
            <a:endParaRPr lang="es-ES" noProof="0"/>
          </a:p>
        </p:txBody>
      </p:sp>
      <p:sp>
        <p:nvSpPr>
          <p:cNvPr id="7" name="Slide Number Placeholder 6"/>
          <p:cNvSpPr>
            <a:spLocks noGrp="1"/>
          </p:cNvSpPr>
          <p:nvPr>
            <p:ph type="sldNum" sz="quarter" idx="12"/>
          </p:nvPr>
        </p:nvSpPr>
        <p:spPr/>
        <p:txBody>
          <a:bodyPr/>
          <a:lstStyle/>
          <a:p>
            <a:pPr rtl="0"/>
            <a:fld id="{6D22F896-40B5-4ADD-8801-0D06FADFA095}" type="slidenum">
              <a:rPr lang="es-ES" noProof="0" smtClean="0"/>
              <a:t>‹Nº›</a:t>
            </a:fld>
            <a:endParaRPr lang="es-ES" noProof="0"/>
          </a:p>
        </p:txBody>
      </p:sp>
    </p:spTree>
    <p:extLst>
      <p:ext uri="{BB962C8B-B14F-4D97-AF65-F5344CB8AC3E}">
        <p14:creationId xmlns:p14="http://schemas.microsoft.com/office/powerpoint/2010/main" val="3629970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9728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92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pPr rtl="0"/>
            <a:fld id="{8EFD387C-7178-4981-AEA8-6F8B6F75A91E}" type="datetime1">
              <a:rPr lang="es-ES" noProof="0" smtClean="0"/>
              <a:t>09/04/2024</a:t>
            </a:fld>
            <a:endParaRPr lang="es-ES" noProof="0"/>
          </a:p>
        </p:txBody>
      </p:sp>
      <p:sp>
        <p:nvSpPr>
          <p:cNvPr id="8" name="Footer Placeholder 7"/>
          <p:cNvSpPr>
            <a:spLocks noGrp="1"/>
          </p:cNvSpPr>
          <p:nvPr>
            <p:ph type="ftr" sz="quarter" idx="11"/>
          </p:nvPr>
        </p:nvSpPr>
        <p:spPr/>
        <p:txBody>
          <a:bodyPr/>
          <a:lstStyle/>
          <a:p>
            <a:pPr rtl="0"/>
            <a:endParaRPr lang="es-ES" noProof="0"/>
          </a:p>
        </p:txBody>
      </p:sp>
      <p:sp>
        <p:nvSpPr>
          <p:cNvPr id="9" name="Slide Number Placeholder 8"/>
          <p:cNvSpPr>
            <a:spLocks noGrp="1"/>
          </p:cNvSpPr>
          <p:nvPr>
            <p:ph type="sldNum" sz="quarter" idx="12"/>
          </p:nvPr>
        </p:nvSpPr>
        <p:spPr/>
        <p:txBody>
          <a:bodyPr/>
          <a:lstStyle/>
          <a:p>
            <a:pPr rtl="0"/>
            <a:fld id="{6D22F896-40B5-4ADD-8801-0D06FADFA095}" type="slidenum">
              <a:rPr lang="es-ES" noProof="0" smtClean="0"/>
              <a:t>‹Nº›</a:t>
            </a:fld>
            <a:endParaRPr lang="es-ES" noProof="0"/>
          </a:p>
        </p:txBody>
      </p:sp>
    </p:spTree>
    <p:extLst>
      <p:ext uri="{BB962C8B-B14F-4D97-AF65-F5344CB8AC3E}">
        <p14:creationId xmlns:p14="http://schemas.microsoft.com/office/powerpoint/2010/main" val="1361416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pPr rtl="0"/>
            <a:fld id="{F9E1022B-32BE-4FE1-92B8-C5149277BA50}" type="datetime1">
              <a:rPr lang="es-ES" noProof="0" smtClean="0"/>
              <a:t>09/04/2024</a:t>
            </a:fld>
            <a:endParaRPr lang="es-ES" noProof="0"/>
          </a:p>
        </p:txBody>
      </p:sp>
      <p:sp>
        <p:nvSpPr>
          <p:cNvPr id="4" name="Footer Placeholder 3"/>
          <p:cNvSpPr>
            <a:spLocks noGrp="1"/>
          </p:cNvSpPr>
          <p:nvPr>
            <p:ph type="ftr" sz="quarter" idx="11"/>
          </p:nvPr>
        </p:nvSpPr>
        <p:spPr/>
        <p:txBody>
          <a:bodyPr/>
          <a:lstStyle/>
          <a:p>
            <a:pPr rtl="0"/>
            <a:endParaRPr lang="es-ES" noProof="0"/>
          </a:p>
        </p:txBody>
      </p:sp>
      <p:sp>
        <p:nvSpPr>
          <p:cNvPr id="5" name="Slide Number Placeholder 4"/>
          <p:cNvSpPr>
            <a:spLocks noGrp="1"/>
          </p:cNvSpPr>
          <p:nvPr>
            <p:ph type="sldNum" sz="quarter" idx="12"/>
          </p:nvPr>
        </p:nvSpPr>
        <p:spPr/>
        <p:txBody>
          <a:bodyPr/>
          <a:lstStyle/>
          <a:p>
            <a:pPr rtl="0"/>
            <a:fld id="{6D22F896-40B5-4ADD-8801-0D06FADFA095}" type="slidenum">
              <a:rPr lang="es-ES" noProof="0" smtClean="0"/>
              <a:t>‹Nº›</a:t>
            </a:fld>
            <a:endParaRPr lang="es-ES" noProof="0"/>
          </a:p>
        </p:txBody>
      </p:sp>
    </p:spTree>
    <p:extLst>
      <p:ext uri="{BB962C8B-B14F-4D97-AF65-F5344CB8AC3E}">
        <p14:creationId xmlns:p14="http://schemas.microsoft.com/office/powerpoint/2010/main" val="4012184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rtl="0"/>
            <a:fld id="{2AD2895C-9724-44AD-A1CB-C4CD2333D14A}" type="datetime1">
              <a:rPr lang="es-ES" noProof="0" smtClean="0"/>
              <a:t>09/04/2024</a:t>
            </a:fld>
            <a:endParaRPr lang="es-ES" noProof="0"/>
          </a:p>
        </p:txBody>
      </p:sp>
      <p:sp>
        <p:nvSpPr>
          <p:cNvPr id="8" name="Footer Placeholder 7"/>
          <p:cNvSpPr>
            <a:spLocks noGrp="1"/>
          </p:cNvSpPr>
          <p:nvPr>
            <p:ph type="ftr" sz="quarter" idx="11"/>
          </p:nvPr>
        </p:nvSpPr>
        <p:spPr/>
        <p:txBody>
          <a:bodyPr/>
          <a:lstStyle>
            <a:lvl1pPr>
              <a:defRPr>
                <a:solidFill>
                  <a:srgbClr val="FFFFFF"/>
                </a:solidFill>
              </a:defRPr>
            </a:lvl1pPr>
          </a:lstStyle>
          <a:p>
            <a:pPr rtl="0"/>
            <a:endParaRPr lang="es-ES" noProof="0"/>
          </a:p>
        </p:txBody>
      </p:sp>
      <p:sp>
        <p:nvSpPr>
          <p:cNvPr id="9" name="Slide Number Placeholder 8"/>
          <p:cNvSpPr>
            <a:spLocks noGrp="1"/>
          </p:cNvSpPr>
          <p:nvPr>
            <p:ph type="sldNum" sz="quarter" idx="12"/>
          </p:nvPr>
        </p:nvSpPr>
        <p:spPr/>
        <p:txBody>
          <a:bodyPr/>
          <a:lstStyle/>
          <a:p>
            <a:pPr rtl="0"/>
            <a:fld id="{6D22F896-40B5-4ADD-8801-0D06FADFA095}" type="slidenum">
              <a:rPr lang="es-ES" noProof="0" smtClean="0"/>
              <a:t>‹Nº›</a:t>
            </a:fld>
            <a:endParaRPr lang="es-ES" noProof="0"/>
          </a:p>
        </p:txBody>
      </p:sp>
    </p:spTree>
    <p:extLst>
      <p:ext uri="{BB962C8B-B14F-4D97-AF65-F5344CB8AC3E}">
        <p14:creationId xmlns:p14="http://schemas.microsoft.com/office/powerpoint/2010/main" val="1296920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pPr rtl="0"/>
            <a:fld id="{EB4771A7-61FB-45DE-8598-173673CE36D3}" type="datetime1">
              <a:rPr lang="es-ES" noProof="0" smtClean="0"/>
              <a:t>09/04/2024</a:t>
            </a:fld>
            <a:endParaRPr lang="es-ES" noProof="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pPr rtl="0"/>
            <a:endParaRPr lang="es-ES" noProof="0"/>
          </a:p>
        </p:txBody>
      </p:sp>
      <p:sp>
        <p:nvSpPr>
          <p:cNvPr id="7" name="Slide Number Placeholder 6"/>
          <p:cNvSpPr>
            <a:spLocks noGrp="1"/>
          </p:cNvSpPr>
          <p:nvPr>
            <p:ph type="sldNum" sz="quarter" idx="12"/>
          </p:nvPr>
        </p:nvSpPr>
        <p:spPr/>
        <p:txBody>
          <a:bodyPr/>
          <a:lstStyle>
            <a:lvl1pPr>
              <a:defRPr>
                <a:solidFill>
                  <a:schemeClr val="tx2"/>
                </a:solidFill>
              </a:defRPr>
            </a:lvl1pPr>
          </a:lstStyle>
          <a:p>
            <a:pPr rtl="0"/>
            <a:fld id="{6D22F896-40B5-4ADD-8801-0D06FADFA095}" type="slidenum">
              <a:rPr lang="es-ES" noProof="0" smtClean="0"/>
              <a:t>‹Nº›</a:t>
            </a:fld>
            <a:endParaRPr lang="es-ES" noProof="0"/>
          </a:p>
        </p:txBody>
      </p:sp>
    </p:spTree>
    <p:extLst>
      <p:ext uri="{BB962C8B-B14F-4D97-AF65-F5344CB8AC3E}">
        <p14:creationId xmlns:p14="http://schemas.microsoft.com/office/powerpoint/2010/main" val="37007288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pPr rtl="0"/>
            <a:fld id="{1E95752A-3CB1-471B-A60A-70B55E468DDA}" type="datetime1">
              <a:rPr lang="es-ES" noProof="0" smtClean="0"/>
              <a:t>09/04/2024</a:t>
            </a:fld>
            <a:endParaRPr lang="es-ES" noProof="0" dirty="0"/>
          </a:p>
        </p:txBody>
      </p:sp>
      <p:sp>
        <p:nvSpPr>
          <p:cNvPr id="6" name="Footer Placeholder 5"/>
          <p:cNvSpPr>
            <a:spLocks noGrp="1"/>
          </p:cNvSpPr>
          <p:nvPr>
            <p:ph type="ftr" sz="quarter" idx="11"/>
          </p:nvPr>
        </p:nvSpPr>
        <p:spPr/>
        <p:txBody>
          <a:bodyPr/>
          <a:lstStyle/>
          <a:p>
            <a:pPr rtl="0"/>
            <a:endParaRPr lang="es-ES" noProof="0"/>
          </a:p>
        </p:txBody>
      </p:sp>
      <p:sp>
        <p:nvSpPr>
          <p:cNvPr id="7" name="Slide Number Placeholder 6"/>
          <p:cNvSpPr>
            <a:spLocks noGrp="1"/>
          </p:cNvSpPr>
          <p:nvPr>
            <p:ph type="sldNum" sz="quarter" idx="12"/>
          </p:nvPr>
        </p:nvSpPr>
        <p:spPr/>
        <p:txBody>
          <a:bodyPr/>
          <a:lstStyle/>
          <a:p>
            <a:pPr rtl="0"/>
            <a:fld id="{6D22F896-40B5-4ADD-8801-0D06FADFA095}" type="slidenum">
              <a:rPr lang="es-ES" noProof="0" smtClean="0"/>
              <a:pPr rtl="0"/>
              <a:t>‹Nº›</a:t>
            </a:fld>
            <a:endParaRPr lang="es-ES" noProof="0"/>
          </a:p>
        </p:txBody>
      </p:sp>
    </p:spTree>
    <p:extLst>
      <p:ext uri="{BB962C8B-B14F-4D97-AF65-F5344CB8AC3E}">
        <p14:creationId xmlns:p14="http://schemas.microsoft.com/office/powerpoint/2010/main" val="13139838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rtl="0"/>
            <a:fld id="{B95345DB-BC09-4F2D-A950-B5824E6179D5}" type="datetime1">
              <a:rPr lang="es-ES" noProof="0" smtClean="0"/>
              <a:t>09/04/2024</a:t>
            </a:fld>
            <a:endParaRPr lang="es-ES" noProof="0"/>
          </a:p>
        </p:txBody>
      </p:sp>
      <p:sp>
        <p:nvSpPr>
          <p:cNvPr id="5" name="Footer Placeholder 4"/>
          <p:cNvSpPr>
            <a:spLocks noGrp="1"/>
          </p:cNvSpPr>
          <p:nvPr>
            <p:ph type="ftr" sz="quarter" idx="11"/>
          </p:nvPr>
        </p:nvSpPr>
        <p:spPr/>
        <p:txBody>
          <a:bodyPr/>
          <a:lstStyle/>
          <a:p>
            <a:pPr rtl="0"/>
            <a:endParaRPr lang="es-ES" noProof="0"/>
          </a:p>
        </p:txBody>
      </p:sp>
      <p:sp>
        <p:nvSpPr>
          <p:cNvPr id="6" name="Slide Number Placeholder 5"/>
          <p:cNvSpPr>
            <a:spLocks noGrp="1"/>
          </p:cNvSpPr>
          <p:nvPr>
            <p:ph type="sldNum" sz="quarter" idx="12"/>
          </p:nvPr>
        </p:nvSpPr>
        <p:spPr/>
        <p:txBody>
          <a:bodyPr/>
          <a:lstStyle/>
          <a:p>
            <a:pPr rtl="0"/>
            <a:fld id="{6D22F896-40B5-4ADD-8801-0D06FADFA095}" type="slidenum">
              <a:rPr lang="es-ES" noProof="0" smtClean="0"/>
              <a:t>‹Nº›</a:t>
            </a:fld>
            <a:endParaRPr lang="es-ES" noProof="0"/>
          </a:p>
        </p:txBody>
      </p:sp>
    </p:spTree>
    <p:extLst>
      <p:ext uri="{BB962C8B-B14F-4D97-AF65-F5344CB8AC3E}">
        <p14:creationId xmlns:p14="http://schemas.microsoft.com/office/powerpoint/2010/main" val="2732249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rtl="0"/>
            <a:fld id="{20DB2A24-9D58-4203-8723-A461A06D087E}" type="datetime1">
              <a:rPr lang="es-ES" noProof="0" smtClean="0"/>
              <a:t>09/04/2024</a:t>
            </a:fld>
            <a:endParaRPr lang="es-ES" noProof="0"/>
          </a:p>
        </p:txBody>
      </p:sp>
      <p:sp>
        <p:nvSpPr>
          <p:cNvPr id="5" name="Footer Placeholder 4"/>
          <p:cNvSpPr>
            <a:spLocks noGrp="1"/>
          </p:cNvSpPr>
          <p:nvPr>
            <p:ph type="ftr" sz="quarter" idx="11"/>
          </p:nvPr>
        </p:nvSpPr>
        <p:spPr/>
        <p:txBody>
          <a:bodyPr/>
          <a:lstStyle/>
          <a:p>
            <a:pPr rtl="0"/>
            <a:endParaRPr lang="es-ES" noProof="0"/>
          </a:p>
        </p:txBody>
      </p:sp>
      <p:sp>
        <p:nvSpPr>
          <p:cNvPr id="6" name="Slide Number Placeholder 5"/>
          <p:cNvSpPr>
            <a:spLocks noGrp="1"/>
          </p:cNvSpPr>
          <p:nvPr>
            <p:ph type="sldNum" sz="quarter" idx="12"/>
          </p:nvPr>
        </p:nvSpPr>
        <p:spPr/>
        <p:txBody>
          <a:bodyPr/>
          <a:lstStyle/>
          <a:p>
            <a:pPr rtl="0"/>
            <a:fld id="{6D22F896-40B5-4ADD-8801-0D06FADFA095}" type="slidenum">
              <a:rPr lang="es-ES" noProof="0" smtClean="0"/>
              <a:t>‹Nº›</a:t>
            </a:fld>
            <a:endParaRPr lang="es-ES" noProof="0"/>
          </a:p>
        </p:txBody>
      </p:sp>
    </p:spTree>
    <p:extLst>
      <p:ext uri="{BB962C8B-B14F-4D97-AF65-F5344CB8AC3E}">
        <p14:creationId xmlns:p14="http://schemas.microsoft.com/office/powerpoint/2010/main" val="3760924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pPr rtl="0"/>
            <a:fld id="{1E95752A-3CB1-471B-A60A-70B55E468DDA}" type="datetime1">
              <a:rPr lang="es-ES" noProof="0" smtClean="0"/>
              <a:t>09/04/2024</a:t>
            </a:fld>
            <a:endParaRPr lang="es-ES" noProof="0"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pPr rtl="0"/>
            <a:endParaRPr lang="es-ES" noProof="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pPr rtl="0"/>
            <a:fld id="{6D22F896-40B5-4ADD-8801-0D06FADFA095}" type="slidenum">
              <a:rPr lang="es-ES" noProof="0" smtClean="0"/>
              <a:pPr rtl="0"/>
              <a:t>‹Nº›</a:t>
            </a:fld>
            <a:endParaRPr lang="es-ES" noProof="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2788632"/>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7AE9B3-A44F-4459-B96C-D89E0F4E4E18}"/>
              </a:ext>
            </a:extLst>
          </p:cNvPr>
          <p:cNvSpPr>
            <a:spLocks noGrp="1"/>
          </p:cNvSpPr>
          <p:nvPr>
            <p:ph type="ctrTitle"/>
          </p:nvPr>
        </p:nvSpPr>
        <p:spPr/>
        <p:txBody>
          <a:bodyPr/>
          <a:lstStyle/>
          <a:p>
            <a:r>
              <a:rPr lang="es-ES" dirty="0"/>
              <a:t>Uso de redes neuronales en la síntesis del habla</a:t>
            </a:r>
          </a:p>
        </p:txBody>
      </p:sp>
      <p:sp>
        <p:nvSpPr>
          <p:cNvPr id="3" name="Subtítulo 2">
            <a:extLst>
              <a:ext uri="{FF2B5EF4-FFF2-40B4-BE49-F238E27FC236}">
                <a16:creationId xmlns:a16="http://schemas.microsoft.com/office/drawing/2014/main" id="{A903CDBE-837A-417E-8CED-A3C773389F53}"/>
              </a:ext>
            </a:extLst>
          </p:cNvPr>
          <p:cNvSpPr>
            <a:spLocks noGrp="1"/>
          </p:cNvSpPr>
          <p:nvPr>
            <p:ph type="subTitle" idx="1"/>
          </p:nvPr>
        </p:nvSpPr>
        <p:spPr/>
        <p:txBody>
          <a:bodyPr/>
          <a:lstStyle/>
          <a:p>
            <a:r>
              <a:rPr lang="es-ES" dirty="0"/>
              <a:t>Trabajo Final de tecnologías del habla</a:t>
            </a:r>
          </a:p>
        </p:txBody>
      </p:sp>
      <p:sp>
        <p:nvSpPr>
          <p:cNvPr id="4" name="CuadroTexto 3">
            <a:extLst>
              <a:ext uri="{FF2B5EF4-FFF2-40B4-BE49-F238E27FC236}">
                <a16:creationId xmlns:a16="http://schemas.microsoft.com/office/drawing/2014/main" id="{CD60A14F-AE15-47D7-9185-05D1EA14C541}"/>
              </a:ext>
            </a:extLst>
          </p:cNvPr>
          <p:cNvSpPr txBox="1"/>
          <p:nvPr/>
        </p:nvSpPr>
        <p:spPr>
          <a:xfrm>
            <a:off x="1097280" y="5829300"/>
            <a:ext cx="2372541" cy="369332"/>
          </a:xfrm>
          <a:prstGeom prst="rect">
            <a:avLst/>
          </a:prstGeom>
          <a:noFill/>
        </p:spPr>
        <p:txBody>
          <a:bodyPr wrap="square" rtlCol="0">
            <a:spAutoFit/>
          </a:bodyPr>
          <a:lstStyle/>
          <a:p>
            <a:r>
              <a:rPr lang="es-ES" dirty="0"/>
              <a:t>Arlet Acosta González</a:t>
            </a:r>
          </a:p>
        </p:txBody>
      </p:sp>
      <p:pic>
        <p:nvPicPr>
          <p:cNvPr id="6" name="Imagen 5">
            <a:extLst>
              <a:ext uri="{FF2B5EF4-FFF2-40B4-BE49-F238E27FC236}">
                <a16:creationId xmlns:a16="http://schemas.microsoft.com/office/drawing/2014/main" id="{E0DBF313-8CBF-43A7-A7AE-4C00AE11A157}"/>
              </a:ext>
            </a:extLst>
          </p:cNvPr>
          <p:cNvPicPr>
            <a:picLocks noChangeAspect="1"/>
          </p:cNvPicPr>
          <p:nvPr/>
        </p:nvPicPr>
        <p:blipFill>
          <a:blip r:embed="rId2"/>
          <a:stretch>
            <a:fillRect/>
          </a:stretch>
        </p:blipFill>
        <p:spPr>
          <a:xfrm>
            <a:off x="9691640" y="200070"/>
            <a:ext cx="2372541" cy="656403"/>
          </a:xfrm>
          <a:prstGeom prst="rect">
            <a:avLst/>
          </a:prstGeom>
        </p:spPr>
      </p:pic>
      <p:sp>
        <p:nvSpPr>
          <p:cNvPr id="7" name="CuadroTexto 6">
            <a:extLst>
              <a:ext uri="{FF2B5EF4-FFF2-40B4-BE49-F238E27FC236}">
                <a16:creationId xmlns:a16="http://schemas.microsoft.com/office/drawing/2014/main" id="{4895F787-8C9D-4F42-8834-0958422D2189}"/>
              </a:ext>
            </a:extLst>
          </p:cNvPr>
          <p:cNvSpPr txBox="1"/>
          <p:nvPr/>
        </p:nvSpPr>
        <p:spPr>
          <a:xfrm>
            <a:off x="8967020" y="5924214"/>
            <a:ext cx="3224980" cy="369332"/>
          </a:xfrm>
          <a:prstGeom prst="rect">
            <a:avLst/>
          </a:prstGeom>
          <a:noFill/>
        </p:spPr>
        <p:txBody>
          <a:bodyPr wrap="square" rtlCol="0">
            <a:spAutoFit/>
          </a:bodyPr>
          <a:lstStyle/>
          <a:p>
            <a:r>
              <a:rPr lang="es-ES" dirty="0"/>
              <a:t>Máster en Sistemas Inteligentes</a:t>
            </a:r>
          </a:p>
        </p:txBody>
      </p:sp>
    </p:spTree>
    <p:extLst>
      <p:ext uri="{BB962C8B-B14F-4D97-AF65-F5344CB8AC3E}">
        <p14:creationId xmlns:p14="http://schemas.microsoft.com/office/powerpoint/2010/main" val="3025486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CD1C5AE7-9D07-4C3D-B060-B326CADCBF54}"/>
              </a:ext>
            </a:extLst>
          </p:cNvPr>
          <p:cNvSpPr/>
          <p:nvPr/>
        </p:nvSpPr>
        <p:spPr>
          <a:xfrm>
            <a:off x="3840897" y="340963"/>
            <a:ext cx="3748206" cy="923330"/>
          </a:xfrm>
          <a:prstGeom prst="rect">
            <a:avLst/>
          </a:prstGeom>
          <a:noFill/>
        </p:spPr>
        <p:txBody>
          <a:bodyPr wrap="none" lIns="91440" tIns="45720" rIns="91440" bIns="45720">
            <a:spAutoFit/>
          </a:bodyPr>
          <a:lstStyle/>
          <a:p>
            <a:pPr algn="ctr"/>
            <a:r>
              <a:rPr lang="es-ES" sz="5400" dirty="0">
                <a:ln w="0"/>
                <a:effectLst>
                  <a:outerShdw blurRad="38100" dist="19050" dir="2700000" algn="tl" rotWithShape="0">
                    <a:schemeClr val="dk1">
                      <a:alpha val="40000"/>
                    </a:schemeClr>
                  </a:outerShdw>
                </a:effectLst>
              </a:rPr>
              <a:t>Introducción</a:t>
            </a:r>
          </a:p>
        </p:txBody>
      </p:sp>
      <p:sp>
        <p:nvSpPr>
          <p:cNvPr id="4" name="CuadroTexto 3">
            <a:extLst>
              <a:ext uri="{FF2B5EF4-FFF2-40B4-BE49-F238E27FC236}">
                <a16:creationId xmlns:a16="http://schemas.microsoft.com/office/drawing/2014/main" id="{FEB7791F-28E6-44FD-88D7-7BADA5BD504C}"/>
              </a:ext>
            </a:extLst>
          </p:cNvPr>
          <p:cNvSpPr txBox="1"/>
          <p:nvPr/>
        </p:nvSpPr>
        <p:spPr>
          <a:xfrm>
            <a:off x="474306" y="1637734"/>
            <a:ext cx="11243388" cy="2323713"/>
          </a:xfrm>
          <a:prstGeom prst="rect">
            <a:avLst/>
          </a:prstGeom>
          <a:noFill/>
        </p:spPr>
        <p:txBody>
          <a:bodyPr wrap="square">
            <a:spAutoFit/>
          </a:bodyPr>
          <a:lstStyle/>
          <a:p>
            <a:pPr algn="just">
              <a:lnSpc>
                <a:spcPct val="150000"/>
              </a:lnSpc>
              <a:spcAft>
                <a:spcPts val="800"/>
              </a:spcAft>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El uso de </a:t>
            </a:r>
            <a:r>
              <a:rPr lang="es-ES" sz="1800" dirty="0" err="1">
                <a:effectLst/>
                <a:latin typeface="Arial" panose="020B0604020202020204" pitchFamily="34" charset="0"/>
                <a:ea typeface="Times New Roman" panose="02020603050405020304" pitchFamily="18" charset="0"/>
                <a:cs typeface="Times New Roman" panose="02020603050405020304" pitchFamily="18" charset="0"/>
              </a:rPr>
              <a:t>RNs</a:t>
            </a:r>
            <a:r>
              <a:rPr lang="es-ES" sz="1800" dirty="0">
                <a:effectLst/>
                <a:latin typeface="Arial" panose="020B0604020202020204" pitchFamily="34" charset="0"/>
                <a:ea typeface="Times New Roman" panose="02020603050405020304" pitchFamily="18" charset="0"/>
                <a:cs typeface="Times New Roman" panose="02020603050405020304" pitchFamily="18" charset="0"/>
              </a:rPr>
              <a:t> en la síntesis del habla ha revolucionado el campo y ha permitido generar habla sintética de alta calidad y naturalidad en una amplia variedad de idiomas y acentos</a:t>
            </a:r>
            <a:r>
              <a:rPr lang="es-ES" dirty="0">
                <a:latin typeface="Arial" panose="020B0604020202020204" pitchFamily="34" charset="0"/>
                <a:ea typeface="Times New Roman" panose="02020603050405020304" pitchFamily="18" charset="0"/>
                <a:cs typeface="Times New Roman" panose="02020603050405020304" pitchFamily="18" charset="0"/>
              </a:rPr>
              <a:t>. </a:t>
            </a:r>
          </a:p>
          <a:p>
            <a:pPr algn="just">
              <a:lnSpc>
                <a:spcPct val="150000"/>
              </a:lnSpc>
              <a:spcAft>
                <a:spcPts val="800"/>
              </a:spcAft>
            </a:pPr>
            <a:r>
              <a:rPr lang="es-ES" dirty="0">
                <a:latin typeface="Arial" panose="020B0604020202020204" pitchFamily="34" charset="0"/>
                <a:ea typeface="Times New Roman" panose="02020603050405020304" pitchFamily="18" charset="0"/>
                <a:cs typeface="Times New Roman" panose="02020603050405020304" pitchFamily="18" charset="0"/>
              </a:rPr>
              <a:t>Las redes neuronales pueden aprender patrones complejos en grandes conjuntos de datos de habla y utilizarlos para sintetizar habla que suene como la de un ser humano. </a:t>
            </a:r>
          </a:p>
          <a:p>
            <a:pPr algn="just">
              <a:lnSpc>
                <a:spcPct val="150000"/>
              </a:lnSpc>
              <a:spcAft>
                <a:spcPts val="800"/>
              </a:spcAft>
            </a:pPr>
            <a:endParaRPr lang="es-ES" sz="1800" dirty="0">
              <a:effectLst/>
              <a:latin typeface="Arial" panose="020B06040202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9393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200D04D-BE72-48CC-9088-F630C99F8D42}"/>
              </a:ext>
            </a:extLst>
          </p:cNvPr>
          <p:cNvSpPr txBox="1"/>
          <p:nvPr/>
        </p:nvSpPr>
        <p:spPr>
          <a:xfrm>
            <a:off x="610961" y="1410763"/>
            <a:ext cx="10760528" cy="1287532"/>
          </a:xfrm>
          <a:prstGeom prst="rect">
            <a:avLst/>
          </a:prstGeom>
          <a:noFill/>
        </p:spPr>
        <p:txBody>
          <a:bodyPr wrap="square">
            <a:spAutoFit/>
          </a:bodyPr>
          <a:lstStyle/>
          <a:p>
            <a:pPr algn="just">
              <a:lnSpc>
                <a:spcPct val="150000"/>
              </a:lnSpc>
            </a:pPr>
            <a:r>
              <a:rPr lang="es-ES" dirty="0">
                <a:latin typeface="Arial" panose="020B0604020202020204" pitchFamily="34" charset="0"/>
                <a:cs typeface="Arial" panose="020B0604020202020204" pitchFamily="34" charset="0"/>
              </a:rPr>
              <a:t>La </a:t>
            </a:r>
            <a:r>
              <a:rPr lang="es-ES" b="1" dirty="0">
                <a:latin typeface="Arial" panose="020B0604020202020204" pitchFamily="34" charset="0"/>
                <a:cs typeface="Arial" panose="020B0604020202020204" pitchFamily="34" charset="0"/>
              </a:rPr>
              <a:t>síntesis de voz </a:t>
            </a:r>
            <a:r>
              <a:rPr lang="es-ES" dirty="0">
                <a:latin typeface="Arial" panose="020B0604020202020204" pitchFamily="34" charset="0"/>
                <a:cs typeface="Arial" panose="020B0604020202020204" pitchFamily="34" charset="0"/>
              </a:rPr>
              <a:t>es un proceso que genera artificialmente voz para diversas aplicaciones, disminuyendo la dependencia del uso de la voz grabada de una persona. Los métodos de síntesis de voz permiten que una máquina transmita instrucciones o información al usuario a través del "habla".</a:t>
            </a:r>
          </a:p>
        </p:txBody>
      </p:sp>
      <p:sp>
        <p:nvSpPr>
          <p:cNvPr id="5" name="CuadroTexto 4">
            <a:extLst>
              <a:ext uri="{FF2B5EF4-FFF2-40B4-BE49-F238E27FC236}">
                <a16:creationId xmlns:a16="http://schemas.microsoft.com/office/drawing/2014/main" id="{A0969B9B-8657-4941-A682-4A0166B0404E}"/>
              </a:ext>
            </a:extLst>
          </p:cNvPr>
          <p:cNvSpPr txBox="1"/>
          <p:nvPr/>
        </p:nvSpPr>
        <p:spPr>
          <a:xfrm>
            <a:off x="629623" y="3219531"/>
            <a:ext cx="10760528" cy="2125069"/>
          </a:xfrm>
          <a:prstGeom prst="rect">
            <a:avLst/>
          </a:prstGeom>
          <a:noFill/>
        </p:spPr>
        <p:txBody>
          <a:bodyPr wrap="square">
            <a:spAutoFit/>
          </a:bodyPr>
          <a:lstStyle/>
          <a:p>
            <a:pPr algn="just">
              <a:lnSpc>
                <a:spcPct val="150000"/>
              </a:lnSpc>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La investigación en TTS es un campo multidisciplinario:</a:t>
            </a:r>
          </a:p>
          <a:p>
            <a:pPr marL="285750" indent="-285750" algn="just">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la fonética acústica (producción y percepción del habla)</a:t>
            </a:r>
          </a:p>
          <a:p>
            <a:pPr marL="285750" indent="-285750" algn="just">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la morfología (pronunciación)  </a:t>
            </a:r>
          </a:p>
          <a:p>
            <a:pPr marL="285750" indent="-285750" algn="just">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la sintaxis (partes del habla, gramática), </a:t>
            </a:r>
          </a:p>
          <a:p>
            <a:pPr marL="285750" indent="-285750" algn="just">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el procesamiento de señales del habla (síntesis)</a:t>
            </a:r>
            <a:endParaRPr lang="es-ES" dirty="0"/>
          </a:p>
        </p:txBody>
      </p:sp>
      <p:sp>
        <p:nvSpPr>
          <p:cNvPr id="6" name="Rectángulo 5">
            <a:extLst>
              <a:ext uri="{FF2B5EF4-FFF2-40B4-BE49-F238E27FC236}">
                <a16:creationId xmlns:a16="http://schemas.microsoft.com/office/drawing/2014/main" id="{8B8B0000-C38C-4E48-9295-17C049798044}"/>
              </a:ext>
            </a:extLst>
          </p:cNvPr>
          <p:cNvSpPr/>
          <p:nvPr/>
        </p:nvSpPr>
        <p:spPr>
          <a:xfrm>
            <a:off x="610961" y="297524"/>
            <a:ext cx="5250861" cy="830997"/>
          </a:xfrm>
          <a:prstGeom prst="rect">
            <a:avLst/>
          </a:prstGeom>
          <a:noFill/>
        </p:spPr>
        <p:txBody>
          <a:bodyPr wrap="none" lIns="91440" tIns="45720" rIns="91440" bIns="45720">
            <a:spAutoFit/>
          </a:bodyPr>
          <a:lstStyle/>
          <a:p>
            <a:pPr algn="ctr"/>
            <a:r>
              <a:rPr lang="es-ES" sz="4800" b="0" cap="none" spc="0" dirty="0">
                <a:ln w="0"/>
                <a:solidFill>
                  <a:schemeClr val="tx1"/>
                </a:solidFill>
                <a:effectLst>
                  <a:outerShdw blurRad="38100" dist="19050" dir="2700000" algn="tl" rotWithShape="0">
                    <a:schemeClr val="dk1">
                      <a:alpha val="40000"/>
                    </a:schemeClr>
                  </a:outerShdw>
                </a:effectLst>
              </a:rPr>
              <a:t>Text </a:t>
            </a:r>
            <a:r>
              <a:rPr lang="es-ES" sz="4800" b="0" cap="none" spc="0" dirty="0" err="1">
                <a:ln w="0"/>
                <a:solidFill>
                  <a:schemeClr val="tx1"/>
                </a:solidFill>
                <a:effectLst>
                  <a:outerShdw blurRad="38100" dist="19050" dir="2700000" algn="tl" rotWithShape="0">
                    <a:schemeClr val="dk1">
                      <a:alpha val="40000"/>
                    </a:schemeClr>
                  </a:outerShdw>
                </a:effectLst>
              </a:rPr>
              <a:t>To</a:t>
            </a:r>
            <a:r>
              <a:rPr lang="es-ES" sz="4800" b="0" cap="none" spc="0" dirty="0">
                <a:ln w="0"/>
                <a:solidFill>
                  <a:schemeClr val="tx1"/>
                </a:solidFill>
                <a:effectLst>
                  <a:outerShdw blurRad="38100" dist="19050" dir="2700000" algn="tl" rotWithShape="0">
                    <a:schemeClr val="dk1">
                      <a:alpha val="40000"/>
                    </a:schemeClr>
                  </a:outerShdw>
                </a:effectLst>
              </a:rPr>
              <a:t> </a:t>
            </a:r>
            <a:r>
              <a:rPr lang="es-ES" sz="4800" b="0" cap="none" spc="0" dirty="0" err="1">
                <a:ln w="0"/>
                <a:solidFill>
                  <a:schemeClr val="tx1"/>
                </a:solidFill>
                <a:effectLst>
                  <a:outerShdw blurRad="38100" dist="19050" dir="2700000" algn="tl" rotWithShape="0">
                    <a:schemeClr val="dk1">
                      <a:alpha val="40000"/>
                    </a:schemeClr>
                  </a:outerShdw>
                </a:effectLst>
              </a:rPr>
              <a:t>Speech</a:t>
            </a:r>
            <a:r>
              <a:rPr lang="es-ES" sz="4800" b="0" cap="none" spc="0" dirty="0">
                <a:ln w="0"/>
                <a:solidFill>
                  <a:schemeClr val="tx1"/>
                </a:solidFill>
                <a:effectLst>
                  <a:outerShdw blurRad="38100" dist="19050" dir="2700000" algn="tl" rotWithShape="0">
                    <a:schemeClr val="dk1">
                      <a:alpha val="40000"/>
                    </a:schemeClr>
                  </a:outerShdw>
                </a:effectLst>
              </a:rPr>
              <a:t> (TTS)</a:t>
            </a:r>
          </a:p>
        </p:txBody>
      </p:sp>
    </p:spTree>
    <p:extLst>
      <p:ext uri="{BB962C8B-B14F-4D97-AF65-F5344CB8AC3E}">
        <p14:creationId xmlns:p14="http://schemas.microsoft.com/office/powerpoint/2010/main" val="1999046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0BAE9889-B6F0-48BA-87B8-81A6260285CD}"/>
              </a:ext>
            </a:extLst>
          </p:cNvPr>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l="39813" t="2299" r="17733" b="7666"/>
          <a:stretch/>
        </p:blipFill>
        <p:spPr bwMode="auto">
          <a:xfrm>
            <a:off x="60441" y="332714"/>
            <a:ext cx="3559694" cy="5890804"/>
          </a:xfrm>
          <a:prstGeom prst="rect">
            <a:avLst/>
          </a:prstGeom>
          <a:ln>
            <a:noFill/>
          </a:ln>
          <a:extLst>
            <a:ext uri="{53640926-AAD7-44D8-BBD7-CCE9431645EC}">
              <a14:shadowObscured xmlns:a14="http://schemas.microsoft.com/office/drawing/2010/main"/>
            </a:ext>
          </a:extLst>
        </p:spPr>
      </p:pic>
      <p:sp>
        <p:nvSpPr>
          <p:cNvPr id="4" name="CuadroTexto 3">
            <a:extLst>
              <a:ext uri="{FF2B5EF4-FFF2-40B4-BE49-F238E27FC236}">
                <a16:creationId xmlns:a16="http://schemas.microsoft.com/office/drawing/2014/main" id="{F6D9F655-E766-40FD-B4D7-73650108CFC6}"/>
              </a:ext>
            </a:extLst>
          </p:cNvPr>
          <p:cNvSpPr txBox="1"/>
          <p:nvPr/>
        </p:nvSpPr>
        <p:spPr>
          <a:xfrm>
            <a:off x="3613915" y="1327096"/>
            <a:ext cx="8439472" cy="369332"/>
          </a:xfrm>
          <a:prstGeom prst="rect">
            <a:avLst/>
          </a:prstGeom>
          <a:noFill/>
        </p:spPr>
        <p:txBody>
          <a:bodyPr wrap="square">
            <a:spAutoFit/>
          </a:bodyPr>
          <a:lstStyle/>
          <a:p>
            <a:pPr algn="just"/>
            <a:r>
              <a:rPr lang="es-ES" sz="1800" dirty="0">
                <a:effectLst/>
                <a:latin typeface="Arial" panose="020B0604020202020204" pitchFamily="34" charset="0"/>
                <a:ea typeface="Times New Roman" panose="02020603050405020304" pitchFamily="18" charset="0"/>
                <a:cs typeface="Times New Roman" panose="02020603050405020304" pitchFamily="18" charset="0"/>
              </a:rPr>
              <a:t>Consiste en la normalización del texto y el análisis lingüístico</a:t>
            </a:r>
            <a:endParaRPr lang="es-ES" dirty="0"/>
          </a:p>
        </p:txBody>
      </p:sp>
      <p:sp>
        <p:nvSpPr>
          <p:cNvPr id="6" name="CuadroTexto 5">
            <a:extLst>
              <a:ext uri="{FF2B5EF4-FFF2-40B4-BE49-F238E27FC236}">
                <a16:creationId xmlns:a16="http://schemas.microsoft.com/office/drawing/2014/main" id="{3502E598-1627-42CD-A2FF-F1F32A640A8C}"/>
              </a:ext>
            </a:extLst>
          </p:cNvPr>
          <p:cNvSpPr txBox="1"/>
          <p:nvPr/>
        </p:nvSpPr>
        <p:spPr>
          <a:xfrm>
            <a:off x="3559696" y="2378048"/>
            <a:ext cx="8439471" cy="369332"/>
          </a:xfrm>
          <a:prstGeom prst="rect">
            <a:avLst/>
          </a:prstGeom>
          <a:noFill/>
        </p:spPr>
        <p:txBody>
          <a:bodyPr wrap="square">
            <a:spAutoFit/>
          </a:bodyPr>
          <a:lstStyle/>
          <a:p>
            <a:pPr algn="just"/>
            <a:r>
              <a:rPr lang="es-ES" sz="1800" dirty="0">
                <a:effectLst/>
                <a:latin typeface="Arial" panose="020B0604020202020204" pitchFamily="34" charset="0"/>
                <a:ea typeface="Times New Roman" panose="02020603050405020304" pitchFamily="18" charset="0"/>
                <a:cs typeface="Times New Roman" panose="02020603050405020304" pitchFamily="18" charset="0"/>
              </a:rPr>
              <a:t>Convierte los símbolos ortográficos en fonológicos utilizando un alfabeto fonético. </a:t>
            </a:r>
            <a:endParaRPr lang="es-ES" dirty="0"/>
          </a:p>
        </p:txBody>
      </p:sp>
      <p:sp>
        <p:nvSpPr>
          <p:cNvPr id="8" name="CuadroTexto 7">
            <a:extLst>
              <a:ext uri="{FF2B5EF4-FFF2-40B4-BE49-F238E27FC236}">
                <a16:creationId xmlns:a16="http://schemas.microsoft.com/office/drawing/2014/main" id="{D6B1037E-010D-4A04-9762-4A4349CE5634}"/>
              </a:ext>
            </a:extLst>
          </p:cNvPr>
          <p:cNvSpPr txBox="1"/>
          <p:nvPr/>
        </p:nvSpPr>
        <p:spPr>
          <a:xfrm>
            <a:off x="3559695" y="3516584"/>
            <a:ext cx="8439471" cy="646331"/>
          </a:xfrm>
          <a:prstGeom prst="rect">
            <a:avLst/>
          </a:prstGeom>
          <a:noFill/>
        </p:spPr>
        <p:txBody>
          <a:bodyPr wrap="square">
            <a:spAutoFit/>
          </a:bodyPr>
          <a:lstStyle/>
          <a:p>
            <a:pPr algn="just"/>
            <a:r>
              <a:rPr lang="es-ES" sz="1800" dirty="0">
                <a:effectLst/>
                <a:latin typeface="Arial" panose="020B0604020202020204" pitchFamily="34" charset="0"/>
                <a:ea typeface="Times New Roman" panose="02020603050405020304" pitchFamily="18" charset="0"/>
                <a:cs typeface="Times New Roman" panose="02020603050405020304" pitchFamily="18" charset="0"/>
              </a:rPr>
              <a:t>Es un concepto que contiene el ritmo del habla, los patrones de acento y la entonación. </a:t>
            </a:r>
            <a:endParaRPr lang="es-ES" dirty="0"/>
          </a:p>
        </p:txBody>
      </p:sp>
      <p:sp>
        <p:nvSpPr>
          <p:cNvPr id="10" name="CuadroTexto 9">
            <a:extLst>
              <a:ext uri="{FF2B5EF4-FFF2-40B4-BE49-F238E27FC236}">
                <a16:creationId xmlns:a16="http://schemas.microsoft.com/office/drawing/2014/main" id="{63129033-1170-4555-9168-A7768A2F0837}"/>
              </a:ext>
            </a:extLst>
          </p:cNvPr>
          <p:cNvSpPr txBox="1"/>
          <p:nvPr/>
        </p:nvSpPr>
        <p:spPr>
          <a:xfrm>
            <a:off x="3455268" y="4756951"/>
            <a:ext cx="8432539" cy="646331"/>
          </a:xfrm>
          <a:prstGeom prst="rect">
            <a:avLst/>
          </a:prstGeom>
          <a:noFill/>
        </p:spPr>
        <p:txBody>
          <a:bodyPr wrap="square">
            <a:spAutoFit/>
          </a:bodyPr>
          <a:lstStyle/>
          <a:p>
            <a:pPr algn="just"/>
            <a:r>
              <a:rPr lang="es-ES" sz="1800" dirty="0">
                <a:effectLst/>
                <a:latin typeface="Arial" panose="020B0604020202020204" pitchFamily="34" charset="0"/>
                <a:ea typeface="Times New Roman" panose="02020603050405020304" pitchFamily="18" charset="0"/>
                <a:cs typeface="Times New Roman" panose="02020603050405020304" pitchFamily="18" charset="0"/>
              </a:rPr>
              <a:t>Esto se puede lograr sobre la base de la representación paramétrica o mediante la selección de unidades de voz de una base de datos. </a:t>
            </a:r>
            <a:endParaRPr lang="es-ES" dirty="0"/>
          </a:p>
        </p:txBody>
      </p:sp>
      <p:sp>
        <p:nvSpPr>
          <p:cNvPr id="12" name="Rectángulo 11">
            <a:extLst>
              <a:ext uri="{FF2B5EF4-FFF2-40B4-BE49-F238E27FC236}">
                <a16:creationId xmlns:a16="http://schemas.microsoft.com/office/drawing/2014/main" id="{0B2FED25-F814-4A85-A77A-37E45D7BF16F}"/>
              </a:ext>
            </a:extLst>
          </p:cNvPr>
          <p:cNvSpPr/>
          <p:nvPr/>
        </p:nvSpPr>
        <p:spPr>
          <a:xfrm>
            <a:off x="2541530" y="98859"/>
            <a:ext cx="9346277" cy="830997"/>
          </a:xfrm>
          <a:prstGeom prst="rect">
            <a:avLst/>
          </a:prstGeom>
          <a:noFill/>
        </p:spPr>
        <p:txBody>
          <a:bodyPr wrap="none" lIns="91440" tIns="45720" rIns="91440" bIns="45720">
            <a:spAutoFit/>
          </a:bodyPr>
          <a:lstStyle/>
          <a:p>
            <a:r>
              <a:rPr lang="es-ES" sz="4800" dirty="0"/>
              <a:t>Etapas del proceso de síntesis de voz</a:t>
            </a:r>
          </a:p>
        </p:txBody>
      </p:sp>
    </p:spTree>
    <p:extLst>
      <p:ext uri="{BB962C8B-B14F-4D97-AF65-F5344CB8AC3E}">
        <p14:creationId xmlns:p14="http://schemas.microsoft.com/office/powerpoint/2010/main" val="8311258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0DBCB37F-59CB-4B2D-AC7C-84CEE13B264E}"/>
              </a:ext>
            </a:extLst>
          </p:cNvPr>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l="4550" t="10735" r="4639" b="11917"/>
          <a:stretch/>
        </p:blipFill>
        <p:spPr bwMode="auto">
          <a:xfrm>
            <a:off x="1498319" y="1581026"/>
            <a:ext cx="9195358" cy="3923841"/>
          </a:xfrm>
          <a:prstGeom prst="rect">
            <a:avLst/>
          </a:prstGeom>
          <a:ln>
            <a:noFill/>
          </a:ln>
          <a:extLst>
            <a:ext uri="{53640926-AAD7-44D8-BBD7-CCE9431645EC}">
              <a14:shadowObscured xmlns:a14="http://schemas.microsoft.com/office/drawing/2010/main"/>
            </a:ext>
          </a:extLst>
        </p:spPr>
      </p:pic>
      <p:sp>
        <p:nvSpPr>
          <p:cNvPr id="3" name="Rectángulo 2">
            <a:extLst>
              <a:ext uri="{FF2B5EF4-FFF2-40B4-BE49-F238E27FC236}">
                <a16:creationId xmlns:a16="http://schemas.microsoft.com/office/drawing/2014/main" id="{3335AC54-BA6B-4AFE-9FE2-D1CBEC1B5431}"/>
              </a:ext>
            </a:extLst>
          </p:cNvPr>
          <p:cNvSpPr/>
          <p:nvPr/>
        </p:nvSpPr>
        <p:spPr>
          <a:xfrm>
            <a:off x="1184859" y="345433"/>
            <a:ext cx="9822279" cy="923330"/>
          </a:xfrm>
          <a:prstGeom prst="rect">
            <a:avLst/>
          </a:prstGeom>
          <a:noFill/>
        </p:spPr>
        <p:txBody>
          <a:bodyPr wrap="square" lIns="91440" tIns="45720" rIns="91440" bIns="45720">
            <a:spAutoFit/>
          </a:bodyPr>
          <a:lstStyle/>
          <a:p>
            <a:pPr algn="ctr"/>
            <a:r>
              <a:rPr lang="es-ES" sz="5400" dirty="0">
                <a:ln w="0"/>
                <a:effectLst>
                  <a:outerShdw blurRad="38100" dist="19050" dir="2700000" algn="tl" rotWithShape="0">
                    <a:schemeClr val="dk1">
                      <a:alpha val="40000"/>
                    </a:schemeClr>
                  </a:outerShdw>
                </a:effectLst>
              </a:rPr>
              <a:t>T</a:t>
            </a:r>
            <a:r>
              <a:rPr lang="es-ES" sz="5400" b="0" cap="none" spc="0" dirty="0">
                <a:ln w="0"/>
                <a:solidFill>
                  <a:schemeClr val="tx1"/>
                </a:solidFill>
                <a:effectLst>
                  <a:outerShdw blurRad="38100" dist="19050" dir="2700000" algn="tl" rotWithShape="0">
                    <a:schemeClr val="dk1">
                      <a:alpha val="40000"/>
                    </a:schemeClr>
                  </a:outerShdw>
                </a:effectLst>
              </a:rPr>
              <a:t>écnicas de síntesis de voz</a:t>
            </a:r>
          </a:p>
        </p:txBody>
      </p:sp>
    </p:spTree>
    <p:extLst>
      <p:ext uri="{BB962C8B-B14F-4D97-AF65-F5344CB8AC3E}">
        <p14:creationId xmlns:p14="http://schemas.microsoft.com/office/powerpoint/2010/main" val="379623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a 3">
            <a:extLst>
              <a:ext uri="{FF2B5EF4-FFF2-40B4-BE49-F238E27FC236}">
                <a16:creationId xmlns:a16="http://schemas.microsoft.com/office/drawing/2014/main" id="{98362941-BC63-4A3C-9EA1-FFEDAF108283}"/>
              </a:ext>
            </a:extLst>
          </p:cNvPr>
          <p:cNvGraphicFramePr/>
          <p:nvPr>
            <p:extLst>
              <p:ext uri="{D42A27DB-BD31-4B8C-83A1-F6EECF244321}">
                <p14:modId xmlns:p14="http://schemas.microsoft.com/office/powerpoint/2010/main" val="770826311"/>
              </p:ext>
            </p:extLst>
          </p:nvPr>
        </p:nvGraphicFramePr>
        <p:xfrm>
          <a:off x="1687285" y="2006082"/>
          <a:ext cx="8817430" cy="33203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ángulo 4">
            <a:extLst>
              <a:ext uri="{FF2B5EF4-FFF2-40B4-BE49-F238E27FC236}">
                <a16:creationId xmlns:a16="http://schemas.microsoft.com/office/drawing/2014/main" id="{19C56312-DDAC-40B9-999A-B89DA4B53FF0}"/>
              </a:ext>
            </a:extLst>
          </p:cNvPr>
          <p:cNvSpPr/>
          <p:nvPr/>
        </p:nvSpPr>
        <p:spPr>
          <a:xfrm>
            <a:off x="327658" y="457400"/>
            <a:ext cx="11536684" cy="923330"/>
          </a:xfrm>
          <a:prstGeom prst="rect">
            <a:avLst/>
          </a:prstGeom>
          <a:noFill/>
        </p:spPr>
        <p:txBody>
          <a:bodyPr wrap="none" lIns="91440" tIns="45720" rIns="91440" bIns="45720">
            <a:spAutoFit/>
          </a:bodyPr>
          <a:lstStyle/>
          <a:p>
            <a:pPr algn="ctr"/>
            <a:r>
              <a:rPr lang="es-ES" sz="5400" dirty="0">
                <a:ln w="0"/>
                <a:effectLst>
                  <a:outerShdw blurRad="38100" dist="19050" dir="2700000" algn="tl" rotWithShape="0">
                    <a:schemeClr val="dk1">
                      <a:alpha val="40000"/>
                    </a:schemeClr>
                  </a:outerShdw>
                </a:effectLst>
              </a:rPr>
              <a:t>Algunas aplicaciones de los sistemas TTS</a:t>
            </a:r>
            <a:endParaRPr lang="es-E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910802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C14DC8B6-D80E-49E5-9193-6A4ECAF83DDD}"/>
              </a:ext>
            </a:extLst>
          </p:cNvPr>
          <p:cNvSpPr/>
          <p:nvPr/>
        </p:nvSpPr>
        <p:spPr>
          <a:xfrm>
            <a:off x="531764" y="476064"/>
            <a:ext cx="4391780" cy="707886"/>
          </a:xfrm>
          <a:prstGeom prst="rect">
            <a:avLst/>
          </a:prstGeom>
          <a:noFill/>
        </p:spPr>
        <p:txBody>
          <a:bodyPr wrap="none" lIns="91440" tIns="45720" rIns="91440" bIns="45720">
            <a:spAutoFit/>
          </a:bodyPr>
          <a:lstStyle/>
          <a:p>
            <a:pPr algn="ctr"/>
            <a:r>
              <a:rPr lang="es-ES" sz="4000" b="0" cap="none" spc="0" dirty="0">
                <a:ln w="0"/>
                <a:solidFill>
                  <a:schemeClr val="tx1"/>
                </a:solidFill>
                <a:effectLst>
                  <a:outerShdw blurRad="38100" dist="19050" dir="2700000" algn="tl" rotWithShape="0">
                    <a:schemeClr val="dk1">
                      <a:alpha val="40000"/>
                    </a:schemeClr>
                  </a:outerShdw>
                </a:effectLst>
              </a:rPr>
              <a:t>Síntesis articulatoria</a:t>
            </a:r>
          </a:p>
        </p:txBody>
      </p:sp>
      <p:sp>
        <p:nvSpPr>
          <p:cNvPr id="7" name="CuadroTexto 6">
            <a:extLst>
              <a:ext uri="{FF2B5EF4-FFF2-40B4-BE49-F238E27FC236}">
                <a16:creationId xmlns:a16="http://schemas.microsoft.com/office/drawing/2014/main" id="{026EB58B-E2C0-47B5-AE5E-0F5F48F4D327}"/>
              </a:ext>
            </a:extLst>
          </p:cNvPr>
          <p:cNvSpPr txBox="1"/>
          <p:nvPr/>
        </p:nvSpPr>
        <p:spPr>
          <a:xfrm>
            <a:off x="531763" y="1771560"/>
            <a:ext cx="10944891" cy="254056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Basadas en el sistema natural de producción del habla humana</a:t>
            </a:r>
          </a:p>
          <a:p>
            <a:pPr marL="285750" indent="-285750">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Simular digitalmente el flujo de aire a través del tracto vocal</a:t>
            </a:r>
            <a:endParaRPr lang="es-ES" dirty="0">
              <a:latin typeface="Arial" panose="020B0604020202020204" pitchFamily="34" charset="0"/>
              <a:ea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Produce un discurso muy inteligible</a:t>
            </a:r>
          </a:p>
          <a:p>
            <a:pPr marL="285750" indent="-285750">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Carece de naturalidad</a:t>
            </a:r>
          </a:p>
          <a:p>
            <a:pPr marL="285750" indent="-285750">
              <a:lnSpc>
                <a:spcPct val="150000"/>
              </a:lnSpc>
              <a:buFont typeface="Arial" panose="020B0604020202020204" pitchFamily="34" charset="0"/>
              <a:buChar char="•"/>
            </a:pPr>
            <a:r>
              <a:rPr lang="es-ES" dirty="0">
                <a:latin typeface="Arial" panose="020B0604020202020204" pitchFamily="34" charset="0"/>
                <a:ea typeface="Times New Roman" panose="02020603050405020304" pitchFamily="18" charset="0"/>
                <a:cs typeface="Times New Roman" panose="02020603050405020304" pitchFamily="18" charset="0"/>
              </a:rPr>
              <a:t>L</a:t>
            </a:r>
            <a:r>
              <a:rPr lang="es-ES" sz="1800" dirty="0">
                <a:effectLst/>
                <a:latin typeface="Arial" panose="020B0604020202020204" pitchFamily="34" charset="0"/>
                <a:ea typeface="Times New Roman" panose="02020603050405020304" pitchFamily="18" charset="0"/>
                <a:cs typeface="Times New Roman" panose="02020603050405020304" pitchFamily="18" charset="0"/>
              </a:rPr>
              <a:t>as formas de onda generadas suenan robóticamente</a:t>
            </a:r>
          </a:p>
          <a:p>
            <a:pPr marL="285750" indent="-285750">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Método difícil de implementar</a:t>
            </a:r>
            <a:endParaRPr lang="es-ES" dirty="0"/>
          </a:p>
        </p:txBody>
      </p:sp>
    </p:spTree>
    <p:extLst>
      <p:ext uri="{BB962C8B-B14F-4D97-AF65-F5344CB8AC3E}">
        <p14:creationId xmlns:p14="http://schemas.microsoft.com/office/powerpoint/2010/main" val="538099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517955C3-C75E-4E92-A9F7-8BE135C94B7F}"/>
              </a:ext>
            </a:extLst>
          </p:cNvPr>
          <p:cNvSpPr/>
          <p:nvPr/>
        </p:nvSpPr>
        <p:spPr>
          <a:xfrm>
            <a:off x="164267" y="224136"/>
            <a:ext cx="5705280" cy="707886"/>
          </a:xfrm>
          <a:prstGeom prst="rect">
            <a:avLst/>
          </a:prstGeom>
          <a:noFill/>
        </p:spPr>
        <p:txBody>
          <a:bodyPr wrap="none" lIns="91440" tIns="45720" rIns="91440" bIns="45720">
            <a:spAutoFit/>
          </a:bodyPr>
          <a:lstStyle/>
          <a:p>
            <a:pPr algn="ctr"/>
            <a:r>
              <a:rPr lang="es-ES" sz="4000" b="0" cap="none" spc="0" dirty="0">
                <a:ln w="0"/>
                <a:solidFill>
                  <a:schemeClr val="tx1"/>
                </a:solidFill>
                <a:effectLst>
                  <a:outerShdw blurRad="38100" dist="19050" dir="2700000" algn="tl" rotWithShape="0">
                    <a:schemeClr val="dk1">
                      <a:alpha val="40000"/>
                    </a:schemeClr>
                  </a:outerShdw>
                </a:effectLst>
              </a:rPr>
              <a:t>Síntesis por concatenación</a:t>
            </a:r>
          </a:p>
        </p:txBody>
      </p:sp>
      <p:sp>
        <p:nvSpPr>
          <p:cNvPr id="7" name="Rectángulo 6">
            <a:extLst>
              <a:ext uri="{FF2B5EF4-FFF2-40B4-BE49-F238E27FC236}">
                <a16:creationId xmlns:a16="http://schemas.microsoft.com/office/drawing/2014/main" id="{996E8C5E-8C56-40FC-89D3-C9312BDBAC55}"/>
              </a:ext>
            </a:extLst>
          </p:cNvPr>
          <p:cNvSpPr/>
          <p:nvPr/>
        </p:nvSpPr>
        <p:spPr>
          <a:xfrm>
            <a:off x="158688" y="862310"/>
            <a:ext cx="5710859" cy="584775"/>
          </a:xfrm>
          <a:prstGeom prst="rect">
            <a:avLst/>
          </a:prstGeom>
          <a:noFill/>
        </p:spPr>
        <p:txBody>
          <a:bodyPr wrap="none" lIns="91440" tIns="45720" rIns="91440" bIns="45720">
            <a:spAutoFit/>
          </a:bodyPr>
          <a:lstStyle/>
          <a:p>
            <a:r>
              <a:rPr lang="es-ES" sz="3200" dirty="0"/>
              <a:t>Concatenación de forma de onda</a:t>
            </a:r>
          </a:p>
        </p:txBody>
      </p:sp>
      <p:pic>
        <p:nvPicPr>
          <p:cNvPr id="9" name="Imagen 8">
            <a:extLst>
              <a:ext uri="{FF2B5EF4-FFF2-40B4-BE49-F238E27FC236}">
                <a16:creationId xmlns:a16="http://schemas.microsoft.com/office/drawing/2014/main" id="{01F1C959-A605-46FF-A6E1-BCDC3291C7B8}"/>
              </a:ext>
            </a:extLst>
          </p:cNvPr>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b="15502"/>
          <a:stretch/>
        </p:blipFill>
        <p:spPr bwMode="auto">
          <a:xfrm>
            <a:off x="158688" y="2183832"/>
            <a:ext cx="5146737" cy="2467955"/>
          </a:xfrm>
          <a:prstGeom prst="rect">
            <a:avLst/>
          </a:prstGeom>
          <a:ln>
            <a:noFill/>
          </a:ln>
          <a:extLst>
            <a:ext uri="{53640926-AAD7-44D8-BBD7-CCE9431645EC}">
              <a14:shadowObscured xmlns:a14="http://schemas.microsoft.com/office/drawing/2010/main"/>
            </a:ext>
          </a:extLst>
        </p:spPr>
      </p:pic>
      <p:sp>
        <p:nvSpPr>
          <p:cNvPr id="11" name="CuadroTexto 10">
            <a:extLst>
              <a:ext uri="{FF2B5EF4-FFF2-40B4-BE49-F238E27FC236}">
                <a16:creationId xmlns:a16="http://schemas.microsoft.com/office/drawing/2014/main" id="{BDAEF713-2E43-460A-A1FF-15AC7C6637FF}"/>
              </a:ext>
            </a:extLst>
          </p:cNvPr>
          <p:cNvSpPr txBox="1"/>
          <p:nvPr/>
        </p:nvSpPr>
        <p:spPr>
          <a:xfrm>
            <a:off x="5476875" y="2183832"/>
            <a:ext cx="6115050" cy="2540567"/>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s-ES" dirty="0">
                <a:latin typeface="Arial" panose="020B0604020202020204" pitchFamily="34" charset="0"/>
                <a:ea typeface="Times New Roman" panose="02020603050405020304" pitchFamily="18" charset="0"/>
                <a:cs typeface="Times New Roman" panose="02020603050405020304" pitchFamily="18" charset="0"/>
              </a:rPr>
              <a:t>S</a:t>
            </a:r>
            <a:r>
              <a:rPr lang="es-ES" sz="1800" dirty="0">
                <a:effectLst/>
                <a:latin typeface="Arial" panose="020B0604020202020204" pitchFamily="34" charset="0"/>
                <a:ea typeface="Times New Roman" panose="02020603050405020304" pitchFamily="18" charset="0"/>
                <a:cs typeface="Times New Roman" panose="02020603050405020304" pitchFamily="18" charset="0"/>
              </a:rPr>
              <a:t>e basa en la concatenación de fragmentos de oración que se almacenan en una base de datos</a:t>
            </a:r>
          </a:p>
          <a:p>
            <a:pPr marL="285750" indent="-285750" algn="just">
              <a:lnSpc>
                <a:spcPct val="150000"/>
              </a:lnSpc>
              <a:buFont typeface="Arial" panose="020B0604020202020204" pitchFamily="34" charset="0"/>
              <a:buChar char="•"/>
            </a:pPr>
            <a:r>
              <a:rPr lang="es-ES" dirty="0">
                <a:latin typeface="Arial" panose="020B0604020202020204" pitchFamily="34" charset="0"/>
                <a:ea typeface="Times New Roman" panose="02020603050405020304" pitchFamily="18" charset="0"/>
                <a:cs typeface="Times New Roman" panose="02020603050405020304" pitchFamily="18" charset="0"/>
              </a:rPr>
              <a:t>R</a:t>
            </a:r>
            <a:r>
              <a:rPr lang="es-ES" sz="1800" dirty="0">
                <a:effectLst/>
                <a:latin typeface="Arial" panose="020B0604020202020204" pitchFamily="34" charset="0"/>
                <a:ea typeface="Times New Roman" panose="02020603050405020304" pitchFamily="18" charset="0"/>
                <a:cs typeface="Times New Roman" panose="02020603050405020304" pitchFamily="18" charset="0"/>
              </a:rPr>
              <a:t>equiere una gran base de datos de grabación para cubrir todas las combinaciones posibles de unidades de voz </a:t>
            </a:r>
            <a:endParaRPr lang="es-ES" dirty="0">
              <a:latin typeface="Arial" panose="020B0604020202020204" pitchFamily="34" charset="0"/>
              <a:ea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s-ES" dirty="0">
                <a:latin typeface="Arial" panose="020B0604020202020204" pitchFamily="34" charset="0"/>
                <a:ea typeface="Times New Roman" panose="02020603050405020304" pitchFamily="18" charset="0"/>
                <a:cs typeface="Times New Roman" panose="02020603050405020304" pitchFamily="18" charset="0"/>
              </a:rPr>
              <a:t>L</a:t>
            </a:r>
            <a:r>
              <a:rPr lang="es-ES" sz="1800" dirty="0">
                <a:effectLst/>
                <a:latin typeface="Arial" panose="020B0604020202020204" pitchFamily="34" charset="0"/>
                <a:ea typeface="Times New Roman" panose="02020603050405020304" pitchFamily="18" charset="0"/>
                <a:cs typeface="Times New Roman" panose="02020603050405020304" pitchFamily="18" charset="0"/>
              </a:rPr>
              <a:t>a voz generada es menos natural y emocional</a:t>
            </a:r>
            <a:endParaRPr lang="es-ES" dirty="0"/>
          </a:p>
        </p:txBody>
      </p:sp>
    </p:spTree>
    <p:extLst>
      <p:ext uri="{BB962C8B-B14F-4D97-AF65-F5344CB8AC3E}">
        <p14:creationId xmlns:p14="http://schemas.microsoft.com/office/powerpoint/2010/main" val="1381569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09CE95BD-CF9F-4E62-A6B9-E52EAABADC6A}"/>
              </a:ext>
            </a:extLst>
          </p:cNvPr>
          <p:cNvSpPr/>
          <p:nvPr/>
        </p:nvSpPr>
        <p:spPr>
          <a:xfrm>
            <a:off x="264390" y="252710"/>
            <a:ext cx="4633768" cy="707886"/>
          </a:xfrm>
          <a:prstGeom prst="rect">
            <a:avLst/>
          </a:prstGeom>
          <a:noFill/>
        </p:spPr>
        <p:txBody>
          <a:bodyPr wrap="none" lIns="91440" tIns="45720" rIns="91440" bIns="45720">
            <a:spAutoFit/>
          </a:bodyPr>
          <a:lstStyle/>
          <a:p>
            <a:pPr algn="ctr"/>
            <a:r>
              <a:rPr lang="es-ES" sz="4000" b="0" cap="none" spc="0" dirty="0">
                <a:ln w="0"/>
                <a:solidFill>
                  <a:schemeClr val="tx1"/>
                </a:solidFill>
                <a:effectLst>
                  <a:outerShdw blurRad="38100" dist="19050" dir="2700000" algn="tl" rotWithShape="0">
                    <a:schemeClr val="dk1">
                      <a:alpha val="40000"/>
                    </a:schemeClr>
                  </a:outerShdw>
                </a:effectLst>
              </a:rPr>
              <a:t>Síntesis de formantes</a:t>
            </a:r>
          </a:p>
        </p:txBody>
      </p:sp>
      <p:sp>
        <p:nvSpPr>
          <p:cNvPr id="4" name="CuadroTexto 3">
            <a:extLst>
              <a:ext uri="{FF2B5EF4-FFF2-40B4-BE49-F238E27FC236}">
                <a16:creationId xmlns:a16="http://schemas.microsoft.com/office/drawing/2014/main" id="{5D26988C-851A-4C8E-8A8C-F93EB35169D5}"/>
              </a:ext>
            </a:extLst>
          </p:cNvPr>
          <p:cNvSpPr txBox="1"/>
          <p:nvPr/>
        </p:nvSpPr>
        <p:spPr>
          <a:xfrm>
            <a:off x="333375" y="1315135"/>
            <a:ext cx="10725150" cy="2540567"/>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s-ES" dirty="0">
                <a:latin typeface="Arial" panose="020B0604020202020204" pitchFamily="34" charset="0"/>
                <a:ea typeface="Times New Roman" panose="02020603050405020304" pitchFamily="18" charset="0"/>
                <a:cs typeface="Times New Roman" panose="02020603050405020304" pitchFamily="18" charset="0"/>
              </a:rPr>
              <a:t>E</a:t>
            </a:r>
            <a:r>
              <a:rPr lang="es-ES" sz="1800" dirty="0">
                <a:effectLst/>
                <a:latin typeface="Arial" panose="020B0604020202020204" pitchFamily="34" charset="0"/>
                <a:ea typeface="Times New Roman" panose="02020603050405020304" pitchFamily="18" charset="0"/>
                <a:cs typeface="Times New Roman" panose="02020603050405020304" pitchFamily="18" charset="0"/>
              </a:rPr>
              <a:t>s un enfoque basado en reglas para sintetizar el habla utilizado en el pasado</a:t>
            </a:r>
          </a:p>
          <a:p>
            <a:pPr marL="285750" indent="-285750" algn="just">
              <a:lnSpc>
                <a:spcPct val="150000"/>
              </a:lnSpc>
              <a:buFont typeface="Arial" panose="020B0604020202020204" pitchFamily="34" charset="0"/>
              <a:buChar char="•"/>
            </a:pPr>
            <a:r>
              <a:rPr lang="es-ES" dirty="0">
                <a:latin typeface="Arial" panose="020B0604020202020204" pitchFamily="34" charset="0"/>
                <a:ea typeface="Times New Roman" panose="02020603050405020304" pitchFamily="18" charset="0"/>
                <a:cs typeface="Times New Roman" panose="02020603050405020304" pitchFamily="18" charset="0"/>
              </a:rPr>
              <a:t>U</a:t>
            </a:r>
            <a:r>
              <a:rPr lang="es-ES" sz="1800" dirty="0">
                <a:effectLst/>
                <a:latin typeface="Arial" panose="020B0604020202020204" pitchFamily="34" charset="0"/>
                <a:ea typeface="Times New Roman" panose="02020603050405020304" pitchFamily="18" charset="0"/>
                <a:cs typeface="Times New Roman" panose="02020603050405020304" pitchFamily="18" charset="0"/>
              </a:rPr>
              <a:t>tilizó los diversos parámetros sonoros, como el grado de sonorización en excitación, la frecuencia fundamental (F0), las frecuencias de formantes y su amplitud</a:t>
            </a:r>
            <a:endParaRPr lang="es-ES" dirty="0">
              <a:latin typeface="Arial" panose="020B0604020202020204" pitchFamily="34" charset="0"/>
              <a:ea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Produce el habla altamente inteligible al evitar los fallos acústicos en los límites de las unidades de sonido </a:t>
            </a:r>
          </a:p>
          <a:p>
            <a:pPr marL="285750" indent="-285750" algn="just">
              <a:lnSpc>
                <a:spcPct val="150000"/>
              </a:lnSpc>
              <a:buFont typeface="Arial" panose="020B0604020202020204" pitchFamily="34" charset="0"/>
              <a:buChar char="•"/>
            </a:pPr>
            <a:r>
              <a:rPr lang="es-ES" dirty="0">
                <a:latin typeface="Arial" panose="020B0604020202020204" pitchFamily="34" charset="0"/>
                <a:ea typeface="Times New Roman" panose="02020603050405020304" pitchFamily="18" charset="0"/>
                <a:cs typeface="Times New Roman" panose="02020603050405020304" pitchFamily="18" charset="0"/>
              </a:rPr>
              <a:t>S</a:t>
            </a:r>
            <a:r>
              <a:rPr lang="es-ES" sz="1800" dirty="0">
                <a:effectLst/>
                <a:latin typeface="Arial" panose="020B0604020202020204" pitchFamily="34" charset="0"/>
                <a:ea typeface="Times New Roman" panose="02020603050405020304" pitchFamily="18" charset="0"/>
                <a:cs typeface="Times New Roman" panose="02020603050405020304" pitchFamily="18" charset="0"/>
              </a:rPr>
              <a:t>igue generando el habla en forma de sonido robótico, por lo tanto, carece de naturalidad</a:t>
            </a:r>
            <a:endParaRPr lang="es-ES" dirty="0"/>
          </a:p>
        </p:txBody>
      </p:sp>
    </p:spTree>
    <p:extLst>
      <p:ext uri="{BB962C8B-B14F-4D97-AF65-F5344CB8AC3E}">
        <p14:creationId xmlns:p14="http://schemas.microsoft.com/office/powerpoint/2010/main" val="1223117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3BC8E521-0F5A-4814-94B5-256F9D3E2DB6}"/>
              </a:ext>
            </a:extLst>
          </p:cNvPr>
          <p:cNvSpPr txBox="1"/>
          <p:nvPr/>
        </p:nvSpPr>
        <p:spPr>
          <a:xfrm>
            <a:off x="409575" y="867954"/>
            <a:ext cx="9315450" cy="584775"/>
          </a:xfrm>
          <a:prstGeom prst="rect">
            <a:avLst/>
          </a:prstGeom>
          <a:noFill/>
        </p:spPr>
        <p:txBody>
          <a:bodyPr wrap="square">
            <a:spAutoFit/>
          </a:bodyPr>
          <a:lstStyle/>
          <a:p>
            <a:r>
              <a:rPr lang="es-ES" sz="3200" dirty="0"/>
              <a:t>Relacionados con técnicas de predicción lineal (LPC)</a:t>
            </a:r>
          </a:p>
        </p:txBody>
      </p:sp>
      <p:sp>
        <p:nvSpPr>
          <p:cNvPr id="8" name="CuadroTexto 7">
            <a:extLst>
              <a:ext uri="{FF2B5EF4-FFF2-40B4-BE49-F238E27FC236}">
                <a16:creationId xmlns:a16="http://schemas.microsoft.com/office/drawing/2014/main" id="{B5A12C1B-3187-43D4-BA98-57555B222B41}"/>
              </a:ext>
            </a:extLst>
          </p:cNvPr>
          <p:cNvSpPr txBox="1"/>
          <p:nvPr/>
        </p:nvSpPr>
        <p:spPr>
          <a:xfrm>
            <a:off x="409575" y="1719560"/>
            <a:ext cx="11077574" cy="3371564"/>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s-ES" dirty="0">
                <a:latin typeface="Arial" panose="020B0604020202020204" pitchFamily="34" charset="0"/>
                <a:ea typeface="Times New Roman" panose="02020603050405020304" pitchFamily="18" charset="0"/>
                <a:cs typeface="Times New Roman" panose="02020603050405020304" pitchFamily="18" charset="0"/>
              </a:rPr>
              <a:t>H</a:t>
            </a:r>
            <a:r>
              <a:rPr lang="es-ES" sz="1800" dirty="0">
                <a:effectLst/>
                <a:latin typeface="Arial" panose="020B0604020202020204" pitchFamily="34" charset="0"/>
                <a:ea typeface="Times New Roman" panose="02020603050405020304" pitchFamily="18" charset="0"/>
                <a:cs typeface="Times New Roman" panose="02020603050405020304" pitchFamily="18" charset="0"/>
              </a:rPr>
              <a:t>a hecho posible almacenar inventarios relativamente grandes de formas de ondas del habla de alta calidad en un espacio limitado</a:t>
            </a:r>
          </a:p>
          <a:p>
            <a:pPr marL="285750" indent="-285750" algn="just">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El sistema es un filtro lineal de todos los polos que simula el espectro de la fuente y la función de transferencia del tracto vocal </a:t>
            </a:r>
          </a:p>
          <a:p>
            <a:pPr marL="285750" indent="-285750" algn="just">
              <a:lnSpc>
                <a:spcPct val="150000"/>
              </a:lnSpc>
              <a:buFont typeface="Arial" panose="020B0604020202020204" pitchFamily="34" charset="0"/>
              <a:buChar char="•"/>
            </a:pPr>
            <a:r>
              <a:rPr lang="es-ES" dirty="0">
                <a:latin typeface="Arial" panose="020B0604020202020204" pitchFamily="34" charset="0"/>
                <a:ea typeface="Times New Roman" panose="02020603050405020304" pitchFamily="18" charset="0"/>
                <a:cs typeface="Times New Roman" panose="02020603050405020304" pitchFamily="18" charset="0"/>
              </a:rPr>
              <a:t>A</a:t>
            </a:r>
            <a:r>
              <a:rPr lang="es-ES" sz="1800" dirty="0">
                <a:effectLst/>
                <a:latin typeface="Arial" panose="020B0604020202020204" pitchFamily="34" charset="0"/>
                <a:ea typeface="Times New Roman" panose="02020603050405020304" pitchFamily="18" charset="0"/>
                <a:cs typeface="Times New Roman" panose="02020603050405020304" pitchFamily="18" charset="0"/>
              </a:rPr>
              <a:t>nálisis automático de la señal original, la integración algorítmica bastante fácil y la fidelidad al sonido original</a:t>
            </a:r>
          </a:p>
          <a:p>
            <a:pPr marL="285750" indent="-285750" algn="just">
              <a:lnSpc>
                <a:spcPct val="150000"/>
              </a:lnSpc>
              <a:buFont typeface="Arial" panose="020B0604020202020204" pitchFamily="34" charset="0"/>
              <a:buChar char="•"/>
            </a:pPr>
            <a:r>
              <a:rPr lang="es-ES" dirty="0">
                <a:latin typeface="Arial" panose="020B0604020202020204" pitchFamily="34" charset="0"/>
                <a:ea typeface="Times New Roman" panose="02020603050405020304" pitchFamily="18" charset="0"/>
                <a:cs typeface="Times New Roman" panose="02020603050405020304" pitchFamily="18" charset="0"/>
              </a:rPr>
              <a:t>D</a:t>
            </a:r>
            <a:r>
              <a:rPr lang="es-ES" sz="1800" dirty="0">
                <a:effectLst/>
                <a:latin typeface="Arial" panose="020B0604020202020204" pitchFamily="34" charset="0"/>
                <a:ea typeface="Times New Roman" panose="02020603050405020304" pitchFamily="18" charset="0"/>
                <a:cs typeface="Times New Roman" panose="02020603050405020304" pitchFamily="18" charset="0"/>
              </a:rPr>
              <a:t>ebe ser capaz de manejar todo tipo de sonidos: sonoros, aspirativos y fricativos. </a:t>
            </a:r>
          </a:p>
          <a:p>
            <a:pPr marL="285750" indent="-285750" algn="just">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Sin embargo, se ha encontrado que el uso de LPC no tiene éxito en la conversión de texto a voz</a:t>
            </a:r>
            <a:endParaRPr lang="es-ES" dirty="0"/>
          </a:p>
        </p:txBody>
      </p:sp>
      <p:sp>
        <p:nvSpPr>
          <p:cNvPr id="9" name="Rectángulo 8">
            <a:extLst>
              <a:ext uri="{FF2B5EF4-FFF2-40B4-BE49-F238E27FC236}">
                <a16:creationId xmlns:a16="http://schemas.microsoft.com/office/drawing/2014/main" id="{831610E2-583A-4EAD-8C2C-6223DEA05FB5}"/>
              </a:ext>
            </a:extLst>
          </p:cNvPr>
          <p:cNvSpPr/>
          <p:nvPr/>
        </p:nvSpPr>
        <p:spPr>
          <a:xfrm>
            <a:off x="414337" y="328910"/>
            <a:ext cx="4472378" cy="707886"/>
          </a:xfrm>
          <a:prstGeom prst="rect">
            <a:avLst/>
          </a:prstGeom>
          <a:noFill/>
        </p:spPr>
        <p:txBody>
          <a:bodyPr wrap="none" lIns="91440" tIns="45720" rIns="91440" bIns="45720">
            <a:spAutoFit/>
          </a:bodyPr>
          <a:lstStyle/>
          <a:p>
            <a:pPr algn="ctr"/>
            <a:r>
              <a:rPr lang="es-ES" sz="4000" b="0" cap="none" spc="0" dirty="0">
                <a:ln w="0"/>
                <a:solidFill>
                  <a:schemeClr val="tx1"/>
                </a:solidFill>
                <a:effectLst>
                  <a:outerShdw blurRad="38100" dist="19050" dir="2700000" algn="tl" rotWithShape="0">
                    <a:schemeClr val="dk1">
                      <a:alpha val="40000"/>
                    </a:schemeClr>
                  </a:outerShdw>
                </a:effectLst>
              </a:rPr>
              <a:t>Síntesis Paramétrica </a:t>
            </a:r>
          </a:p>
        </p:txBody>
      </p:sp>
    </p:spTree>
    <p:extLst>
      <p:ext uri="{BB962C8B-B14F-4D97-AF65-F5344CB8AC3E}">
        <p14:creationId xmlns:p14="http://schemas.microsoft.com/office/powerpoint/2010/main" val="1783219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2E0FC63D-EF8C-4CB4-9EE1-549C4AD83466}"/>
              </a:ext>
            </a:extLst>
          </p:cNvPr>
          <p:cNvSpPr/>
          <p:nvPr/>
        </p:nvSpPr>
        <p:spPr>
          <a:xfrm>
            <a:off x="414337" y="328910"/>
            <a:ext cx="4472378" cy="707886"/>
          </a:xfrm>
          <a:prstGeom prst="rect">
            <a:avLst/>
          </a:prstGeom>
          <a:noFill/>
        </p:spPr>
        <p:txBody>
          <a:bodyPr wrap="none" lIns="91440" tIns="45720" rIns="91440" bIns="45720">
            <a:spAutoFit/>
          </a:bodyPr>
          <a:lstStyle/>
          <a:p>
            <a:pPr algn="ctr"/>
            <a:r>
              <a:rPr lang="es-ES" sz="4000" b="0" cap="none" spc="0" dirty="0">
                <a:ln w="0"/>
                <a:solidFill>
                  <a:schemeClr val="tx1"/>
                </a:solidFill>
                <a:effectLst>
                  <a:outerShdw blurRad="38100" dist="19050" dir="2700000" algn="tl" rotWithShape="0">
                    <a:schemeClr val="dk1">
                      <a:alpha val="40000"/>
                    </a:schemeClr>
                  </a:outerShdw>
                </a:effectLst>
              </a:rPr>
              <a:t>Síntesis Paramétrica </a:t>
            </a:r>
          </a:p>
        </p:txBody>
      </p:sp>
      <p:sp>
        <p:nvSpPr>
          <p:cNvPr id="12" name="CuadroTexto 11">
            <a:extLst>
              <a:ext uri="{FF2B5EF4-FFF2-40B4-BE49-F238E27FC236}">
                <a16:creationId xmlns:a16="http://schemas.microsoft.com/office/drawing/2014/main" id="{BB53B42C-6F1F-4928-8DCC-4C76F8DB4F4E}"/>
              </a:ext>
            </a:extLst>
          </p:cNvPr>
          <p:cNvSpPr txBox="1"/>
          <p:nvPr/>
        </p:nvSpPr>
        <p:spPr>
          <a:xfrm>
            <a:off x="300037" y="1357610"/>
            <a:ext cx="10815638" cy="3365024"/>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s-ES" dirty="0">
                <a:latin typeface="Arial" panose="020B0604020202020204" pitchFamily="34" charset="0"/>
                <a:cs typeface="Arial" panose="020B0604020202020204" pitchFamily="34" charset="0"/>
              </a:rPr>
              <a:t>La síntesis paramétrica de voz se refiere al método que utiliza tecnologías de procesamiento de señales digitales para sintetizar voz a partir de texto</a:t>
            </a:r>
          </a:p>
          <a:p>
            <a:pPr marL="285750" indent="-285750" algn="just">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Arial" panose="020B0604020202020204" pitchFamily="34" charset="0"/>
              </a:rPr>
              <a:t>Se considera el proceso vocal humano como una simulación que utiliza una fuente de estado glotal para excitar un filtro digital variable en el tiempo </a:t>
            </a:r>
          </a:p>
          <a:p>
            <a:pPr marL="285750" indent="-285750" algn="just">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Arial" panose="020B0604020202020204" pitchFamily="34" charset="0"/>
              </a:rPr>
              <a:t>La fuente puede ser una secuencia de pulsos periódica que se utiliza para representar la vibración de las cuerdas vocales del habla sonora, o un ruido blanco aleatorio para indicar un habla sorda indefinida. </a:t>
            </a:r>
          </a:p>
          <a:p>
            <a:pPr marL="285750" indent="-285750" algn="just">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Arial" panose="020B0604020202020204" pitchFamily="34" charset="0"/>
              </a:rPr>
              <a:t>Ajustando los parámetros del filtro, puede sintetizar varios tipos de discursos.</a:t>
            </a:r>
            <a:endParaRPr lang="es-E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6819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31463D8A-7FBB-4599-BD17-AB102CF15C89}"/>
              </a:ext>
            </a:extLst>
          </p:cNvPr>
          <p:cNvSpPr txBox="1"/>
          <p:nvPr/>
        </p:nvSpPr>
        <p:spPr>
          <a:xfrm>
            <a:off x="414337" y="1792312"/>
            <a:ext cx="11101387" cy="294952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s-ES" dirty="0">
                <a:latin typeface="Arial" panose="020B0604020202020204" pitchFamily="34" charset="0"/>
                <a:ea typeface="Times New Roman" panose="02020603050405020304" pitchFamily="18" charset="0"/>
                <a:cs typeface="Times New Roman" panose="02020603050405020304" pitchFamily="18" charset="0"/>
              </a:rPr>
              <a:t>P</a:t>
            </a:r>
            <a:r>
              <a:rPr lang="es-ES" sz="1800" dirty="0">
                <a:effectLst/>
                <a:latin typeface="Arial" panose="020B0604020202020204" pitchFamily="34" charset="0"/>
                <a:ea typeface="Times New Roman" panose="02020603050405020304" pitchFamily="18" charset="0"/>
                <a:cs typeface="Times New Roman" panose="02020603050405020304" pitchFamily="18" charset="0"/>
              </a:rPr>
              <a:t>rimero se generan los parámetros acústicos que son necesarios para producir el habla y luego se recupera el habla a partir de los parámetros acústicos generados utilizando algunos algoritmos</a:t>
            </a:r>
          </a:p>
          <a:p>
            <a:pPr marL="285750" indent="-285750">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Se compone generalmente de tres módulos: </a:t>
            </a:r>
          </a:p>
          <a:p>
            <a:pPr marL="742950" lvl="1" indent="-285750">
              <a:lnSpc>
                <a:spcPct val="150000"/>
              </a:lnSpc>
              <a:buFont typeface="Courier New" panose="02070309020205020404" pitchFamily="49" charset="0"/>
              <a:buChar char="o"/>
            </a:pPr>
            <a:r>
              <a:rPr lang="es-ES" dirty="0">
                <a:effectLst/>
                <a:latin typeface="Arial" panose="020B0604020202020204" pitchFamily="34" charset="0"/>
                <a:ea typeface="Times New Roman" panose="02020603050405020304" pitchFamily="18" charset="0"/>
                <a:cs typeface="Times New Roman" panose="02020603050405020304" pitchFamily="18" charset="0"/>
              </a:rPr>
              <a:t>un módulo de análisis de texto</a:t>
            </a:r>
          </a:p>
          <a:p>
            <a:pPr marL="742950" lvl="1" indent="-285750">
              <a:lnSpc>
                <a:spcPct val="150000"/>
              </a:lnSpc>
              <a:buFont typeface="Courier New" panose="02070309020205020404" pitchFamily="49" charset="0"/>
              <a:buChar char="o"/>
            </a:pPr>
            <a:r>
              <a:rPr lang="es-ES" dirty="0">
                <a:effectLst/>
                <a:latin typeface="Arial" panose="020B0604020202020204" pitchFamily="34" charset="0"/>
                <a:ea typeface="Times New Roman" panose="02020603050405020304" pitchFamily="18" charset="0"/>
                <a:cs typeface="Times New Roman" panose="02020603050405020304" pitchFamily="18" charset="0"/>
              </a:rPr>
              <a:t>un módulo de predicción de parámetros </a:t>
            </a:r>
          </a:p>
          <a:p>
            <a:pPr marL="742950" lvl="1" indent="-285750">
              <a:lnSpc>
                <a:spcPct val="150000"/>
              </a:lnSpc>
              <a:buFont typeface="Courier New" panose="02070309020205020404" pitchFamily="49" charset="0"/>
              <a:buChar char="o"/>
            </a:pPr>
            <a:r>
              <a:rPr lang="es-ES" dirty="0">
                <a:effectLst/>
                <a:latin typeface="Arial" panose="020B0604020202020204" pitchFamily="34" charset="0"/>
                <a:ea typeface="Times New Roman" panose="02020603050405020304" pitchFamily="18" charset="0"/>
                <a:cs typeface="Times New Roman" panose="02020603050405020304" pitchFamily="18" charset="0"/>
              </a:rPr>
              <a:t>un módulo de síntesis de voz</a:t>
            </a:r>
          </a:p>
          <a:p>
            <a:pPr marL="285750" indent="-285750">
              <a:lnSpc>
                <a:spcPct val="150000"/>
              </a:lnSpc>
              <a:buFont typeface="Arial" panose="020B0604020202020204" pitchFamily="34" charset="0"/>
              <a:buChar char="•"/>
            </a:pPr>
            <a:endParaRPr lang="es-ES" dirty="0">
              <a:latin typeface="Arial" panose="020B0604020202020204" pitchFamily="34" charset="0"/>
              <a:ea typeface="Times New Roman" panose="02020603050405020304" pitchFamily="18" charset="0"/>
              <a:cs typeface="Times New Roman" panose="02020603050405020304" pitchFamily="18" charset="0"/>
            </a:endParaRPr>
          </a:p>
        </p:txBody>
      </p:sp>
      <p:sp>
        <p:nvSpPr>
          <p:cNvPr id="3" name="Rectángulo 2">
            <a:extLst>
              <a:ext uri="{FF2B5EF4-FFF2-40B4-BE49-F238E27FC236}">
                <a16:creationId xmlns:a16="http://schemas.microsoft.com/office/drawing/2014/main" id="{2BDCEF5F-DD12-4C6D-84AE-F5071EF6166B}"/>
              </a:ext>
            </a:extLst>
          </p:cNvPr>
          <p:cNvSpPr/>
          <p:nvPr/>
        </p:nvSpPr>
        <p:spPr>
          <a:xfrm>
            <a:off x="414337" y="328910"/>
            <a:ext cx="4472378" cy="707886"/>
          </a:xfrm>
          <a:prstGeom prst="rect">
            <a:avLst/>
          </a:prstGeom>
          <a:noFill/>
        </p:spPr>
        <p:txBody>
          <a:bodyPr wrap="none" lIns="91440" tIns="45720" rIns="91440" bIns="45720">
            <a:spAutoFit/>
          </a:bodyPr>
          <a:lstStyle/>
          <a:p>
            <a:pPr algn="ctr"/>
            <a:r>
              <a:rPr lang="es-ES" sz="4000" b="0" cap="none" spc="0" dirty="0">
                <a:ln w="0"/>
                <a:solidFill>
                  <a:schemeClr val="tx1"/>
                </a:solidFill>
                <a:effectLst>
                  <a:outerShdw blurRad="38100" dist="19050" dir="2700000" algn="tl" rotWithShape="0">
                    <a:schemeClr val="dk1">
                      <a:alpha val="40000"/>
                    </a:schemeClr>
                  </a:outerShdw>
                </a:effectLst>
              </a:rPr>
              <a:t>Síntesis Paramétrica </a:t>
            </a:r>
          </a:p>
        </p:txBody>
      </p:sp>
      <p:sp>
        <p:nvSpPr>
          <p:cNvPr id="4" name="CuadroTexto 3">
            <a:extLst>
              <a:ext uri="{FF2B5EF4-FFF2-40B4-BE49-F238E27FC236}">
                <a16:creationId xmlns:a16="http://schemas.microsoft.com/office/drawing/2014/main" id="{398664C2-5B3C-4628-B00C-288909283A84}"/>
              </a:ext>
            </a:extLst>
          </p:cNvPr>
          <p:cNvSpPr txBox="1"/>
          <p:nvPr/>
        </p:nvSpPr>
        <p:spPr>
          <a:xfrm>
            <a:off x="414337" y="970121"/>
            <a:ext cx="4068999" cy="461665"/>
          </a:xfrm>
          <a:prstGeom prst="rect">
            <a:avLst/>
          </a:prstGeom>
          <a:noFill/>
        </p:spPr>
        <p:txBody>
          <a:bodyPr wrap="none" rtlCol="0">
            <a:spAutoFit/>
          </a:bodyPr>
          <a:lstStyle/>
          <a:p>
            <a:r>
              <a:rPr lang="es-ES" sz="2400" dirty="0"/>
              <a:t>Síntesis Estadística Paramétrica</a:t>
            </a:r>
          </a:p>
        </p:txBody>
      </p:sp>
    </p:spTree>
    <p:extLst>
      <p:ext uri="{BB962C8B-B14F-4D97-AF65-F5344CB8AC3E}">
        <p14:creationId xmlns:p14="http://schemas.microsoft.com/office/powerpoint/2010/main" val="4238499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129692E1-DD0E-4C03-AC14-1C634E8DEA8A}"/>
              </a:ext>
            </a:extLst>
          </p:cNvPr>
          <p:cNvSpPr txBox="1"/>
          <p:nvPr/>
        </p:nvSpPr>
        <p:spPr>
          <a:xfrm>
            <a:off x="560031" y="998980"/>
            <a:ext cx="10725150" cy="4688463"/>
          </a:xfrm>
          <a:prstGeom prst="rect">
            <a:avLst/>
          </a:prstGeom>
          <a:noFill/>
        </p:spPr>
        <p:txBody>
          <a:bodyPr wrap="square">
            <a:spAutoFit/>
          </a:bodyPr>
          <a:lstStyle/>
          <a:p>
            <a:pPr algn="just">
              <a:lnSpc>
                <a:spcPct val="150000"/>
              </a:lnSpc>
              <a:spcAft>
                <a:spcPts val="800"/>
              </a:spcAft>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SPSS tiene varias ventajas sobre los sistemas TTS anteriores: </a:t>
            </a:r>
          </a:p>
          <a:p>
            <a:pPr algn="just">
              <a:lnSpc>
                <a:spcPct val="150000"/>
              </a:lnSpc>
              <a:spcAft>
                <a:spcPts val="800"/>
              </a:spcAft>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1) naturalidad, el audio es más natural; </a:t>
            </a:r>
          </a:p>
          <a:p>
            <a:pPr algn="just">
              <a:lnSpc>
                <a:spcPct val="150000"/>
              </a:lnSpc>
              <a:spcAft>
                <a:spcPts val="800"/>
              </a:spcAft>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2) flexibilidad, es conveniente modificar los parámetros para controlar la generación de voz; </a:t>
            </a:r>
          </a:p>
          <a:p>
            <a:pPr algn="just">
              <a:lnSpc>
                <a:spcPct val="150000"/>
              </a:lnSpc>
              <a:spcAft>
                <a:spcPts val="800"/>
              </a:spcAft>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3) Bajo costo de datos, requiere menos grabaciones que la síntesis concatenativa. </a:t>
            </a:r>
          </a:p>
          <a:p>
            <a:pPr algn="just">
              <a:lnSpc>
                <a:spcPct val="150000"/>
              </a:lnSpc>
              <a:spcAft>
                <a:spcPts val="800"/>
              </a:spcAft>
            </a:pPr>
            <a:endParaRPr lang="es-ES" sz="1800" dirty="0">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spcAft>
                <a:spcPts val="800"/>
              </a:spcAft>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Sin embargo, SPSS también tiene sus inconvenientes: </a:t>
            </a:r>
          </a:p>
          <a:p>
            <a:pPr algn="just">
              <a:lnSpc>
                <a:spcPct val="150000"/>
              </a:lnSpc>
              <a:spcAft>
                <a:spcPts val="800"/>
              </a:spcAft>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1) el discurso generado tiene una menor inteligibilidad debido a artefactos como audio amortiguado, </a:t>
            </a:r>
            <a:r>
              <a:rPr lang="es-ES" sz="1800" dirty="0" err="1">
                <a:effectLst/>
                <a:latin typeface="Arial" panose="020B0604020202020204" pitchFamily="34" charset="0"/>
                <a:ea typeface="Times New Roman" panose="02020603050405020304" pitchFamily="18" charset="0"/>
                <a:cs typeface="Times New Roman" panose="02020603050405020304" pitchFamily="18" charset="0"/>
              </a:rPr>
              <a:t>zumbante</a:t>
            </a:r>
            <a:r>
              <a:rPr lang="es-ES" sz="1800" dirty="0">
                <a:effectLst/>
                <a:latin typeface="Arial" panose="020B0604020202020204" pitchFamily="34" charset="0"/>
                <a:ea typeface="Times New Roman" panose="02020603050405020304" pitchFamily="18" charset="0"/>
                <a:cs typeface="Times New Roman" panose="02020603050405020304" pitchFamily="18" charset="0"/>
              </a:rPr>
              <a:t> o ruidoso; </a:t>
            </a:r>
          </a:p>
          <a:p>
            <a:r>
              <a:rPr lang="es-ES" sz="1800" dirty="0">
                <a:effectLst/>
                <a:latin typeface="Arial" panose="020B0604020202020204" pitchFamily="34" charset="0"/>
                <a:ea typeface="Times New Roman" panose="02020603050405020304" pitchFamily="18" charset="0"/>
                <a:cs typeface="Times New Roman" panose="02020603050405020304" pitchFamily="18" charset="0"/>
              </a:rPr>
              <a:t>2) La voz generada sigue siendo robótica y se puede diferenciar fácilmente de la grabación humana del habla</a:t>
            </a:r>
            <a:endParaRPr lang="es-ES" dirty="0"/>
          </a:p>
        </p:txBody>
      </p:sp>
    </p:spTree>
    <p:extLst>
      <p:ext uri="{BB962C8B-B14F-4D97-AF65-F5344CB8AC3E}">
        <p14:creationId xmlns:p14="http://schemas.microsoft.com/office/powerpoint/2010/main" val="11522407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02CF9497-C14B-46BD-AD16-7240BBE5D31D}"/>
              </a:ext>
            </a:extLst>
          </p:cNvPr>
          <p:cNvSpPr/>
          <p:nvPr/>
        </p:nvSpPr>
        <p:spPr>
          <a:xfrm>
            <a:off x="1861846" y="135804"/>
            <a:ext cx="7770653" cy="830997"/>
          </a:xfrm>
          <a:prstGeom prst="rect">
            <a:avLst/>
          </a:prstGeom>
          <a:noFill/>
        </p:spPr>
        <p:txBody>
          <a:bodyPr wrap="none" lIns="91440" tIns="45720" rIns="91440" bIns="45720">
            <a:spAutoFit/>
          </a:bodyPr>
          <a:lstStyle/>
          <a:p>
            <a:pPr algn="ctr"/>
            <a:r>
              <a:rPr lang="es-ES" sz="4800" b="0" cap="none" spc="0" dirty="0">
                <a:ln w="0"/>
                <a:solidFill>
                  <a:schemeClr val="tx1"/>
                </a:solidFill>
                <a:effectLst>
                  <a:outerShdw blurRad="38100" dist="19050" dir="2700000" algn="tl" rotWithShape="0">
                    <a:schemeClr val="dk1">
                      <a:alpha val="40000"/>
                    </a:schemeClr>
                  </a:outerShdw>
                </a:effectLst>
              </a:rPr>
              <a:t>TTS basados en Deep </a:t>
            </a:r>
            <a:r>
              <a:rPr lang="es-ES" sz="4800" b="0" cap="none" spc="0" dirty="0" err="1">
                <a:ln w="0"/>
                <a:solidFill>
                  <a:schemeClr val="tx1"/>
                </a:solidFill>
                <a:effectLst>
                  <a:outerShdw blurRad="38100" dist="19050" dir="2700000" algn="tl" rotWithShape="0">
                    <a:schemeClr val="dk1">
                      <a:alpha val="40000"/>
                    </a:schemeClr>
                  </a:outerShdw>
                </a:effectLst>
              </a:rPr>
              <a:t>Learning</a:t>
            </a:r>
            <a:endParaRPr lang="es-ES" sz="4800" b="0" cap="none" spc="0" dirty="0">
              <a:ln w="0"/>
              <a:solidFill>
                <a:schemeClr val="tx1"/>
              </a:solidFill>
              <a:effectLst>
                <a:outerShdw blurRad="38100" dist="19050" dir="2700000" algn="tl" rotWithShape="0">
                  <a:schemeClr val="dk1">
                    <a:alpha val="40000"/>
                  </a:schemeClr>
                </a:outerShdw>
              </a:effectLst>
            </a:endParaRPr>
          </a:p>
        </p:txBody>
      </p:sp>
      <p:sp>
        <p:nvSpPr>
          <p:cNvPr id="5" name="Rectángulo 4">
            <a:extLst>
              <a:ext uri="{FF2B5EF4-FFF2-40B4-BE49-F238E27FC236}">
                <a16:creationId xmlns:a16="http://schemas.microsoft.com/office/drawing/2014/main" id="{FBF4F2D2-17C2-45CE-BCF6-E331583E7659}"/>
              </a:ext>
            </a:extLst>
          </p:cNvPr>
          <p:cNvSpPr/>
          <p:nvPr/>
        </p:nvSpPr>
        <p:spPr>
          <a:xfrm>
            <a:off x="1409699" y="1839499"/>
            <a:ext cx="3095625" cy="914400"/>
          </a:xfrm>
          <a:prstGeom prst="rect">
            <a:avLst/>
          </a:prstGeom>
          <a:solidFill>
            <a:srgbClr val="8C242E"/>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Modelos Autorregresivos (AR)</a:t>
            </a:r>
          </a:p>
        </p:txBody>
      </p:sp>
      <p:sp>
        <p:nvSpPr>
          <p:cNvPr id="6" name="Rectángulo 5">
            <a:extLst>
              <a:ext uri="{FF2B5EF4-FFF2-40B4-BE49-F238E27FC236}">
                <a16:creationId xmlns:a16="http://schemas.microsoft.com/office/drawing/2014/main" id="{4F03645E-93CE-4F6D-92FB-86AB2613463B}"/>
              </a:ext>
            </a:extLst>
          </p:cNvPr>
          <p:cNvSpPr/>
          <p:nvPr/>
        </p:nvSpPr>
        <p:spPr>
          <a:xfrm>
            <a:off x="7186618" y="1812098"/>
            <a:ext cx="3600450" cy="914400"/>
          </a:xfrm>
          <a:prstGeom prst="rect">
            <a:avLst/>
          </a:prstGeom>
          <a:solidFill>
            <a:srgbClr val="8C242E"/>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Modelos No Autorregresivos (NAR)</a:t>
            </a:r>
          </a:p>
        </p:txBody>
      </p:sp>
      <p:sp>
        <p:nvSpPr>
          <p:cNvPr id="7" name="Rectángulo 6">
            <a:extLst>
              <a:ext uri="{FF2B5EF4-FFF2-40B4-BE49-F238E27FC236}">
                <a16:creationId xmlns:a16="http://schemas.microsoft.com/office/drawing/2014/main" id="{7D1F37E3-875E-488A-9F74-4B77EED98A82}"/>
              </a:ext>
            </a:extLst>
          </p:cNvPr>
          <p:cNvSpPr/>
          <p:nvPr/>
        </p:nvSpPr>
        <p:spPr>
          <a:xfrm>
            <a:off x="733426" y="3400936"/>
            <a:ext cx="1219200" cy="914400"/>
          </a:xfrm>
          <a:prstGeom prst="rect">
            <a:avLst/>
          </a:prstGeom>
          <a:solidFill>
            <a:srgbClr val="8C242E"/>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a:t>WaveNet</a:t>
            </a:r>
            <a:endParaRPr lang="es-ES" dirty="0"/>
          </a:p>
        </p:txBody>
      </p:sp>
      <p:sp>
        <p:nvSpPr>
          <p:cNvPr id="8" name="Rectángulo 7">
            <a:extLst>
              <a:ext uri="{FF2B5EF4-FFF2-40B4-BE49-F238E27FC236}">
                <a16:creationId xmlns:a16="http://schemas.microsoft.com/office/drawing/2014/main" id="{DF5E655C-54AA-4DB5-8670-6A21A51D03CE}"/>
              </a:ext>
            </a:extLst>
          </p:cNvPr>
          <p:cNvSpPr/>
          <p:nvPr/>
        </p:nvSpPr>
        <p:spPr>
          <a:xfrm>
            <a:off x="2424111" y="3948037"/>
            <a:ext cx="1066800" cy="914400"/>
          </a:xfrm>
          <a:prstGeom prst="rect">
            <a:avLst/>
          </a:prstGeom>
          <a:solidFill>
            <a:srgbClr val="8C242E"/>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Tacotron</a:t>
            </a:r>
          </a:p>
        </p:txBody>
      </p:sp>
      <p:sp>
        <p:nvSpPr>
          <p:cNvPr id="9" name="Rectángulo 8">
            <a:extLst>
              <a:ext uri="{FF2B5EF4-FFF2-40B4-BE49-F238E27FC236}">
                <a16:creationId xmlns:a16="http://schemas.microsoft.com/office/drawing/2014/main" id="{0FAD94F7-3CC2-41C3-A812-FF578E1E7129}"/>
              </a:ext>
            </a:extLst>
          </p:cNvPr>
          <p:cNvSpPr/>
          <p:nvPr/>
        </p:nvSpPr>
        <p:spPr>
          <a:xfrm>
            <a:off x="3924302" y="3400936"/>
            <a:ext cx="1381125" cy="914400"/>
          </a:xfrm>
          <a:prstGeom prst="rect">
            <a:avLst/>
          </a:prstGeom>
          <a:solidFill>
            <a:srgbClr val="8C242E"/>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Deep-</a:t>
            </a:r>
            <a:r>
              <a:rPr lang="es-ES" dirty="0" err="1"/>
              <a:t>Voice</a:t>
            </a:r>
            <a:endParaRPr lang="es-ES" dirty="0"/>
          </a:p>
        </p:txBody>
      </p:sp>
      <p:sp>
        <p:nvSpPr>
          <p:cNvPr id="10" name="Rectángulo 9">
            <a:extLst>
              <a:ext uri="{FF2B5EF4-FFF2-40B4-BE49-F238E27FC236}">
                <a16:creationId xmlns:a16="http://schemas.microsoft.com/office/drawing/2014/main" id="{359D3F61-493C-4A9A-9295-5D35D1CA715E}"/>
              </a:ext>
            </a:extLst>
          </p:cNvPr>
          <p:cNvSpPr/>
          <p:nvPr/>
        </p:nvSpPr>
        <p:spPr>
          <a:xfrm>
            <a:off x="6272216" y="3373535"/>
            <a:ext cx="990599" cy="914400"/>
          </a:xfrm>
          <a:prstGeom prst="rect">
            <a:avLst/>
          </a:prstGeom>
          <a:solidFill>
            <a:srgbClr val="8C242E"/>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a:t>ParaNet</a:t>
            </a:r>
            <a:endParaRPr lang="es-ES" dirty="0"/>
          </a:p>
        </p:txBody>
      </p:sp>
      <p:sp>
        <p:nvSpPr>
          <p:cNvPr id="11" name="Rectángulo 10">
            <a:extLst>
              <a:ext uri="{FF2B5EF4-FFF2-40B4-BE49-F238E27FC236}">
                <a16:creationId xmlns:a16="http://schemas.microsoft.com/office/drawing/2014/main" id="{220CBAB1-93AD-4950-9D4A-35AA49113365}"/>
              </a:ext>
            </a:extLst>
          </p:cNvPr>
          <p:cNvSpPr/>
          <p:nvPr/>
        </p:nvSpPr>
        <p:spPr>
          <a:xfrm>
            <a:off x="7605715" y="4159272"/>
            <a:ext cx="1028701" cy="914400"/>
          </a:xfrm>
          <a:prstGeom prst="rect">
            <a:avLst/>
          </a:prstGeom>
          <a:solidFill>
            <a:srgbClr val="8C242E"/>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Parallel Tacotron</a:t>
            </a:r>
          </a:p>
        </p:txBody>
      </p:sp>
      <p:sp>
        <p:nvSpPr>
          <p:cNvPr id="12" name="Rectángulo 11">
            <a:extLst>
              <a:ext uri="{FF2B5EF4-FFF2-40B4-BE49-F238E27FC236}">
                <a16:creationId xmlns:a16="http://schemas.microsoft.com/office/drawing/2014/main" id="{99985CDD-7C5D-4E8F-9A4D-0E087D321AFB}"/>
              </a:ext>
            </a:extLst>
          </p:cNvPr>
          <p:cNvSpPr/>
          <p:nvPr/>
        </p:nvSpPr>
        <p:spPr>
          <a:xfrm>
            <a:off x="9182108" y="4159272"/>
            <a:ext cx="1228727" cy="914400"/>
          </a:xfrm>
          <a:prstGeom prst="rect">
            <a:avLst/>
          </a:prstGeom>
          <a:solidFill>
            <a:srgbClr val="8C242E"/>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a:t>FastSpeech</a:t>
            </a:r>
            <a:endParaRPr lang="es-ES" dirty="0"/>
          </a:p>
        </p:txBody>
      </p:sp>
      <p:sp>
        <p:nvSpPr>
          <p:cNvPr id="13" name="Rectángulo 12">
            <a:extLst>
              <a:ext uri="{FF2B5EF4-FFF2-40B4-BE49-F238E27FC236}">
                <a16:creationId xmlns:a16="http://schemas.microsoft.com/office/drawing/2014/main" id="{BCBD4CB8-836E-4123-A5CA-100BC5B16061}"/>
              </a:ext>
            </a:extLst>
          </p:cNvPr>
          <p:cNvSpPr/>
          <p:nvPr/>
        </p:nvSpPr>
        <p:spPr>
          <a:xfrm>
            <a:off x="10567997" y="3373535"/>
            <a:ext cx="1133473" cy="914400"/>
          </a:xfrm>
          <a:prstGeom prst="rect">
            <a:avLst/>
          </a:prstGeom>
          <a:solidFill>
            <a:srgbClr val="8C242E"/>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Parallel </a:t>
            </a:r>
            <a:r>
              <a:rPr lang="es-ES" dirty="0" err="1"/>
              <a:t>WaveNet</a:t>
            </a:r>
            <a:endParaRPr lang="es-ES" dirty="0"/>
          </a:p>
        </p:txBody>
      </p:sp>
      <p:cxnSp>
        <p:nvCxnSpPr>
          <p:cNvPr id="15" name="Conector: angular 14">
            <a:extLst>
              <a:ext uri="{FF2B5EF4-FFF2-40B4-BE49-F238E27FC236}">
                <a16:creationId xmlns:a16="http://schemas.microsoft.com/office/drawing/2014/main" id="{5957BA54-5147-427D-A67C-E3097353747F}"/>
              </a:ext>
            </a:extLst>
          </p:cNvPr>
          <p:cNvCxnSpPr>
            <a:stCxn id="6" idx="1"/>
            <a:endCxn id="10" idx="0"/>
          </p:cNvCxnSpPr>
          <p:nvPr/>
        </p:nvCxnSpPr>
        <p:spPr>
          <a:xfrm rot="10800000" flipV="1">
            <a:off x="6767516" y="2269297"/>
            <a:ext cx="419102" cy="1104237"/>
          </a:xfrm>
          <a:prstGeom prst="bentConnector2">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angular 16">
            <a:extLst>
              <a:ext uri="{FF2B5EF4-FFF2-40B4-BE49-F238E27FC236}">
                <a16:creationId xmlns:a16="http://schemas.microsoft.com/office/drawing/2014/main" id="{A79E8787-CF2D-4049-9607-B214B58D0F9B}"/>
              </a:ext>
            </a:extLst>
          </p:cNvPr>
          <p:cNvCxnSpPr>
            <a:stCxn id="6" idx="2"/>
            <a:endCxn id="11" idx="0"/>
          </p:cNvCxnSpPr>
          <p:nvPr/>
        </p:nvCxnSpPr>
        <p:spPr>
          <a:xfrm rot="5400000">
            <a:off x="7837068" y="3009497"/>
            <a:ext cx="1432774" cy="866777"/>
          </a:xfrm>
          <a:prstGeom prst="bentConnector3">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angular 18">
            <a:extLst>
              <a:ext uri="{FF2B5EF4-FFF2-40B4-BE49-F238E27FC236}">
                <a16:creationId xmlns:a16="http://schemas.microsoft.com/office/drawing/2014/main" id="{ABAA916F-CFBA-4C57-8F4B-02E55AAB0A4A}"/>
              </a:ext>
            </a:extLst>
          </p:cNvPr>
          <p:cNvCxnSpPr>
            <a:stCxn id="6" idx="2"/>
            <a:endCxn id="12" idx="0"/>
          </p:cNvCxnSpPr>
          <p:nvPr/>
        </p:nvCxnSpPr>
        <p:spPr>
          <a:xfrm rot="16200000" flipH="1">
            <a:off x="8675270" y="3038070"/>
            <a:ext cx="1432774" cy="809629"/>
          </a:xfrm>
          <a:prstGeom prst="bentConnector3">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ector: angular 20">
            <a:extLst>
              <a:ext uri="{FF2B5EF4-FFF2-40B4-BE49-F238E27FC236}">
                <a16:creationId xmlns:a16="http://schemas.microsoft.com/office/drawing/2014/main" id="{95103FFB-DC6D-4487-A038-9A040E46441F}"/>
              </a:ext>
            </a:extLst>
          </p:cNvPr>
          <p:cNvCxnSpPr>
            <a:stCxn id="6" idx="3"/>
            <a:endCxn id="13" idx="0"/>
          </p:cNvCxnSpPr>
          <p:nvPr/>
        </p:nvCxnSpPr>
        <p:spPr>
          <a:xfrm>
            <a:off x="10787068" y="2269298"/>
            <a:ext cx="347666" cy="1104237"/>
          </a:xfrm>
          <a:prstGeom prst="bentConnector2">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angular 22">
            <a:extLst>
              <a:ext uri="{FF2B5EF4-FFF2-40B4-BE49-F238E27FC236}">
                <a16:creationId xmlns:a16="http://schemas.microsoft.com/office/drawing/2014/main" id="{85901789-1130-4EA9-BEBA-9CB9145F704E}"/>
              </a:ext>
            </a:extLst>
          </p:cNvPr>
          <p:cNvCxnSpPr>
            <a:stCxn id="5" idx="2"/>
            <a:endCxn id="7" idx="0"/>
          </p:cNvCxnSpPr>
          <p:nvPr/>
        </p:nvCxnSpPr>
        <p:spPr>
          <a:xfrm rot="5400000">
            <a:off x="1826751" y="2270174"/>
            <a:ext cx="647037" cy="1614486"/>
          </a:xfrm>
          <a:prstGeom prst="bentConnector3">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angular 24">
            <a:extLst>
              <a:ext uri="{FF2B5EF4-FFF2-40B4-BE49-F238E27FC236}">
                <a16:creationId xmlns:a16="http://schemas.microsoft.com/office/drawing/2014/main" id="{88C12E6F-4433-4C4E-A3FB-234AB741F990}"/>
              </a:ext>
            </a:extLst>
          </p:cNvPr>
          <p:cNvCxnSpPr>
            <a:stCxn id="5" idx="2"/>
            <a:endCxn id="8" idx="0"/>
          </p:cNvCxnSpPr>
          <p:nvPr/>
        </p:nvCxnSpPr>
        <p:spPr>
          <a:xfrm rot="5400000">
            <a:off x="2360443" y="3350968"/>
            <a:ext cx="1194138" cy="1"/>
          </a:xfrm>
          <a:prstGeom prst="bentConnector3">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ector: angular 26">
            <a:extLst>
              <a:ext uri="{FF2B5EF4-FFF2-40B4-BE49-F238E27FC236}">
                <a16:creationId xmlns:a16="http://schemas.microsoft.com/office/drawing/2014/main" id="{5295D1FB-B107-4790-80BA-F6071CA3D192}"/>
              </a:ext>
            </a:extLst>
          </p:cNvPr>
          <p:cNvCxnSpPr>
            <a:stCxn id="5" idx="2"/>
            <a:endCxn id="9" idx="0"/>
          </p:cNvCxnSpPr>
          <p:nvPr/>
        </p:nvCxnSpPr>
        <p:spPr>
          <a:xfrm rot="16200000" flipH="1">
            <a:off x="3462670" y="2248740"/>
            <a:ext cx="647037" cy="1657353"/>
          </a:xfrm>
          <a:prstGeom prst="bentConnector3">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63309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4208E3DD-0259-402E-B609-82CB0554995B}"/>
              </a:ext>
            </a:extLst>
          </p:cNvPr>
          <p:cNvSpPr/>
          <p:nvPr/>
        </p:nvSpPr>
        <p:spPr>
          <a:xfrm>
            <a:off x="635460" y="313701"/>
            <a:ext cx="2480936" cy="830997"/>
          </a:xfrm>
          <a:prstGeom prst="rect">
            <a:avLst/>
          </a:prstGeom>
          <a:noFill/>
        </p:spPr>
        <p:txBody>
          <a:bodyPr wrap="none" lIns="91440" tIns="45720" rIns="91440" bIns="45720">
            <a:spAutoFit/>
          </a:bodyPr>
          <a:lstStyle/>
          <a:p>
            <a:pPr algn="ctr"/>
            <a:r>
              <a:rPr lang="es-ES" sz="4800" b="0" cap="none" spc="0" dirty="0" err="1">
                <a:ln w="0"/>
                <a:solidFill>
                  <a:schemeClr val="tx1"/>
                </a:solidFill>
                <a:effectLst>
                  <a:outerShdw blurRad="38100" dist="19050" dir="2700000" algn="tl" rotWithShape="0">
                    <a:schemeClr val="dk1">
                      <a:alpha val="40000"/>
                    </a:schemeClr>
                  </a:outerShdw>
                </a:effectLst>
              </a:rPr>
              <a:t>WaveNet</a:t>
            </a:r>
            <a:endParaRPr lang="es-ES" sz="4800" b="0" cap="none" spc="0" dirty="0">
              <a:ln w="0"/>
              <a:solidFill>
                <a:schemeClr val="tx1"/>
              </a:solidFill>
              <a:effectLst>
                <a:outerShdw blurRad="38100" dist="19050" dir="2700000" algn="tl" rotWithShape="0">
                  <a:schemeClr val="dk1">
                    <a:alpha val="40000"/>
                  </a:schemeClr>
                </a:outerShdw>
              </a:effectLst>
            </a:endParaRPr>
          </a:p>
        </p:txBody>
      </p:sp>
      <p:sp>
        <p:nvSpPr>
          <p:cNvPr id="4" name="CuadroTexto 3">
            <a:extLst>
              <a:ext uri="{FF2B5EF4-FFF2-40B4-BE49-F238E27FC236}">
                <a16:creationId xmlns:a16="http://schemas.microsoft.com/office/drawing/2014/main" id="{41A3E8E3-801A-4820-ABEE-084D924103BD}"/>
              </a:ext>
            </a:extLst>
          </p:cNvPr>
          <p:cNvSpPr txBox="1"/>
          <p:nvPr/>
        </p:nvSpPr>
        <p:spPr>
          <a:xfrm>
            <a:off x="600074" y="1234559"/>
            <a:ext cx="10956465" cy="1709571"/>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Introducido en 2016 por Google </a:t>
            </a:r>
            <a:r>
              <a:rPr lang="es-ES" sz="1800" dirty="0" err="1">
                <a:effectLst/>
                <a:latin typeface="Arial" panose="020B0604020202020204" pitchFamily="34" charset="0"/>
                <a:ea typeface="Times New Roman" panose="02020603050405020304" pitchFamily="18" charset="0"/>
                <a:cs typeface="Times New Roman" panose="02020603050405020304" pitchFamily="18" charset="0"/>
              </a:rPr>
              <a:t>DeepMind</a:t>
            </a:r>
            <a:endParaRPr lang="es-ES" sz="1800" dirty="0">
              <a:effectLst/>
              <a:latin typeface="Arial" panose="020B0604020202020204" pitchFamily="34" charset="0"/>
              <a:ea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Tiene un modelo de CNN que se entrena mediante grabación de voz. </a:t>
            </a:r>
          </a:p>
          <a:p>
            <a:pPr marL="285750" indent="-285750" algn="just">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La voz generada varía según el género, el idioma y el acento. </a:t>
            </a:r>
          </a:p>
          <a:p>
            <a:pPr marL="285750" indent="-285750" algn="just">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Es compatible con varios idiomas hablados en el mundo</a:t>
            </a:r>
            <a:endParaRPr lang="es-ES" dirty="0"/>
          </a:p>
        </p:txBody>
      </p:sp>
      <p:pic>
        <p:nvPicPr>
          <p:cNvPr id="5" name="Imagen 4">
            <a:extLst>
              <a:ext uri="{FF2B5EF4-FFF2-40B4-BE49-F238E27FC236}">
                <a16:creationId xmlns:a16="http://schemas.microsoft.com/office/drawing/2014/main" id="{DFA0DEB8-B4B9-496E-890E-9DA881323547}"/>
              </a:ext>
            </a:extLst>
          </p:cNvPr>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Lst>
          </a:blip>
          <a:srcRect t="8829" r="2869" b="17494"/>
          <a:stretch/>
        </p:blipFill>
        <p:spPr bwMode="auto">
          <a:xfrm>
            <a:off x="635460" y="3864987"/>
            <a:ext cx="6651748" cy="2427233"/>
          </a:xfrm>
          <a:prstGeom prst="rect">
            <a:avLst/>
          </a:prstGeom>
          <a:ln>
            <a:solidFill>
              <a:schemeClr val="bg1">
                <a:lumMod val="65000"/>
              </a:schemeClr>
            </a:solidFill>
          </a:ln>
          <a:extLst>
            <a:ext uri="{53640926-AAD7-44D8-BBD7-CCE9431645EC}">
              <a14:shadowObscured xmlns:a14="http://schemas.microsoft.com/office/drawing/2010/main"/>
            </a:ext>
          </a:extLst>
        </p:spPr>
      </p:pic>
      <p:sp>
        <p:nvSpPr>
          <p:cNvPr id="7" name="CuadroTexto 6">
            <a:extLst>
              <a:ext uri="{FF2B5EF4-FFF2-40B4-BE49-F238E27FC236}">
                <a16:creationId xmlns:a16="http://schemas.microsoft.com/office/drawing/2014/main" id="{2464D0A6-BC8F-4B2F-8BA9-7C1DDBE8BE84}"/>
              </a:ext>
            </a:extLst>
          </p:cNvPr>
          <p:cNvSpPr txBox="1"/>
          <p:nvPr/>
        </p:nvSpPr>
        <p:spPr>
          <a:xfrm>
            <a:off x="7475501" y="5152445"/>
            <a:ext cx="4248150" cy="646331"/>
          </a:xfrm>
          <a:prstGeom prst="rect">
            <a:avLst/>
          </a:prstGeom>
          <a:noFill/>
        </p:spPr>
        <p:txBody>
          <a:bodyPr wrap="square">
            <a:spAutoFit/>
          </a:bodyPr>
          <a:lstStyle/>
          <a:p>
            <a:r>
              <a:rPr lang="es-ES" u="sng" dirty="0">
                <a:latin typeface="Arial" panose="020B0604020202020204" pitchFamily="34" charset="0"/>
                <a:ea typeface="Times New Roman" panose="02020603050405020304" pitchFamily="18" charset="0"/>
                <a:cs typeface="Times New Roman" panose="02020603050405020304" pitchFamily="18" charset="0"/>
              </a:rPr>
              <a:t>C</a:t>
            </a:r>
            <a:r>
              <a:rPr lang="es-ES" sz="1800" u="sng" dirty="0">
                <a:effectLst/>
                <a:latin typeface="Arial" panose="020B0604020202020204" pitchFamily="34" charset="0"/>
                <a:ea typeface="Times New Roman" panose="02020603050405020304" pitchFamily="18" charset="0"/>
                <a:cs typeface="Times New Roman" panose="02020603050405020304" pitchFamily="18" charset="0"/>
              </a:rPr>
              <a:t>alificación MOS (Mean </a:t>
            </a:r>
            <a:r>
              <a:rPr lang="es-ES" sz="1800" u="sng" dirty="0" err="1">
                <a:effectLst/>
                <a:latin typeface="Arial" panose="020B0604020202020204" pitchFamily="34" charset="0"/>
                <a:ea typeface="Times New Roman" panose="02020603050405020304" pitchFamily="18" charset="0"/>
                <a:cs typeface="Times New Roman" panose="02020603050405020304" pitchFamily="18" charset="0"/>
              </a:rPr>
              <a:t>Opinion</a:t>
            </a:r>
            <a:r>
              <a:rPr lang="es-ES" sz="1800" u="sng" dirty="0">
                <a:effectLst/>
                <a:latin typeface="Arial" panose="020B0604020202020204" pitchFamily="34" charset="0"/>
                <a:ea typeface="Times New Roman" panose="02020603050405020304" pitchFamily="18" charset="0"/>
                <a:cs typeface="Times New Roman" panose="02020603050405020304" pitchFamily="18" charset="0"/>
              </a:rPr>
              <a:t> Score) promedio de 4.1 en la escala de 1 a 5</a:t>
            </a:r>
            <a:endParaRPr lang="es-ES" dirty="0"/>
          </a:p>
        </p:txBody>
      </p:sp>
      <p:pic>
        <p:nvPicPr>
          <p:cNvPr id="8" name="Imagen 7">
            <a:extLst>
              <a:ext uri="{FF2B5EF4-FFF2-40B4-BE49-F238E27FC236}">
                <a16:creationId xmlns:a16="http://schemas.microsoft.com/office/drawing/2014/main" id="{6AF63107-2513-4C54-A24A-E5D9409192D3}"/>
              </a:ext>
            </a:extLst>
          </p:cNvPr>
          <p:cNvPicPr>
            <a:picLocks noChangeAspect="1"/>
          </p:cNvPicPr>
          <p:nvPr/>
        </p:nvPicPr>
        <p:blipFill rotWithShape="1">
          <a:blip r:embed="rId4"/>
          <a:srcRect l="2241" t="30543" r="1476" b="32019"/>
          <a:stretch/>
        </p:blipFill>
        <p:spPr>
          <a:xfrm>
            <a:off x="8219780" y="430333"/>
            <a:ext cx="3336759" cy="804226"/>
          </a:xfrm>
          <a:prstGeom prst="rect">
            <a:avLst/>
          </a:prstGeom>
        </p:spPr>
      </p:pic>
    </p:spTree>
    <p:extLst>
      <p:ext uri="{BB962C8B-B14F-4D97-AF65-F5344CB8AC3E}">
        <p14:creationId xmlns:p14="http://schemas.microsoft.com/office/powerpoint/2010/main" val="16474510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904F9F54-F5F0-41C8-BDA4-A5007B156E34}"/>
              </a:ext>
            </a:extLst>
          </p:cNvPr>
          <p:cNvSpPr/>
          <p:nvPr/>
        </p:nvSpPr>
        <p:spPr>
          <a:xfrm>
            <a:off x="583451" y="3291562"/>
            <a:ext cx="2824171" cy="830997"/>
          </a:xfrm>
          <a:prstGeom prst="rect">
            <a:avLst/>
          </a:prstGeom>
          <a:noFill/>
        </p:spPr>
        <p:txBody>
          <a:bodyPr wrap="none" lIns="91440" tIns="45720" rIns="91440" bIns="45720">
            <a:spAutoFit/>
          </a:bodyPr>
          <a:lstStyle/>
          <a:p>
            <a:pPr algn="ctr"/>
            <a:r>
              <a:rPr lang="es-ES" sz="4800" b="0" cap="none" spc="0" dirty="0">
                <a:ln w="0"/>
                <a:solidFill>
                  <a:schemeClr val="tx1"/>
                </a:solidFill>
                <a:effectLst>
                  <a:outerShdw blurRad="38100" dist="19050" dir="2700000" algn="tl" rotWithShape="0">
                    <a:schemeClr val="dk1">
                      <a:alpha val="40000"/>
                    </a:schemeClr>
                  </a:outerShdw>
                </a:effectLst>
              </a:rPr>
              <a:t>Tacotron 2</a:t>
            </a:r>
          </a:p>
        </p:txBody>
      </p:sp>
      <p:sp>
        <p:nvSpPr>
          <p:cNvPr id="4" name="CuadroTexto 3">
            <a:extLst>
              <a:ext uri="{FF2B5EF4-FFF2-40B4-BE49-F238E27FC236}">
                <a16:creationId xmlns:a16="http://schemas.microsoft.com/office/drawing/2014/main" id="{82E726C0-727A-4D8C-8AAD-435924A4AA24}"/>
              </a:ext>
            </a:extLst>
          </p:cNvPr>
          <p:cNvSpPr txBox="1"/>
          <p:nvPr/>
        </p:nvSpPr>
        <p:spPr>
          <a:xfrm>
            <a:off x="357427" y="1036082"/>
            <a:ext cx="11015861" cy="170303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Lanzado en 2017</a:t>
            </a:r>
          </a:p>
          <a:p>
            <a:pPr marL="285750" indent="-285750">
              <a:lnSpc>
                <a:spcPct val="150000"/>
              </a:lnSpc>
              <a:buFont typeface="Arial" panose="020B0604020202020204" pitchFamily="34" charset="0"/>
              <a:buChar char="•"/>
            </a:pPr>
            <a:r>
              <a:rPr lang="es-ES" dirty="0">
                <a:latin typeface="Arial" panose="020B0604020202020204" pitchFamily="34" charset="0"/>
                <a:ea typeface="Times New Roman" panose="02020603050405020304" pitchFamily="18" charset="0"/>
                <a:cs typeface="Times New Roman" panose="02020603050405020304" pitchFamily="18" charset="0"/>
              </a:rPr>
              <a:t>U</a:t>
            </a:r>
            <a:r>
              <a:rPr lang="es-ES" sz="1800" dirty="0">
                <a:effectLst/>
                <a:latin typeface="Arial" panose="020B0604020202020204" pitchFamily="34" charset="0"/>
                <a:ea typeface="Times New Roman" panose="02020603050405020304" pitchFamily="18" charset="0"/>
                <a:cs typeface="Times New Roman" panose="02020603050405020304" pitchFamily="18" charset="0"/>
              </a:rPr>
              <a:t>tiliza un modelo generativo similar a </a:t>
            </a:r>
            <a:r>
              <a:rPr lang="es-ES" sz="1800" dirty="0" err="1">
                <a:effectLst/>
                <a:latin typeface="Arial" panose="020B0604020202020204" pitchFamily="34" charset="0"/>
                <a:ea typeface="Times New Roman" panose="02020603050405020304" pitchFamily="18" charset="0"/>
                <a:cs typeface="Times New Roman" panose="02020603050405020304" pitchFamily="18" charset="0"/>
              </a:rPr>
              <a:t>WaveNet</a:t>
            </a:r>
            <a:r>
              <a:rPr lang="es-ES" sz="1800" dirty="0">
                <a:effectLst/>
                <a:latin typeface="Arial" panose="020B0604020202020204" pitchFamily="34" charset="0"/>
                <a:ea typeface="Times New Roman" panose="02020603050405020304" pitchFamily="18" charset="0"/>
                <a:cs typeface="Times New Roman" panose="02020603050405020304" pitchFamily="18" charset="0"/>
              </a:rPr>
              <a:t> para la síntesis de voz de extremo a extremo.</a:t>
            </a:r>
          </a:p>
          <a:p>
            <a:pPr marL="285750" indent="-285750">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Tacotron se aplica a casi todos los idiomas</a:t>
            </a:r>
          </a:p>
          <a:p>
            <a:pPr marL="285750" indent="-285750">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Tiene una calificación MOS de 3.82 en la escala de 1 a 5 para inglés de EE. UU. </a:t>
            </a:r>
          </a:p>
        </p:txBody>
      </p:sp>
      <p:sp>
        <p:nvSpPr>
          <p:cNvPr id="5" name="Rectángulo 4">
            <a:extLst>
              <a:ext uri="{FF2B5EF4-FFF2-40B4-BE49-F238E27FC236}">
                <a16:creationId xmlns:a16="http://schemas.microsoft.com/office/drawing/2014/main" id="{80B4F48B-2A60-4E6F-A29E-1C52098A3094}"/>
              </a:ext>
            </a:extLst>
          </p:cNvPr>
          <p:cNvSpPr/>
          <p:nvPr/>
        </p:nvSpPr>
        <p:spPr>
          <a:xfrm>
            <a:off x="583451" y="309860"/>
            <a:ext cx="2372124" cy="830997"/>
          </a:xfrm>
          <a:prstGeom prst="rect">
            <a:avLst/>
          </a:prstGeom>
          <a:noFill/>
        </p:spPr>
        <p:txBody>
          <a:bodyPr wrap="none" lIns="91440" tIns="45720" rIns="91440" bIns="45720">
            <a:spAutoFit/>
          </a:bodyPr>
          <a:lstStyle/>
          <a:p>
            <a:pPr algn="ctr"/>
            <a:r>
              <a:rPr lang="es-ES" sz="4800" b="0" cap="none" spc="0" dirty="0">
                <a:ln w="0"/>
                <a:solidFill>
                  <a:schemeClr val="tx1"/>
                </a:solidFill>
                <a:effectLst>
                  <a:outerShdw blurRad="38100" dist="19050" dir="2700000" algn="tl" rotWithShape="0">
                    <a:schemeClr val="dk1">
                      <a:alpha val="40000"/>
                    </a:schemeClr>
                  </a:outerShdw>
                </a:effectLst>
              </a:rPr>
              <a:t>Tacotron</a:t>
            </a:r>
          </a:p>
        </p:txBody>
      </p:sp>
      <p:sp>
        <p:nvSpPr>
          <p:cNvPr id="7" name="CuadroTexto 6">
            <a:extLst>
              <a:ext uri="{FF2B5EF4-FFF2-40B4-BE49-F238E27FC236}">
                <a16:creationId xmlns:a16="http://schemas.microsoft.com/office/drawing/2014/main" id="{BE5FD847-C391-4EF2-88F5-31F7BF2BD47B}"/>
              </a:ext>
            </a:extLst>
          </p:cNvPr>
          <p:cNvSpPr txBox="1"/>
          <p:nvPr/>
        </p:nvSpPr>
        <p:spPr>
          <a:xfrm>
            <a:off x="357427" y="4071263"/>
            <a:ext cx="11456398" cy="170957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Es una versión mejorada de Tacotron lanzada por Google en 2018. </a:t>
            </a:r>
          </a:p>
          <a:p>
            <a:pPr marL="285750" indent="-285750">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Combina CNN y RNN para sintetizar el habla natural de alta calidad.</a:t>
            </a:r>
          </a:p>
          <a:p>
            <a:pPr marL="285750" indent="-285750">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El modelo genera el espectrograma </a:t>
            </a:r>
            <a:r>
              <a:rPr lang="es-ES" dirty="0">
                <a:latin typeface="Arial" panose="020B0604020202020204" pitchFamily="34" charset="0"/>
                <a:ea typeface="Times New Roman" panose="02020603050405020304" pitchFamily="18" charset="0"/>
                <a:cs typeface="Times New Roman" panose="02020603050405020304" pitchFamily="18" charset="0"/>
              </a:rPr>
              <a:t>M</a:t>
            </a:r>
            <a:r>
              <a:rPr lang="es-ES" sz="1800" dirty="0">
                <a:effectLst/>
                <a:latin typeface="Arial" panose="020B0604020202020204" pitchFamily="34" charset="0"/>
                <a:ea typeface="Times New Roman" panose="02020603050405020304" pitchFamily="18" charset="0"/>
                <a:cs typeface="Times New Roman" panose="02020603050405020304" pitchFamily="18" charset="0"/>
              </a:rPr>
              <a:t>el a partir del texto y, a continuación, se utiliza el </a:t>
            </a:r>
            <a:r>
              <a:rPr lang="es-ES" sz="1800" dirty="0" err="1">
                <a:effectLst/>
                <a:latin typeface="Arial" panose="020B0604020202020204" pitchFamily="34" charset="0"/>
                <a:ea typeface="Times New Roman" panose="02020603050405020304" pitchFamily="18" charset="0"/>
                <a:cs typeface="Times New Roman" panose="02020603050405020304" pitchFamily="18" charset="0"/>
              </a:rPr>
              <a:t>vocoder</a:t>
            </a:r>
            <a:r>
              <a:rPr lang="es-ES" sz="1800" dirty="0">
                <a:effectLst/>
                <a:latin typeface="Arial" panose="020B0604020202020204" pitchFamily="34" charset="0"/>
                <a:ea typeface="Times New Roman" panose="02020603050405020304" pitchFamily="18" charset="0"/>
                <a:cs typeface="Times New Roman" panose="02020603050405020304" pitchFamily="18" charset="0"/>
              </a:rPr>
              <a:t> </a:t>
            </a:r>
            <a:r>
              <a:rPr lang="es-ES" sz="1800" dirty="0" err="1">
                <a:effectLst/>
                <a:latin typeface="Arial" panose="020B0604020202020204" pitchFamily="34" charset="0"/>
                <a:ea typeface="Times New Roman" panose="02020603050405020304" pitchFamily="18" charset="0"/>
                <a:cs typeface="Times New Roman" panose="02020603050405020304" pitchFamily="18" charset="0"/>
              </a:rPr>
              <a:t>WaveNet</a:t>
            </a:r>
            <a:r>
              <a:rPr lang="es-ES" sz="1800" dirty="0">
                <a:effectLst/>
                <a:latin typeface="Arial" panose="020B0604020202020204" pitchFamily="34" charset="0"/>
                <a:ea typeface="Times New Roman" panose="02020603050405020304" pitchFamily="18" charset="0"/>
                <a:cs typeface="Times New Roman" panose="02020603050405020304" pitchFamily="18" charset="0"/>
              </a:rPr>
              <a:t> modificado para generar formas de onda de voz</a:t>
            </a:r>
            <a:endParaRPr lang="es-ES" dirty="0"/>
          </a:p>
        </p:txBody>
      </p:sp>
    </p:spTree>
    <p:extLst>
      <p:ext uri="{BB962C8B-B14F-4D97-AF65-F5344CB8AC3E}">
        <p14:creationId xmlns:p14="http://schemas.microsoft.com/office/powerpoint/2010/main" val="28271541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B6029E1A-44E7-4FDA-89BD-C71055A1E5CC}"/>
              </a:ext>
            </a:extLst>
          </p:cNvPr>
          <p:cNvGrpSpPr/>
          <p:nvPr/>
        </p:nvGrpSpPr>
        <p:grpSpPr>
          <a:xfrm>
            <a:off x="2286001" y="1724025"/>
            <a:ext cx="6839338" cy="2667000"/>
            <a:chOff x="2047876" y="1524000"/>
            <a:chExt cx="5638800" cy="2143125"/>
          </a:xfrm>
        </p:grpSpPr>
        <p:pic>
          <p:nvPicPr>
            <p:cNvPr id="2" name="Imagen 1">
              <a:extLst>
                <a:ext uri="{FF2B5EF4-FFF2-40B4-BE49-F238E27FC236}">
                  <a16:creationId xmlns:a16="http://schemas.microsoft.com/office/drawing/2014/main" id="{E72ECB99-0263-4A09-83E8-C575A59D39D1}"/>
                </a:ext>
              </a:extLst>
            </p:cNvPr>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Lst>
            </a:blip>
            <a:srcRect l="86072" t="9363" b="26650"/>
            <a:stretch/>
          </p:blipFill>
          <p:spPr bwMode="auto">
            <a:xfrm>
              <a:off x="6734175" y="1524000"/>
              <a:ext cx="952501" cy="2143125"/>
            </a:xfrm>
            <a:prstGeom prst="rect">
              <a:avLst/>
            </a:prstGeom>
            <a:ln>
              <a:noFill/>
            </a:ln>
            <a:extLst>
              <a:ext uri="{53640926-AAD7-44D8-BBD7-CCE9431645EC}">
                <a14:shadowObscured xmlns:a14="http://schemas.microsoft.com/office/drawing/2010/main"/>
              </a:ext>
            </a:extLst>
          </p:spPr>
        </p:pic>
        <p:pic>
          <p:nvPicPr>
            <p:cNvPr id="3" name="Imagen 2">
              <a:extLst>
                <a:ext uri="{FF2B5EF4-FFF2-40B4-BE49-F238E27FC236}">
                  <a16:creationId xmlns:a16="http://schemas.microsoft.com/office/drawing/2014/main" id="{63C1F5B4-6AFA-49DC-AB6E-63824E64E475}"/>
                </a:ext>
              </a:extLst>
            </p:cNvPr>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Lst>
            </a:blip>
            <a:srcRect t="9363" r="31476" b="26650"/>
            <a:stretch/>
          </p:blipFill>
          <p:spPr bwMode="auto">
            <a:xfrm>
              <a:off x="2047876" y="1524000"/>
              <a:ext cx="4686299" cy="2143125"/>
            </a:xfrm>
            <a:prstGeom prst="rect">
              <a:avLst/>
            </a:prstGeom>
            <a:ln>
              <a:noFill/>
            </a:ln>
            <a:extLst>
              <a:ext uri="{53640926-AAD7-44D8-BBD7-CCE9431645EC}">
                <a14:shadowObscured xmlns:a14="http://schemas.microsoft.com/office/drawing/2010/main"/>
              </a:ext>
            </a:extLst>
          </p:spPr>
        </p:pic>
        <p:sp>
          <p:nvSpPr>
            <p:cNvPr id="5" name="Rectángulo 4">
              <a:extLst>
                <a:ext uri="{FF2B5EF4-FFF2-40B4-BE49-F238E27FC236}">
                  <a16:creationId xmlns:a16="http://schemas.microsoft.com/office/drawing/2014/main" id="{95184FCD-7045-4991-81FF-C41DADF33175}"/>
                </a:ext>
              </a:extLst>
            </p:cNvPr>
            <p:cNvSpPr/>
            <p:nvPr/>
          </p:nvSpPr>
          <p:spPr>
            <a:xfrm>
              <a:off x="4200525" y="3429000"/>
              <a:ext cx="523875" cy="2381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bg1"/>
                </a:solidFill>
              </a:endParaRPr>
            </a:p>
          </p:txBody>
        </p:sp>
      </p:grpSp>
    </p:spTree>
    <p:extLst>
      <p:ext uri="{BB962C8B-B14F-4D97-AF65-F5344CB8AC3E}">
        <p14:creationId xmlns:p14="http://schemas.microsoft.com/office/powerpoint/2010/main" val="11058867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24E27FD9-76E5-414F-8F7C-CB26D6ED7A81}"/>
              </a:ext>
            </a:extLst>
          </p:cNvPr>
          <p:cNvSpPr/>
          <p:nvPr/>
        </p:nvSpPr>
        <p:spPr>
          <a:xfrm>
            <a:off x="640061" y="319385"/>
            <a:ext cx="3044230" cy="830997"/>
          </a:xfrm>
          <a:prstGeom prst="rect">
            <a:avLst/>
          </a:prstGeom>
          <a:noFill/>
        </p:spPr>
        <p:txBody>
          <a:bodyPr wrap="none" lIns="91440" tIns="45720" rIns="91440" bIns="45720">
            <a:spAutoFit/>
          </a:bodyPr>
          <a:lstStyle/>
          <a:p>
            <a:pPr algn="ctr"/>
            <a:r>
              <a:rPr lang="es-ES" sz="4800" b="0" cap="none" spc="0" dirty="0">
                <a:ln w="0"/>
                <a:solidFill>
                  <a:schemeClr val="tx1"/>
                </a:solidFill>
                <a:effectLst>
                  <a:outerShdw blurRad="38100" dist="19050" dir="2700000" algn="tl" rotWithShape="0">
                    <a:schemeClr val="dk1">
                      <a:alpha val="40000"/>
                    </a:schemeClr>
                  </a:outerShdw>
                </a:effectLst>
              </a:rPr>
              <a:t>Deep-</a:t>
            </a:r>
            <a:r>
              <a:rPr lang="es-ES" sz="4800" b="0" cap="none" spc="0" dirty="0" err="1">
                <a:ln w="0"/>
                <a:solidFill>
                  <a:schemeClr val="tx1"/>
                </a:solidFill>
                <a:effectLst>
                  <a:outerShdw blurRad="38100" dist="19050" dir="2700000" algn="tl" rotWithShape="0">
                    <a:schemeClr val="dk1">
                      <a:alpha val="40000"/>
                    </a:schemeClr>
                  </a:outerShdw>
                </a:effectLst>
              </a:rPr>
              <a:t>Voice</a:t>
            </a:r>
            <a:endParaRPr lang="es-ES" sz="4800" b="0" cap="none" spc="0" dirty="0">
              <a:ln w="0"/>
              <a:solidFill>
                <a:schemeClr val="tx1"/>
              </a:solidFill>
              <a:effectLst>
                <a:outerShdw blurRad="38100" dist="19050" dir="2700000" algn="tl" rotWithShape="0">
                  <a:schemeClr val="dk1">
                    <a:alpha val="40000"/>
                  </a:schemeClr>
                </a:outerShdw>
              </a:effectLst>
            </a:endParaRPr>
          </a:p>
        </p:txBody>
      </p:sp>
      <p:sp>
        <p:nvSpPr>
          <p:cNvPr id="4" name="CuadroTexto 3">
            <a:extLst>
              <a:ext uri="{FF2B5EF4-FFF2-40B4-BE49-F238E27FC236}">
                <a16:creationId xmlns:a16="http://schemas.microsoft.com/office/drawing/2014/main" id="{DBD7388E-2E57-4A24-948E-8D1FFC67EA9F}"/>
              </a:ext>
            </a:extLst>
          </p:cNvPr>
          <p:cNvSpPr txBox="1"/>
          <p:nvPr/>
        </p:nvSpPr>
        <p:spPr>
          <a:xfrm>
            <a:off x="390525" y="1150382"/>
            <a:ext cx="10868025" cy="1908215"/>
          </a:xfrm>
          <a:prstGeom prst="rect">
            <a:avLst/>
          </a:prstGeom>
          <a:noFill/>
        </p:spPr>
        <p:txBody>
          <a:bodyPr wrap="square">
            <a:spAutoFit/>
          </a:bodyPr>
          <a:lstStyle/>
          <a:p>
            <a:pPr marL="285750" indent="-285750" algn="just">
              <a:lnSpc>
                <a:spcPct val="150000"/>
              </a:lnSpc>
              <a:spcAft>
                <a:spcPts val="800"/>
              </a:spcAft>
              <a:buFont typeface="Arial" panose="020B0604020202020204" pitchFamily="34" charset="0"/>
              <a:buChar char="•"/>
            </a:pPr>
            <a:r>
              <a:rPr lang="es-ES" dirty="0">
                <a:latin typeface="Arial" panose="020B0604020202020204" pitchFamily="34" charset="0"/>
                <a:ea typeface="Times New Roman" panose="02020603050405020304" pitchFamily="18" charset="0"/>
                <a:cs typeface="Times New Roman" panose="02020603050405020304" pitchFamily="18" charset="0"/>
              </a:rPr>
              <a:t>P</a:t>
            </a:r>
            <a:r>
              <a:rPr lang="es-ES" sz="1800" dirty="0">
                <a:effectLst/>
                <a:latin typeface="Arial" panose="020B0604020202020204" pitchFamily="34" charset="0"/>
                <a:ea typeface="Times New Roman" panose="02020603050405020304" pitchFamily="18" charset="0"/>
                <a:cs typeface="Times New Roman" panose="02020603050405020304" pitchFamily="18" charset="0"/>
              </a:rPr>
              <a:t>resentado por primera vez en 2017 </a:t>
            </a:r>
          </a:p>
          <a:p>
            <a:pPr marL="285750" indent="-285750" algn="just">
              <a:lnSpc>
                <a:spcPct val="150000"/>
              </a:lnSpc>
              <a:spcAft>
                <a:spcPts val="800"/>
              </a:spcAft>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Se basa en las redes neuronales que comprende un modelo de segmentación, un modelo para cambiar grafema a fonema, modelos para predecir la duración de los fonemas y su valor F0, </a:t>
            </a:r>
          </a:p>
          <a:p>
            <a:pPr marL="285750" indent="-285750" algn="just">
              <a:lnSpc>
                <a:spcPct val="150000"/>
              </a:lnSpc>
              <a:spcAft>
                <a:spcPts val="800"/>
              </a:spcAft>
              <a:buFont typeface="Arial" panose="020B0604020202020204" pitchFamily="34" charset="0"/>
              <a:buChar char="•"/>
            </a:pPr>
            <a:r>
              <a:rPr lang="es-ES" dirty="0">
                <a:latin typeface="Arial" panose="020B0604020202020204" pitchFamily="34" charset="0"/>
                <a:ea typeface="Times New Roman" panose="02020603050405020304" pitchFamily="18" charset="0"/>
                <a:cs typeface="Times New Roman" panose="02020603050405020304" pitchFamily="18" charset="0"/>
              </a:rPr>
              <a:t>V</a:t>
            </a:r>
            <a:r>
              <a:rPr lang="es-ES" sz="1800" dirty="0">
                <a:effectLst/>
                <a:latin typeface="Arial" panose="020B0604020202020204" pitchFamily="34" charset="0"/>
                <a:ea typeface="Times New Roman" panose="02020603050405020304" pitchFamily="18" charset="0"/>
                <a:cs typeface="Times New Roman" panose="02020603050405020304" pitchFamily="18" charset="0"/>
              </a:rPr>
              <a:t>ariante de un modelo </a:t>
            </a:r>
            <a:r>
              <a:rPr lang="es-ES" sz="1800" dirty="0" err="1">
                <a:effectLst/>
                <a:latin typeface="Arial" panose="020B0604020202020204" pitchFamily="34" charset="0"/>
                <a:ea typeface="Times New Roman" panose="02020603050405020304" pitchFamily="18" charset="0"/>
                <a:cs typeface="Times New Roman" panose="02020603050405020304" pitchFamily="18" charset="0"/>
              </a:rPr>
              <a:t>WaveNet</a:t>
            </a:r>
            <a:r>
              <a:rPr lang="es-ES" sz="1800" dirty="0">
                <a:effectLst/>
                <a:latin typeface="Arial" panose="020B0604020202020204" pitchFamily="34" charset="0"/>
                <a:ea typeface="Times New Roman" panose="02020603050405020304" pitchFamily="18" charset="0"/>
                <a:cs typeface="Times New Roman" panose="02020603050405020304" pitchFamily="18" charset="0"/>
              </a:rPr>
              <a:t> que necesita menos </a:t>
            </a:r>
            <a:r>
              <a:rPr lang="es-ES" sz="1800" dirty="0" err="1">
                <a:effectLst/>
                <a:latin typeface="Arial" panose="020B0604020202020204" pitchFamily="34" charset="0"/>
                <a:ea typeface="Times New Roman" panose="02020603050405020304" pitchFamily="18" charset="0"/>
                <a:cs typeface="Times New Roman" panose="02020603050405020304" pitchFamily="18" charset="0"/>
              </a:rPr>
              <a:t>hiperparámetros</a:t>
            </a:r>
            <a:r>
              <a:rPr lang="es-ES" sz="1800" dirty="0">
                <a:effectLst/>
                <a:latin typeface="Arial" panose="020B0604020202020204" pitchFamily="34" charset="0"/>
                <a:ea typeface="Times New Roman" panose="02020603050405020304" pitchFamily="18" charset="0"/>
                <a:cs typeface="Times New Roman" panose="02020603050405020304" pitchFamily="18" charset="0"/>
              </a:rPr>
              <a:t> para sintetizar el audio.</a:t>
            </a:r>
          </a:p>
        </p:txBody>
      </p:sp>
      <p:sp>
        <p:nvSpPr>
          <p:cNvPr id="5" name="Rectángulo 4">
            <a:extLst>
              <a:ext uri="{FF2B5EF4-FFF2-40B4-BE49-F238E27FC236}">
                <a16:creationId xmlns:a16="http://schemas.microsoft.com/office/drawing/2014/main" id="{6BBF139F-068B-4C5D-AC32-033769394244}"/>
              </a:ext>
            </a:extLst>
          </p:cNvPr>
          <p:cNvSpPr/>
          <p:nvPr/>
        </p:nvSpPr>
        <p:spPr>
          <a:xfrm>
            <a:off x="516927" y="3230047"/>
            <a:ext cx="3496278" cy="830997"/>
          </a:xfrm>
          <a:prstGeom prst="rect">
            <a:avLst/>
          </a:prstGeom>
          <a:noFill/>
        </p:spPr>
        <p:txBody>
          <a:bodyPr wrap="none" lIns="91440" tIns="45720" rIns="91440" bIns="45720">
            <a:spAutoFit/>
          </a:bodyPr>
          <a:lstStyle/>
          <a:p>
            <a:pPr algn="ctr"/>
            <a:r>
              <a:rPr lang="es-ES" sz="4800" b="0" cap="none" spc="0" dirty="0">
                <a:ln w="0"/>
                <a:solidFill>
                  <a:schemeClr val="tx1"/>
                </a:solidFill>
                <a:effectLst>
                  <a:outerShdw blurRad="38100" dist="19050" dir="2700000" algn="tl" rotWithShape="0">
                    <a:schemeClr val="dk1">
                      <a:alpha val="40000"/>
                    </a:schemeClr>
                  </a:outerShdw>
                </a:effectLst>
              </a:rPr>
              <a:t>Deep-</a:t>
            </a:r>
            <a:r>
              <a:rPr lang="es-ES" sz="4800" b="0" cap="none" spc="0" dirty="0" err="1">
                <a:ln w="0"/>
                <a:solidFill>
                  <a:schemeClr val="tx1"/>
                </a:solidFill>
                <a:effectLst>
                  <a:outerShdw blurRad="38100" dist="19050" dir="2700000" algn="tl" rotWithShape="0">
                    <a:schemeClr val="dk1">
                      <a:alpha val="40000"/>
                    </a:schemeClr>
                  </a:outerShdw>
                </a:effectLst>
              </a:rPr>
              <a:t>Voice</a:t>
            </a:r>
            <a:r>
              <a:rPr lang="es-ES" sz="4800" b="0" cap="none" spc="0" dirty="0">
                <a:ln w="0"/>
                <a:solidFill>
                  <a:schemeClr val="tx1"/>
                </a:solidFill>
                <a:effectLst>
                  <a:outerShdw blurRad="38100" dist="19050" dir="2700000" algn="tl" rotWithShape="0">
                    <a:schemeClr val="dk1">
                      <a:alpha val="40000"/>
                    </a:schemeClr>
                  </a:outerShdw>
                </a:effectLst>
              </a:rPr>
              <a:t> 2</a:t>
            </a:r>
          </a:p>
        </p:txBody>
      </p:sp>
      <p:sp>
        <p:nvSpPr>
          <p:cNvPr id="7" name="CuadroTexto 6">
            <a:extLst>
              <a:ext uri="{FF2B5EF4-FFF2-40B4-BE49-F238E27FC236}">
                <a16:creationId xmlns:a16="http://schemas.microsoft.com/office/drawing/2014/main" id="{9848B991-EBC8-4721-B078-C19374C50B40}"/>
              </a:ext>
            </a:extLst>
          </p:cNvPr>
          <p:cNvSpPr txBox="1"/>
          <p:nvPr/>
        </p:nvSpPr>
        <p:spPr>
          <a:xfrm>
            <a:off x="390525" y="4061044"/>
            <a:ext cx="10774659" cy="1294072"/>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s-ES" dirty="0">
                <a:latin typeface="Arial" panose="020B0604020202020204" pitchFamily="34" charset="0"/>
                <a:ea typeface="Times New Roman" panose="02020603050405020304" pitchFamily="18" charset="0"/>
                <a:cs typeface="Times New Roman" panose="02020603050405020304" pitchFamily="18" charset="0"/>
              </a:rPr>
              <a:t>E</a:t>
            </a:r>
            <a:r>
              <a:rPr lang="es-ES" sz="1800" dirty="0">
                <a:effectLst/>
                <a:latin typeface="Arial" panose="020B0604020202020204" pitchFamily="34" charset="0"/>
                <a:ea typeface="Times New Roman" panose="02020603050405020304" pitchFamily="18" charset="0"/>
                <a:cs typeface="Times New Roman" panose="02020603050405020304" pitchFamily="18" charset="0"/>
              </a:rPr>
              <a:t>s la variante de Deep </a:t>
            </a:r>
            <a:r>
              <a:rPr lang="es-ES" sz="1800" dirty="0" err="1">
                <a:effectLst/>
                <a:latin typeface="Arial" panose="020B0604020202020204" pitchFamily="34" charset="0"/>
                <a:ea typeface="Times New Roman" panose="02020603050405020304" pitchFamily="18" charset="0"/>
                <a:cs typeface="Times New Roman" panose="02020603050405020304" pitchFamily="18" charset="0"/>
              </a:rPr>
              <a:t>Voice</a:t>
            </a:r>
            <a:r>
              <a:rPr lang="es-ES" sz="1800" dirty="0">
                <a:effectLst/>
                <a:latin typeface="Arial" panose="020B0604020202020204" pitchFamily="34" charset="0"/>
                <a:ea typeface="Times New Roman" panose="02020603050405020304" pitchFamily="18" charset="0"/>
                <a:cs typeface="Times New Roman" panose="02020603050405020304" pitchFamily="18" charset="0"/>
              </a:rPr>
              <a:t> 1 que es capaz de generar varias voces utilizando un solo modelo. </a:t>
            </a:r>
          </a:p>
          <a:p>
            <a:pPr marL="285750" indent="-285750" algn="just">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La arquitectura de Deep </a:t>
            </a:r>
            <a:r>
              <a:rPr lang="es-ES" sz="1800" dirty="0" err="1">
                <a:effectLst/>
                <a:latin typeface="Arial" panose="020B0604020202020204" pitchFamily="34" charset="0"/>
                <a:ea typeface="Times New Roman" panose="02020603050405020304" pitchFamily="18" charset="0"/>
                <a:cs typeface="Times New Roman" panose="02020603050405020304" pitchFamily="18" charset="0"/>
              </a:rPr>
              <a:t>Voice</a:t>
            </a:r>
            <a:r>
              <a:rPr lang="es-ES" sz="1800" dirty="0">
                <a:effectLst/>
                <a:latin typeface="Arial" panose="020B0604020202020204" pitchFamily="34" charset="0"/>
                <a:ea typeface="Times New Roman" panose="02020603050405020304" pitchFamily="18" charset="0"/>
                <a:cs typeface="Times New Roman" panose="02020603050405020304" pitchFamily="18" charset="0"/>
              </a:rPr>
              <a:t> 2 es análoga a la de Deep </a:t>
            </a:r>
            <a:r>
              <a:rPr lang="es-ES" sz="1800" dirty="0" err="1">
                <a:effectLst/>
                <a:latin typeface="Arial" panose="020B0604020202020204" pitchFamily="34" charset="0"/>
                <a:ea typeface="Times New Roman" panose="02020603050405020304" pitchFamily="18" charset="0"/>
                <a:cs typeface="Times New Roman" panose="02020603050405020304" pitchFamily="18" charset="0"/>
              </a:rPr>
              <a:t>Voice</a:t>
            </a:r>
            <a:r>
              <a:rPr lang="es-ES" sz="1800" dirty="0">
                <a:effectLst/>
                <a:latin typeface="Arial" panose="020B0604020202020204" pitchFamily="34" charset="0"/>
                <a:ea typeface="Times New Roman" panose="02020603050405020304" pitchFamily="18" charset="0"/>
                <a:cs typeface="Times New Roman" panose="02020603050405020304" pitchFamily="18" charset="0"/>
              </a:rPr>
              <a:t> 1 con módulos separados para predecir la duración del fonema y F0</a:t>
            </a:r>
            <a:endParaRPr lang="es-ES" dirty="0"/>
          </a:p>
        </p:txBody>
      </p:sp>
    </p:spTree>
    <p:extLst>
      <p:ext uri="{BB962C8B-B14F-4D97-AF65-F5344CB8AC3E}">
        <p14:creationId xmlns:p14="http://schemas.microsoft.com/office/powerpoint/2010/main" val="33113210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57275678-4ED6-4257-AE7B-A56B8CBEC375}"/>
              </a:ext>
            </a:extLst>
          </p:cNvPr>
          <p:cNvSpPr txBox="1"/>
          <p:nvPr/>
        </p:nvSpPr>
        <p:spPr>
          <a:xfrm>
            <a:off x="523874" y="1500485"/>
            <a:ext cx="10801351" cy="646331"/>
          </a:xfrm>
          <a:prstGeom prst="rect">
            <a:avLst/>
          </a:prstGeom>
          <a:noFill/>
        </p:spPr>
        <p:txBody>
          <a:bodyPr wrap="square">
            <a:spAutoFit/>
          </a:bodyPr>
          <a:lstStyle/>
          <a:p>
            <a:r>
              <a:rPr lang="es-ES" dirty="0">
                <a:latin typeface="Arial" panose="020B0604020202020204" pitchFamily="34" charset="0"/>
                <a:ea typeface="Times New Roman" panose="02020603050405020304" pitchFamily="18" charset="0"/>
                <a:cs typeface="Times New Roman" panose="02020603050405020304" pitchFamily="18" charset="0"/>
              </a:rPr>
              <a:t>U</a:t>
            </a:r>
            <a:r>
              <a:rPr lang="es-ES" sz="1800" dirty="0">
                <a:effectLst/>
                <a:latin typeface="Arial" panose="020B0604020202020204" pitchFamily="34" charset="0"/>
                <a:ea typeface="Times New Roman" panose="02020603050405020304" pitchFamily="18" charset="0"/>
                <a:cs typeface="Times New Roman" panose="02020603050405020304" pitchFamily="18" charset="0"/>
              </a:rPr>
              <a:t>tiliza una red neuronal de convolución completa que se aprende en el conjunto de datos </a:t>
            </a:r>
            <a:r>
              <a:rPr lang="es-ES" sz="1800" dirty="0" err="1">
                <a:effectLst/>
                <a:latin typeface="Arial" panose="020B0604020202020204" pitchFamily="34" charset="0"/>
                <a:ea typeface="Times New Roman" panose="02020603050405020304" pitchFamily="18" charset="0"/>
                <a:cs typeface="Times New Roman" panose="02020603050405020304" pitchFamily="18" charset="0"/>
              </a:rPr>
              <a:t>LibriSpeechASR</a:t>
            </a:r>
            <a:endParaRPr lang="es-ES" dirty="0"/>
          </a:p>
        </p:txBody>
      </p:sp>
      <p:sp>
        <p:nvSpPr>
          <p:cNvPr id="4" name="Rectángulo 3">
            <a:extLst>
              <a:ext uri="{FF2B5EF4-FFF2-40B4-BE49-F238E27FC236}">
                <a16:creationId xmlns:a16="http://schemas.microsoft.com/office/drawing/2014/main" id="{BE16DF7B-45BD-4AF7-9334-E67375C02010}"/>
              </a:ext>
            </a:extLst>
          </p:cNvPr>
          <p:cNvSpPr/>
          <p:nvPr/>
        </p:nvSpPr>
        <p:spPr>
          <a:xfrm>
            <a:off x="523874" y="448747"/>
            <a:ext cx="3496278" cy="830997"/>
          </a:xfrm>
          <a:prstGeom prst="rect">
            <a:avLst/>
          </a:prstGeom>
          <a:noFill/>
        </p:spPr>
        <p:txBody>
          <a:bodyPr wrap="none" lIns="91440" tIns="45720" rIns="91440" bIns="45720">
            <a:spAutoFit/>
          </a:bodyPr>
          <a:lstStyle/>
          <a:p>
            <a:pPr algn="ctr"/>
            <a:r>
              <a:rPr lang="es-ES" sz="4800" dirty="0">
                <a:ln w="0"/>
                <a:effectLst>
                  <a:outerShdw blurRad="38100" dist="19050" dir="2700000" algn="tl" rotWithShape="0">
                    <a:schemeClr val="dk1">
                      <a:alpha val="40000"/>
                    </a:schemeClr>
                  </a:outerShdw>
                </a:effectLst>
              </a:rPr>
              <a:t>Deep-</a:t>
            </a:r>
            <a:r>
              <a:rPr lang="es-ES" sz="4800" dirty="0" err="1">
                <a:ln w="0"/>
                <a:effectLst>
                  <a:outerShdw blurRad="38100" dist="19050" dir="2700000" algn="tl" rotWithShape="0">
                    <a:schemeClr val="dk1">
                      <a:alpha val="40000"/>
                    </a:schemeClr>
                  </a:outerShdw>
                </a:effectLst>
              </a:rPr>
              <a:t>Voice</a:t>
            </a:r>
            <a:r>
              <a:rPr lang="es-ES" sz="4800" dirty="0">
                <a:ln w="0"/>
                <a:effectLst>
                  <a:outerShdw blurRad="38100" dist="19050" dir="2700000" algn="tl" rotWithShape="0">
                    <a:schemeClr val="dk1">
                      <a:alpha val="40000"/>
                    </a:schemeClr>
                  </a:outerShdw>
                </a:effectLst>
              </a:rPr>
              <a:t> 3</a:t>
            </a:r>
          </a:p>
        </p:txBody>
      </p:sp>
      <p:pic>
        <p:nvPicPr>
          <p:cNvPr id="5" name="Imagen 4">
            <a:extLst>
              <a:ext uri="{FF2B5EF4-FFF2-40B4-BE49-F238E27FC236}">
                <a16:creationId xmlns:a16="http://schemas.microsoft.com/office/drawing/2014/main" id="{0047756D-130B-4FF9-A600-18263008E00F}"/>
              </a:ext>
            </a:extLst>
          </p:cNvPr>
          <p:cNvPicPr/>
          <p:nvPr/>
        </p:nvPicPr>
        <p:blipFill>
          <a:blip r:embed="rId2"/>
          <a:stretch>
            <a:fillRect/>
          </a:stretch>
        </p:blipFill>
        <p:spPr>
          <a:xfrm>
            <a:off x="448276" y="3042940"/>
            <a:ext cx="4990499" cy="2314575"/>
          </a:xfrm>
          <a:prstGeom prst="rect">
            <a:avLst/>
          </a:prstGeom>
        </p:spPr>
      </p:pic>
      <p:pic>
        <p:nvPicPr>
          <p:cNvPr id="6" name="Imagen 5">
            <a:extLst>
              <a:ext uri="{FF2B5EF4-FFF2-40B4-BE49-F238E27FC236}">
                <a16:creationId xmlns:a16="http://schemas.microsoft.com/office/drawing/2014/main" id="{2E093991-9FFF-4134-86F1-1D44A7B57649}"/>
              </a:ext>
            </a:extLst>
          </p:cNvPr>
          <p:cNvPicPr/>
          <p:nvPr/>
        </p:nvPicPr>
        <p:blipFill>
          <a:blip r:embed="rId3"/>
          <a:stretch>
            <a:fillRect/>
          </a:stretch>
        </p:blipFill>
        <p:spPr>
          <a:xfrm>
            <a:off x="5743575" y="2555875"/>
            <a:ext cx="5868035" cy="2654300"/>
          </a:xfrm>
          <a:prstGeom prst="rect">
            <a:avLst/>
          </a:prstGeom>
        </p:spPr>
      </p:pic>
    </p:spTree>
    <p:extLst>
      <p:ext uri="{BB962C8B-B14F-4D97-AF65-F5344CB8AC3E}">
        <p14:creationId xmlns:p14="http://schemas.microsoft.com/office/powerpoint/2010/main" val="8002988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842D571B-85F5-4909-825E-1ABD2F73764E}"/>
              </a:ext>
            </a:extLst>
          </p:cNvPr>
          <p:cNvSpPr/>
          <p:nvPr/>
        </p:nvSpPr>
        <p:spPr>
          <a:xfrm>
            <a:off x="545612" y="282063"/>
            <a:ext cx="2188100" cy="830997"/>
          </a:xfrm>
          <a:prstGeom prst="rect">
            <a:avLst/>
          </a:prstGeom>
          <a:noFill/>
        </p:spPr>
        <p:txBody>
          <a:bodyPr wrap="none" lIns="91440" tIns="45720" rIns="91440" bIns="45720">
            <a:spAutoFit/>
          </a:bodyPr>
          <a:lstStyle/>
          <a:p>
            <a:pPr algn="ctr"/>
            <a:r>
              <a:rPr lang="es-ES" sz="4800" b="0" cap="none" spc="0" dirty="0" err="1">
                <a:ln w="0"/>
                <a:solidFill>
                  <a:schemeClr val="tx1"/>
                </a:solidFill>
                <a:effectLst>
                  <a:outerShdw blurRad="38100" dist="19050" dir="2700000" algn="tl" rotWithShape="0">
                    <a:schemeClr val="dk1">
                      <a:alpha val="40000"/>
                    </a:schemeClr>
                  </a:outerShdw>
                </a:effectLst>
              </a:rPr>
              <a:t>ParaNet</a:t>
            </a:r>
            <a:endParaRPr lang="es-ES" sz="4800" b="0" cap="none" spc="0" dirty="0">
              <a:ln w="0"/>
              <a:solidFill>
                <a:schemeClr val="tx1"/>
              </a:solidFill>
              <a:effectLst>
                <a:outerShdw blurRad="38100" dist="19050" dir="2700000" algn="tl" rotWithShape="0">
                  <a:schemeClr val="dk1">
                    <a:alpha val="40000"/>
                  </a:schemeClr>
                </a:outerShdw>
              </a:effectLst>
            </a:endParaRPr>
          </a:p>
        </p:txBody>
      </p:sp>
      <p:sp>
        <p:nvSpPr>
          <p:cNvPr id="4" name="CuadroTexto 3">
            <a:extLst>
              <a:ext uri="{FF2B5EF4-FFF2-40B4-BE49-F238E27FC236}">
                <a16:creationId xmlns:a16="http://schemas.microsoft.com/office/drawing/2014/main" id="{A71E0EE7-9575-433E-96CE-3BE47F1D5C06}"/>
              </a:ext>
            </a:extLst>
          </p:cNvPr>
          <p:cNvSpPr txBox="1"/>
          <p:nvPr/>
        </p:nvSpPr>
        <p:spPr>
          <a:xfrm>
            <a:off x="545612" y="1298616"/>
            <a:ext cx="10697776" cy="170957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TTS no autorregresivo que genera forma de onda de voz a partir de texto en un solo paso de realimentación. </a:t>
            </a:r>
          </a:p>
          <a:p>
            <a:pPr marL="285750" indent="-285750">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Cuando se compara con el modelo autorregresivo, se encuentra que es 254 veces más rápido que estos para la síntesis en tiempo real y una velocidad de hasta 46,7 veces</a:t>
            </a:r>
            <a:endParaRPr lang="es-ES" dirty="0"/>
          </a:p>
        </p:txBody>
      </p:sp>
      <p:pic>
        <p:nvPicPr>
          <p:cNvPr id="5" name="Imagen 4">
            <a:extLst>
              <a:ext uri="{FF2B5EF4-FFF2-40B4-BE49-F238E27FC236}">
                <a16:creationId xmlns:a16="http://schemas.microsoft.com/office/drawing/2014/main" id="{4557B816-0CF3-4B8E-A3AD-09744CB9BFE7}"/>
              </a:ext>
            </a:extLst>
          </p:cNvPr>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Lst>
          </a:blip>
          <a:srcRect l="33631" t="5936" b="5043"/>
          <a:stretch/>
        </p:blipFill>
        <p:spPr bwMode="auto">
          <a:xfrm>
            <a:off x="743337" y="3326363"/>
            <a:ext cx="6230231" cy="254236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3899812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39433D2D-B3C0-472D-8163-B5260F0C6A9F}"/>
              </a:ext>
            </a:extLst>
          </p:cNvPr>
          <p:cNvSpPr txBox="1"/>
          <p:nvPr/>
        </p:nvSpPr>
        <p:spPr>
          <a:xfrm>
            <a:off x="258536" y="1022909"/>
            <a:ext cx="11674928" cy="87857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Es un modelo TTS no autorregresivo de convolución ligera </a:t>
            </a:r>
          </a:p>
          <a:p>
            <a:pPr marL="285750" indent="-285750">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Su entrenamiento y síntesis se realiza en paralelo</a:t>
            </a:r>
            <a:endParaRPr lang="es-ES" dirty="0"/>
          </a:p>
        </p:txBody>
      </p:sp>
      <p:sp>
        <p:nvSpPr>
          <p:cNvPr id="4" name="Rectángulo 3">
            <a:extLst>
              <a:ext uri="{FF2B5EF4-FFF2-40B4-BE49-F238E27FC236}">
                <a16:creationId xmlns:a16="http://schemas.microsoft.com/office/drawing/2014/main" id="{04E62A95-CD72-454D-8199-BA2818A16651}"/>
              </a:ext>
            </a:extLst>
          </p:cNvPr>
          <p:cNvSpPr/>
          <p:nvPr/>
        </p:nvSpPr>
        <p:spPr>
          <a:xfrm>
            <a:off x="590726" y="191912"/>
            <a:ext cx="4337213" cy="830997"/>
          </a:xfrm>
          <a:prstGeom prst="rect">
            <a:avLst/>
          </a:prstGeom>
          <a:noFill/>
        </p:spPr>
        <p:txBody>
          <a:bodyPr wrap="none" lIns="91440" tIns="45720" rIns="91440" bIns="45720">
            <a:spAutoFit/>
          </a:bodyPr>
          <a:lstStyle/>
          <a:p>
            <a:pPr algn="ctr"/>
            <a:r>
              <a:rPr lang="es-ES" sz="4800" dirty="0">
                <a:ln w="0"/>
                <a:effectLst>
                  <a:outerShdw blurRad="38100" dist="19050" dir="2700000" algn="tl" rotWithShape="0">
                    <a:schemeClr val="dk1">
                      <a:alpha val="40000"/>
                    </a:schemeClr>
                  </a:outerShdw>
                </a:effectLst>
              </a:rPr>
              <a:t>Parallel Tacotron</a:t>
            </a:r>
          </a:p>
        </p:txBody>
      </p:sp>
      <p:sp>
        <p:nvSpPr>
          <p:cNvPr id="6" name="CuadroTexto 5">
            <a:extLst>
              <a:ext uri="{FF2B5EF4-FFF2-40B4-BE49-F238E27FC236}">
                <a16:creationId xmlns:a16="http://schemas.microsoft.com/office/drawing/2014/main" id="{6A9EEE25-F729-4134-BC6D-984089FDB87F}"/>
              </a:ext>
            </a:extLst>
          </p:cNvPr>
          <p:cNvSpPr txBox="1"/>
          <p:nvPr/>
        </p:nvSpPr>
        <p:spPr>
          <a:xfrm>
            <a:off x="258536" y="3197462"/>
            <a:ext cx="11768234" cy="46307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Sintetiza el sonido de forma más natural y rápida en comparación con Parallel Tacotron</a:t>
            </a:r>
            <a:endParaRPr lang="es-ES" dirty="0"/>
          </a:p>
        </p:txBody>
      </p:sp>
      <p:sp>
        <p:nvSpPr>
          <p:cNvPr id="7" name="Rectángulo 6">
            <a:extLst>
              <a:ext uri="{FF2B5EF4-FFF2-40B4-BE49-F238E27FC236}">
                <a16:creationId xmlns:a16="http://schemas.microsoft.com/office/drawing/2014/main" id="{790CFB01-B796-40F9-AB99-29DB3CA24C16}"/>
              </a:ext>
            </a:extLst>
          </p:cNvPr>
          <p:cNvSpPr/>
          <p:nvPr/>
        </p:nvSpPr>
        <p:spPr>
          <a:xfrm>
            <a:off x="445147" y="2245157"/>
            <a:ext cx="5278973" cy="830997"/>
          </a:xfrm>
          <a:prstGeom prst="rect">
            <a:avLst/>
          </a:prstGeom>
          <a:noFill/>
        </p:spPr>
        <p:txBody>
          <a:bodyPr wrap="square" lIns="91440" tIns="45720" rIns="91440" bIns="45720">
            <a:spAutoFit/>
          </a:bodyPr>
          <a:lstStyle/>
          <a:p>
            <a:pPr algn="ctr"/>
            <a:r>
              <a:rPr lang="es-ES" sz="4800" dirty="0">
                <a:ln w="0"/>
                <a:effectLst>
                  <a:outerShdw blurRad="38100" dist="19050" dir="2700000" algn="tl" rotWithShape="0">
                    <a:schemeClr val="dk1">
                      <a:alpha val="40000"/>
                    </a:schemeClr>
                  </a:outerShdw>
                </a:effectLst>
              </a:rPr>
              <a:t>Parallel Tacotron 2</a:t>
            </a:r>
          </a:p>
        </p:txBody>
      </p:sp>
      <p:pic>
        <p:nvPicPr>
          <p:cNvPr id="10" name="Imagen 9">
            <a:extLst>
              <a:ext uri="{FF2B5EF4-FFF2-40B4-BE49-F238E27FC236}">
                <a16:creationId xmlns:a16="http://schemas.microsoft.com/office/drawing/2014/main" id="{AD58C35D-090A-49C1-96CA-5C25AD578938}"/>
              </a:ext>
            </a:extLst>
          </p:cNvPr>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l="33984" t="8381" b="12216"/>
          <a:stretch/>
        </p:blipFill>
        <p:spPr bwMode="auto">
          <a:xfrm>
            <a:off x="631014" y="4528805"/>
            <a:ext cx="5093106" cy="130628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7059292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0207F366-8D56-443E-810D-B5E82C3CB336}"/>
              </a:ext>
            </a:extLst>
          </p:cNvPr>
          <p:cNvSpPr txBox="1"/>
          <p:nvPr/>
        </p:nvSpPr>
        <p:spPr>
          <a:xfrm>
            <a:off x="275871" y="1144207"/>
            <a:ext cx="11275427" cy="254056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Es capaz de producir el espectrograma Mel 270x y voz en un 38x mediante la generación de espectrograma Mel en paralelo</a:t>
            </a:r>
          </a:p>
          <a:p>
            <a:pPr marL="285750" indent="-285750">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Predice la duración del fonema extrayendo la atención del modelo maestro utilizado en modelos autorregresivos</a:t>
            </a:r>
          </a:p>
          <a:p>
            <a:pPr marL="285750" indent="-285750">
              <a:lnSpc>
                <a:spcPct val="150000"/>
              </a:lnSpc>
              <a:buFont typeface="Arial" panose="020B0604020202020204" pitchFamily="34" charset="0"/>
              <a:buChar char="•"/>
            </a:pPr>
            <a:r>
              <a:rPr lang="es-ES" dirty="0">
                <a:latin typeface="Arial" panose="020B0604020202020204" pitchFamily="34" charset="0"/>
                <a:ea typeface="Times New Roman" panose="02020603050405020304" pitchFamily="18" charset="0"/>
                <a:cs typeface="Times New Roman" panose="02020603050405020304" pitchFamily="18" charset="0"/>
              </a:rPr>
              <a:t>N</a:t>
            </a:r>
            <a:r>
              <a:rPr lang="es-ES" sz="1800" dirty="0">
                <a:effectLst/>
                <a:latin typeface="Arial" panose="020B0604020202020204" pitchFamily="34" charset="0"/>
                <a:ea typeface="Times New Roman" panose="02020603050405020304" pitchFamily="18" charset="0"/>
                <a:cs typeface="Times New Roman" panose="02020603050405020304" pitchFamily="18" charset="0"/>
              </a:rPr>
              <a:t>o determina con precisión la duración utilizando el modelo maestro y el espectrograma de Mel generado también conlleva la pérdida de información</a:t>
            </a:r>
            <a:endParaRPr lang="es-ES" dirty="0"/>
          </a:p>
        </p:txBody>
      </p:sp>
      <p:sp>
        <p:nvSpPr>
          <p:cNvPr id="4" name="Rectángulo 3">
            <a:extLst>
              <a:ext uri="{FF2B5EF4-FFF2-40B4-BE49-F238E27FC236}">
                <a16:creationId xmlns:a16="http://schemas.microsoft.com/office/drawing/2014/main" id="{6E52ADFF-E1FF-4184-A340-BB5E1DB88E19}"/>
              </a:ext>
            </a:extLst>
          </p:cNvPr>
          <p:cNvSpPr/>
          <p:nvPr/>
        </p:nvSpPr>
        <p:spPr>
          <a:xfrm>
            <a:off x="593884" y="191912"/>
            <a:ext cx="2987293" cy="830997"/>
          </a:xfrm>
          <a:prstGeom prst="rect">
            <a:avLst/>
          </a:prstGeom>
          <a:noFill/>
        </p:spPr>
        <p:txBody>
          <a:bodyPr wrap="none" lIns="91440" tIns="45720" rIns="91440" bIns="45720">
            <a:spAutoFit/>
          </a:bodyPr>
          <a:lstStyle/>
          <a:p>
            <a:pPr algn="ctr"/>
            <a:r>
              <a:rPr lang="es-ES" sz="4800" dirty="0" err="1">
                <a:ln w="0"/>
                <a:effectLst>
                  <a:outerShdw blurRad="38100" dist="19050" dir="2700000" algn="tl" rotWithShape="0">
                    <a:schemeClr val="dk1">
                      <a:alpha val="40000"/>
                    </a:schemeClr>
                  </a:outerShdw>
                </a:effectLst>
              </a:rPr>
              <a:t>FastSpeech</a:t>
            </a:r>
            <a:endParaRPr lang="es-ES" sz="48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3453476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995927C6-502D-49C1-B81E-8A2D6136CB77}"/>
              </a:ext>
            </a:extLst>
          </p:cNvPr>
          <p:cNvSpPr txBox="1"/>
          <p:nvPr/>
        </p:nvSpPr>
        <p:spPr>
          <a:xfrm>
            <a:off x="168931" y="1247011"/>
            <a:ext cx="11391698" cy="170957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Utiliza una red de alimentación paralela que utiliza el método de destilación de densidad de probabilidad para el entrenamiento. </a:t>
            </a:r>
          </a:p>
          <a:p>
            <a:pPr marL="285750" indent="-285750">
              <a:lnSpc>
                <a:spcPct val="150000"/>
              </a:lnSpc>
              <a:buFont typeface="Arial" panose="020B0604020202020204" pitchFamily="34" charset="0"/>
              <a:buChar char="•"/>
            </a:pPr>
            <a:r>
              <a:rPr lang="es-ES" dirty="0">
                <a:latin typeface="Arial" panose="020B0604020202020204" pitchFamily="34" charset="0"/>
                <a:ea typeface="Times New Roman" panose="02020603050405020304" pitchFamily="18" charset="0"/>
                <a:cs typeface="Times New Roman" panose="02020603050405020304" pitchFamily="18" charset="0"/>
              </a:rPr>
              <a:t>G</a:t>
            </a:r>
            <a:r>
              <a:rPr lang="es-ES" sz="1800" dirty="0">
                <a:effectLst/>
                <a:latin typeface="Arial" panose="020B0604020202020204" pitchFamily="34" charset="0"/>
                <a:ea typeface="Times New Roman" panose="02020603050405020304" pitchFamily="18" charset="0"/>
                <a:cs typeface="Times New Roman" panose="02020603050405020304" pitchFamily="18" charset="0"/>
              </a:rPr>
              <a:t>enera formas de onda de voz de alta fidelidad utilizadas en línea por la aplicación Google </a:t>
            </a:r>
            <a:r>
              <a:rPr lang="es-ES" sz="1800" dirty="0" err="1">
                <a:effectLst/>
                <a:latin typeface="Arial" panose="020B0604020202020204" pitchFamily="34" charset="0"/>
                <a:ea typeface="Times New Roman" panose="02020603050405020304" pitchFamily="18" charset="0"/>
                <a:cs typeface="Times New Roman" panose="02020603050405020304" pitchFamily="18" charset="0"/>
              </a:rPr>
              <a:t>Assistant</a:t>
            </a:r>
            <a:r>
              <a:rPr lang="es-ES" sz="1800" dirty="0">
                <a:effectLst/>
                <a:latin typeface="Arial" panose="020B0604020202020204" pitchFamily="34" charset="0"/>
                <a:ea typeface="Times New Roman" panose="02020603050405020304" pitchFamily="18" charset="0"/>
                <a:cs typeface="Times New Roman" panose="02020603050405020304" pitchFamily="18" charset="0"/>
              </a:rPr>
              <a:t>. </a:t>
            </a:r>
          </a:p>
          <a:p>
            <a:pPr marL="285750" indent="-285750">
              <a:lnSpc>
                <a:spcPct val="150000"/>
              </a:lnSpc>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Puede sintetizar varias voces de hablantes con diferentes acentos. </a:t>
            </a:r>
            <a:endParaRPr lang="es-ES" dirty="0"/>
          </a:p>
        </p:txBody>
      </p:sp>
      <p:sp>
        <p:nvSpPr>
          <p:cNvPr id="4" name="Rectángulo 3">
            <a:extLst>
              <a:ext uri="{FF2B5EF4-FFF2-40B4-BE49-F238E27FC236}">
                <a16:creationId xmlns:a16="http://schemas.microsoft.com/office/drawing/2014/main" id="{892990EB-D93E-44B6-9D45-3455A15F6D3C}"/>
              </a:ext>
            </a:extLst>
          </p:cNvPr>
          <p:cNvSpPr/>
          <p:nvPr/>
        </p:nvSpPr>
        <p:spPr>
          <a:xfrm>
            <a:off x="405694" y="238565"/>
            <a:ext cx="4446025" cy="830997"/>
          </a:xfrm>
          <a:prstGeom prst="rect">
            <a:avLst/>
          </a:prstGeom>
          <a:noFill/>
        </p:spPr>
        <p:txBody>
          <a:bodyPr wrap="none" lIns="91440" tIns="45720" rIns="91440" bIns="45720">
            <a:spAutoFit/>
          </a:bodyPr>
          <a:lstStyle/>
          <a:p>
            <a:pPr algn="ctr"/>
            <a:r>
              <a:rPr lang="es-ES" sz="4800" dirty="0">
                <a:ln w="0"/>
                <a:effectLst>
                  <a:outerShdw blurRad="38100" dist="19050" dir="2700000" algn="tl" rotWithShape="0">
                    <a:schemeClr val="dk1">
                      <a:alpha val="40000"/>
                    </a:schemeClr>
                  </a:outerShdw>
                </a:effectLst>
              </a:rPr>
              <a:t>Parallel </a:t>
            </a:r>
            <a:r>
              <a:rPr lang="es-ES" sz="4800" dirty="0" err="1">
                <a:ln w="0"/>
                <a:effectLst>
                  <a:outerShdw blurRad="38100" dist="19050" dir="2700000" algn="tl" rotWithShape="0">
                    <a:schemeClr val="dk1">
                      <a:alpha val="40000"/>
                    </a:schemeClr>
                  </a:outerShdw>
                </a:effectLst>
              </a:rPr>
              <a:t>WaveNet</a:t>
            </a:r>
            <a:endParaRPr lang="es-ES" sz="4800" dirty="0">
              <a:ln w="0"/>
              <a:effectLst>
                <a:outerShdw blurRad="38100" dist="19050" dir="2700000" algn="tl" rotWithShape="0">
                  <a:schemeClr val="dk1">
                    <a:alpha val="40000"/>
                  </a:schemeClr>
                </a:outerShdw>
              </a:effectLst>
            </a:endParaRPr>
          </a:p>
        </p:txBody>
      </p:sp>
      <p:pic>
        <p:nvPicPr>
          <p:cNvPr id="5" name="Imagen 4">
            <a:extLst>
              <a:ext uri="{FF2B5EF4-FFF2-40B4-BE49-F238E27FC236}">
                <a16:creationId xmlns:a16="http://schemas.microsoft.com/office/drawing/2014/main" id="{61787930-0554-43A3-B729-835479995C23}"/>
              </a:ext>
            </a:extLst>
          </p:cNvPr>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Lst>
          </a:blip>
          <a:srcRect t="4913" b="15665"/>
          <a:stretch/>
        </p:blipFill>
        <p:spPr bwMode="auto">
          <a:xfrm>
            <a:off x="1446245" y="3134031"/>
            <a:ext cx="8404134" cy="319592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7492786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D48B7E2-4AC2-46E2-9CA9-9A17667B9F77}"/>
              </a:ext>
            </a:extLst>
          </p:cNvPr>
          <p:cNvSpPr txBox="1"/>
          <p:nvPr/>
        </p:nvSpPr>
        <p:spPr>
          <a:xfrm>
            <a:off x="257175" y="1267565"/>
            <a:ext cx="11372850" cy="4088299"/>
          </a:xfrm>
          <a:prstGeom prst="rect">
            <a:avLst/>
          </a:prstGeom>
          <a:noFill/>
        </p:spPr>
        <p:txBody>
          <a:bodyPr wrap="square">
            <a:spAutoFit/>
          </a:bodyPr>
          <a:lstStyle/>
          <a:p>
            <a:pPr marL="285750" indent="-285750" algn="just">
              <a:lnSpc>
                <a:spcPct val="150000"/>
              </a:lnSpc>
              <a:spcAft>
                <a:spcPts val="800"/>
              </a:spcAft>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Flexibilidad: La síntesis de habla neuronal puede generar voz en tiempo real y adaptarse a diferentes idiomas, acentos y estilos de habla.</a:t>
            </a:r>
          </a:p>
          <a:p>
            <a:pPr marL="285750" indent="-285750" algn="just">
              <a:lnSpc>
                <a:spcPct val="150000"/>
              </a:lnSpc>
              <a:spcAft>
                <a:spcPts val="800"/>
              </a:spcAft>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Escalabilidad: se pueden generar grandes cantidades de voz en poco tiempo, lo que la hace adecuada para aplicaciones como la generación de noticias personalizadas o la creación de contenido de audio para redes sociales.</a:t>
            </a:r>
          </a:p>
          <a:p>
            <a:pPr marL="285750" indent="-285750" algn="just">
              <a:lnSpc>
                <a:spcPct val="150000"/>
              </a:lnSpc>
              <a:spcAft>
                <a:spcPts val="800"/>
              </a:spcAft>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Accesibilidad: puede mejorar la accesibilidad para personas con discapacidades visuales o de lectura, al permitirles escuchar texto en lugar de leerlo.</a:t>
            </a:r>
          </a:p>
          <a:p>
            <a:pPr marL="285750" indent="-285750" algn="just">
              <a:lnSpc>
                <a:spcPct val="150000"/>
              </a:lnSpc>
              <a:spcAft>
                <a:spcPts val="800"/>
              </a:spcAft>
              <a:buFont typeface="Arial" panose="020B0604020202020204" pitchFamily="34" charset="0"/>
              <a:buChar char="•"/>
            </a:pPr>
            <a:r>
              <a:rPr lang="es-ES" sz="1800" dirty="0">
                <a:effectLst/>
                <a:latin typeface="Arial" panose="020B0604020202020204" pitchFamily="34" charset="0"/>
                <a:ea typeface="Times New Roman" panose="02020603050405020304" pitchFamily="18" charset="0"/>
                <a:cs typeface="Times New Roman" panose="02020603050405020304" pitchFamily="18" charset="0"/>
              </a:rPr>
              <a:t>Reducción de costos: puede reducir los costos asociados con la grabación y edición de audio, así como con la contratación de actores de voz.</a:t>
            </a:r>
          </a:p>
        </p:txBody>
      </p:sp>
      <p:sp>
        <p:nvSpPr>
          <p:cNvPr id="4" name="Rectángulo 3">
            <a:extLst>
              <a:ext uri="{FF2B5EF4-FFF2-40B4-BE49-F238E27FC236}">
                <a16:creationId xmlns:a16="http://schemas.microsoft.com/office/drawing/2014/main" id="{3BCFFC37-E85F-4E84-B2D4-B35CBE104607}"/>
              </a:ext>
            </a:extLst>
          </p:cNvPr>
          <p:cNvSpPr/>
          <p:nvPr/>
        </p:nvSpPr>
        <p:spPr>
          <a:xfrm>
            <a:off x="175221" y="148615"/>
            <a:ext cx="9136475" cy="769441"/>
          </a:xfrm>
          <a:prstGeom prst="rect">
            <a:avLst/>
          </a:prstGeom>
          <a:noFill/>
        </p:spPr>
        <p:txBody>
          <a:bodyPr wrap="none" lIns="91440" tIns="45720" rIns="91440" bIns="45720">
            <a:spAutoFit/>
          </a:bodyPr>
          <a:lstStyle/>
          <a:p>
            <a:pPr algn="ctr"/>
            <a:r>
              <a:rPr lang="es-ES" sz="4400" b="0" cap="none" spc="0" dirty="0">
                <a:ln w="0"/>
                <a:solidFill>
                  <a:schemeClr val="tx1"/>
                </a:solidFill>
                <a:effectLst>
                  <a:outerShdw blurRad="38100" dist="19050" dir="2700000" algn="tl" rotWithShape="0">
                    <a:schemeClr val="dk1">
                      <a:alpha val="40000"/>
                    </a:schemeClr>
                  </a:outerShdw>
                </a:effectLst>
              </a:rPr>
              <a:t>Algunas ventajas de los TTS neuronales</a:t>
            </a:r>
          </a:p>
        </p:txBody>
      </p:sp>
    </p:spTree>
    <p:extLst>
      <p:ext uri="{BB962C8B-B14F-4D97-AF65-F5344CB8AC3E}">
        <p14:creationId xmlns:p14="http://schemas.microsoft.com/office/powerpoint/2010/main" val="30388844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6D293797-F4B9-4FBA-84E2-DE5E33898BD7}"/>
              </a:ext>
            </a:extLst>
          </p:cNvPr>
          <p:cNvSpPr txBox="1"/>
          <p:nvPr/>
        </p:nvSpPr>
        <p:spPr>
          <a:xfrm>
            <a:off x="129472" y="1011006"/>
            <a:ext cx="11523306" cy="506292"/>
          </a:xfrm>
          <a:prstGeom prst="rect">
            <a:avLst/>
          </a:prstGeom>
          <a:noFill/>
        </p:spPr>
        <p:txBody>
          <a:bodyPr wrap="square">
            <a:spAutoFit/>
          </a:bodyPr>
          <a:lstStyle/>
          <a:p>
            <a:pPr algn="just">
              <a:lnSpc>
                <a:spcPct val="150000"/>
              </a:lnSpc>
            </a:pPr>
            <a:r>
              <a:rPr lang="es-ES" sz="2000" dirty="0"/>
              <a:t>Las redes neuronales han revolucionado el campo de la síntesis de voz.</a:t>
            </a:r>
          </a:p>
        </p:txBody>
      </p:sp>
      <p:sp>
        <p:nvSpPr>
          <p:cNvPr id="6" name="Rectángulo 5">
            <a:extLst>
              <a:ext uri="{FF2B5EF4-FFF2-40B4-BE49-F238E27FC236}">
                <a16:creationId xmlns:a16="http://schemas.microsoft.com/office/drawing/2014/main" id="{45D48917-6DE8-4EC4-896B-91227BB0ABFB}"/>
              </a:ext>
            </a:extLst>
          </p:cNvPr>
          <p:cNvSpPr/>
          <p:nvPr/>
        </p:nvSpPr>
        <p:spPr>
          <a:xfrm>
            <a:off x="4294374" y="232591"/>
            <a:ext cx="3193503" cy="769441"/>
          </a:xfrm>
          <a:prstGeom prst="rect">
            <a:avLst/>
          </a:prstGeom>
          <a:noFill/>
        </p:spPr>
        <p:txBody>
          <a:bodyPr wrap="none" lIns="91440" tIns="45720" rIns="91440" bIns="45720">
            <a:spAutoFit/>
          </a:bodyPr>
          <a:lstStyle/>
          <a:p>
            <a:pPr algn="ctr"/>
            <a:r>
              <a:rPr lang="es-ES" sz="4400" b="0" cap="none" spc="0" dirty="0">
                <a:ln w="0"/>
                <a:solidFill>
                  <a:schemeClr val="tx1"/>
                </a:solidFill>
                <a:effectLst>
                  <a:outerShdw blurRad="38100" dist="19050" dir="2700000" algn="tl" rotWithShape="0">
                    <a:schemeClr val="dk1">
                      <a:alpha val="40000"/>
                    </a:schemeClr>
                  </a:outerShdw>
                </a:effectLst>
              </a:rPr>
              <a:t>Conclusiones</a:t>
            </a:r>
          </a:p>
        </p:txBody>
      </p:sp>
      <p:sp>
        <p:nvSpPr>
          <p:cNvPr id="8" name="CuadroTexto 7">
            <a:extLst>
              <a:ext uri="{FF2B5EF4-FFF2-40B4-BE49-F238E27FC236}">
                <a16:creationId xmlns:a16="http://schemas.microsoft.com/office/drawing/2014/main" id="{A15CA687-85F9-429C-A1BC-E2F75BEF0450}"/>
              </a:ext>
            </a:extLst>
          </p:cNvPr>
          <p:cNvSpPr txBox="1"/>
          <p:nvPr/>
        </p:nvSpPr>
        <p:spPr>
          <a:xfrm>
            <a:off x="129472" y="1647383"/>
            <a:ext cx="11757728" cy="4199611"/>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s-ES" sz="2000" u="sng" dirty="0"/>
              <a:t>Calidad y naturalidad mejoradas: </a:t>
            </a:r>
            <a:r>
              <a:rPr lang="es-ES" sz="2000" dirty="0"/>
              <a:t>Las redes neuronales profundas, como </a:t>
            </a:r>
            <a:r>
              <a:rPr lang="es-ES" sz="2000" dirty="0" err="1"/>
              <a:t>WaveNet</a:t>
            </a:r>
            <a:r>
              <a:rPr lang="es-ES" sz="2000" dirty="0"/>
              <a:t>, Tacotron, y Deep </a:t>
            </a:r>
            <a:r>
              <a:rPr lang="es-ES" sz="2000" dirty="0" err="1"/>
              <a:t>Voice</a:t>
            </a:r>
            <a:r>
              <a:rPr lang="es-ES" sz="2000" dirty="0"/>
              <a:t>, han permitido generar discurso sintético con una calidad y naturalidad mucho más cercanas a la voz humana real en comparación con los métodos tradicionales de síntesis de voz.</a:t>
            </a:r>
          </a:p>
          <a:p>
            <a:pPr marL="285750" indent="-285750" algn="just">
              <a:lnSpc>
                <a:spcPct val="150000"/>
              </a:lnSpc>
              <a:buFont typeface="Arial" panose="020B0604020202020204" pitchFamily="34" charset="0"/>
              <a:buChar char="•"/>
            </a:pPr>
            <a:r>
              <a:rPr lang="es-ES" sz="2000" u="sng" dirty="0"/>
              <a:t>Aprendizaje automático de patrones complejos</a:t>
            </a:r>
            <a:r>
              <a:rPr lang="es-ES" sz="2000" dirty="0"/>
              <a:t>: Las redes neuronales tienen la capacidad de aprender y modelar patrones complejos en el habla humana, como la entonación, el ritmo, y la pronunciación, lo que resulta en un discurso sintetizado más expresivo y natural.</a:t>
            </a:r>
          </a:p>
          <a:p>
            <a:pPr marL="285750" indent="-285750" algn="just">
              <a:lnSpc>
                <a:spcPct val="150000"/>
              </a:lnSpc>
              <a:buFont typeface="Arial" panose="020B0604020202020204" pitchFamily="34" charset="0"/>
              <a:buChar char="•"/>
            </a:pPr>
            <a:r>
              <a:rPr lang="es-ES" sz="2000" u="sng" dirty="0"/>
              <a:t>Mejora en la eficiencia y velocidad: </a:t>
            </a:r>
            <a:r>
              <a:rPr lang="es-ES" sz="2000" dirty="0"/>
              <a:t>Las redes neuronales no autorregresivas, como Parallel </a:t>
            </a:r>
            <a:r>
              <a:rPr lang="es-ES" sz="2000" dirty="0" err="1"/>
              <a:t>WaveNet</a:t>
            </a:r>
            <a:r>
              <a:rPr lang="es-ES" sz="2000" dirty="0"/>
              <a:t>, han permitido acelerar el proceso de generación de voz al producir muestras de audio en paralelo, en lugar de la generación secuencial utilizada en los modelos autorregresivos.</a:t>
            </a:r>
          </a:p>
        </p:txBody>
      </p:sp>
    </p:spTree>
    <p:extLst>
      <p:ext uri="{BB962C8B-B14F-4D97-AF65-F5344CB8AC3E}">
        <p14:creationId xmlns:p14="http://schemas.microsoft.com/office/powerpoint/2010/main" val="10450620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7AE9B3-A44F-4459-B96C-D89E0F4E4E18}"/>
              </a:ext>
            </a:extLst>
          </p:cNvPr>
          <p:cNvSpPr>
            <a:spLocks noGrp="1"/>
          </p:cNvSpPr>
          <p:nvPr>
            <p:ph type="ctrTitle"/>
          </p:nvPr>
        </p:nvSpPr>
        <p:spPr/>
        <p:txBody>
          <a:bodyPr/>
          <a:lstStyle/>
          <a:p>
            <a:r>
              <a:rPr lang="es-ES" dirty="0"/>
              <a:t>Uso de redes neuronales en la síntesis del habla</a:t>
            </a:r>
          </a:p>
        </p:txBody>
      </p:sp>
      <p:sp>
        <p:nvSpPr>
          <p:cNvPr id="3" name="Subtítulo 2">
            <a:extLst>
              <a:ext uri="{FF2B5EF4-FFF2-40B4-BE49-F238E27FC236}">
                <a16:creationId xmlns:a16="http://schemas.microsoft.com/office/drawing/2014/main" id="{A903CDBE-837A-417E-8CED-A3C773389F53}"/>
              </a:ext>
            </a:extLst>
          </p:cNvPr>
          <p:cNvSpPr>
            <a:spLocks noGrp="1"/>
          </p:cNvSpPr>
          <p:nvPr>
            <p:ph type="subTitle" idx="1"/>
          </p:nvPr>
        </p:nvSpPr>
        <p:spPr>
          <a:xfrm>
            <a:off x="1087448" y="4449624"/>
            <a:ext cx="10058400" cy="1143000"/>
          </a:xfrm>
        </p:spPr>
        <p:txBody>
          <a:bodyPr/>
          <a:lstStyle/>
          <a:p>
            <a:r>
              <a:rPr lang="es-ES" dirty="0"/>
              <a:t>Trabajo Final de tecnologías del habla</a:t>
            </a:r>
          </a:p>
        </p:txBody>
      </p:sp>
      <p:sp>
        <p:nvSpPr>
          <p:cNvPr id="4" name="CuadroTexto 3">
            <a:extLst>
              <a:ext uri="{FF2B5EF4-FFF2-40B4-BE49-F238E27FC236}">
                <a16:creationId xmlns:a16="http://schemas.microsoft.com/office/drawing/2014/main" id="{CD60A14F-AE15-47D7-9185-05D1EA14C541}"/>
              </a:ext>
            </a:extLst>
          </p:cNvPr>
          <p:cNvSpPr txBox="1"/>
          <p:nvPr/>
        </p:nvSpPr>
        <p:spPr>
          <a:xfrm>
            <a:off x="1097280" y="5829300"/>
            <a:ext cx="2372541" cy="369332"/>
          </a:xfrm>
          <a:prstGeom prst="rect">
            <a:avLst/>
          </a:prstGeom>
          <a:noFill/>
        </p:spPr>
        <p:txBody>
          <a:bodyPr wrap="square" rtlCol="0">
            <a:spAutoFit/>
          </a:bodyPr>
          <a:lstStyle/>
          <a:p>
            <a:r>
              <a:rPr lang="es-ES" dirty="0"/>
              <a:t>Arlet Acosta González</a:t>
            </a:r>
          </a:p>
        </p:txBody>
      </p:sp>
      <p:pic>
        <p:nvPicPr>
          <p:cNvPr id="5" name="Imagen 4">
            <a:extLst>
              <a:ext uri="{FF2B5EF4-FFF2-40B4-BE49-F238E27FC236}">
                <a16:creationId xmlns:a16="http://schemas.microsoft.com/office/drawing/2014/main" id="{571BD139-E1A0-42B1-88EF-114FCA3E8DFC}"/>
              </a:ext>
            </a:extLst>
          </p:cNvPr>
          <p:cNvPicPr>
            <a:picLocks noChangeAspect="1"/>
          </p:cNvPicPr>
          <p:nvPr/>
        </p:nvPicPr>
        <p:blipFill>
          <a:blip r:embed="rId2"/>
          <a:stretch>
            <a:fillRect/>
          </a:stretch>
        </p:blipFill>
        <p:spPr>
          <a:xfrm>
            <a:off x="9691640" y="176981"/>
            <a:ext cx="2372541" cy="656403"/>
          </a:xfrm>
          <a:prstGeom prst="rect">
            <a:avLst/>
          </a:prstGeom>
        </p:spPr>
      </p:pic>
      <p:sp>
        <p:nvSpPr>
          <p:cNvPr id="6" name="CuadroTexto 5">
            <a:extLst>
              <a:ext uri="{FF2B5EF4-FFF2-40B4-BE49-F238E27FC236}">
                <a16:creationId xmlns:a16="http://schemas.microsoft.com/office/drawing/2014/main" id="{90906CB1-BA6F-4259-89B0-63D7C2132AFE}"/>
              </a:ext>
            </a:extLst>
          </p:cNvPr>
          <p:cNvSpPr txBox="1"/>
          <p:nvPr/>
        </p:nvSpPr>
        <p:spPr>
          <a:xfrm>
            <a:off x="8967020" y="6013966"/>
            <a:ext cx="3224980" cy="369332"/>
          </a:xfrm>
          <a:prstGeom prst="rect">
            <a:avLst/>
          </a:prstGeom>
          <a:noFill/>
        </p:spPr>
        <p:txBody>
          <a:bodyPr wrap="square" rtlCol="0">
            <a:spAutoFit/>
          </a:bodyPr>
          <a:lstStyle/>
          <a:p>
            <a:r>
              <a:rPr lang="es-ES" dirty="0"/>
              <a:t>Máster en Sistemas Inteligentes</a:t>
            </a:r>
          </a:p>
        </p:txBody>
      </p:sp>
    </p:spTree>
    <p:extLst>
      <p:ext uri="{BB962C8B-B14F-4D97-AF65-F5344CB8AC3E}">
        <p14:creationId xmlns:p14="http://schemas.microsoft.com/office/powerpoint/2010/main" val="2573907492"/>
      </p:ext>
    </p:extLst>
  </p:cSld>
  <p:clrMapOvr>
    <a:masterClrMapping/>
  </p:clrMapOvr>
</p:sld>
</file>

<file path=ppt/theme/theme1.xml><?xml version="1.0" encoding="utf-8"?>
<a:theme xmlns:a="http://schemas.openxmlformats.org/drawingml/2006/main" name="Retrospección">
  <a:themeElements>
    <a:clrScheme name="Aspecto">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C41CBB0-BAA0-4983-8F2B-E10AF3358DA8}">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104C6BCC-A38B-4625-90E6-7D3BBA3909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096F0E7-E7B5-406E-8E94-F0043B2AC7F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Retrospect</Template>
  <TotalTime>610</TotalTime>
  <Words>1628</Words>
  <Application>Microsoft Office PowerPoint</Application>
  <PresentationFormat>Panorámica</PresentationFormat>
  <Paragraphs>134</Paragraphs>
  <Slides>26</Slides>
  <Notes>0</Notes>
  <HiddenSlides>5</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26</vt:i4>
      </vt:variant>
    </vt:vector>
  </HeadingPairs>
  <TitlesOfParts>
    <vt:vector size="31" baseType="lpstr">
      <vt:lpstr>Arial</vt:lpstr>
      <vt:lpstr>Calibri</vt:lpstr>
      <vt:lpstr>Calibri Light</vt:lpstr>
      <vt:lpstr>Courier New</vt:lpstr>
      <vt:lpstr>Retrospección</vt:lpstr>
      <vt:lpstr>Uso de redes neuronales en la síntesis del habla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Uso de redes neuronales en la síntesis del habla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Uso de redes neuronales en la síntesis del habla</dc:title>
  <dc:creator>Arlet Acosta González</dc:creator>
  <cp:lastModifiedBy>Arlet Acosta González</cp:lastModifiedBy>
  <cp:revision>65</cp:revision>
  <dcterms:created xsi:type="dcterms:W3CDTF">2024-04-08T18:36:36Z</dcterms:created>
  <dcterms:modified xsi:type="dcterms:W3CDTF">2024-04-09T14:33:31Z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