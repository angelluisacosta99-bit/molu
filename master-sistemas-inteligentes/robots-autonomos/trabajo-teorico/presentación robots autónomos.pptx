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60" r:id="rId3"/>
    <p:sldId id="259" r:id="rId4"/>
    <p:sldId id="261" r:id="rId5"/>
    <p:sldId id="262" r:id="rId6"/>
    <p:sldId id="263" r:id="rId7"/>
    <p:sldId id="264" r:id="rId8"/>
    <p:sldId id="271" r:id="rId9"/>
    <p:sldId id="265" r:id="rId10"/>
    <p:sldId id="266" r:id="rId11"/>
    <p:sldId id="267" r:id="rId12"/>
    <p:sldId id="268" r:id="rId13"/>
    <p:sldId id="269" r:id="rId14"/>
    <p:sldId id="272" r:id="rId15"/>
    <p:sldId id="273" r:id="rId16"/>
    <p:sldId id="275"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1" d="100"/>
          <a:sy n="81" d="100"/>
        </p:scale>
        <p:origin x="67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1007533" y="0"/>
            <a:ext cx="7934348"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8941881"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611808" y="3428998"/>
            <a:ext cx="5518066" cy="2268559"/>
          </a:xfrm>
        </p:spPr>
        <p:txBody>
          <a:bodyPr anchor="t">
            <a:normAutofit/>
          </a:bodyPr>
          <a:lstStyle>
            <a:lvl1pPr algn="r">
              <a:defRPr sz="6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772274" y="2268786"/>
            <a:ext cx="5357600" cy="1160213"/>
          </a:xfrm>
        </p:spPr>
        <p:txBody>
          <a:bodyPr tIns="0" anchor="b">
            <a:normAutofit/>
          </a:bodyPr>
          <a:lstStyle>
            <a:lvl1pPr marL="0" indent="0" algn="r">
              <a:buNone/>
              <a:defRPr sz="1800" b="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9AB3A824-1A51-4B26-AD58-A6D8E14F6C04}" type="datetimeFigureOut">
              <a:rPr lang="en-US" dirty="0"/>
              <a:t>1/10/2024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rIns="45720"/>
          <a:lstStyle/>
          <a:p>
            <a:fld id="{6D22F896-40B5-4ADD-8801-0D06FADFA095}" type="slidenum">
              <a:rPr lang="en-US" dirty="0"/>
              <a:t>‹Nº›</a:t>
            </a:fld>
            <a:endParaRPr lang="en-US" dirty="0"/>
          </a:p>
        </p:txBody>
      </p:sp>
      <p:sp>
        <p:nvSpPr>
          <p:cNvPr id="13" name="TextBox 12"/>
          <p:cNvSpPr txBox="1"/>
          <p:nvPr/>
        </p:nvSpPr>
        <p:spPr>
          <a:xfrm>
            <a:off x="2191282" y="3262852"/>
            <a:ext cx="415636" cy="461665"/>
          </a:xfrm>
          <a:prstGeom prst="rect">
            <a:avLst/>
          </a:prstGeom>
          <a:noFill/>
        </p:spPr>
        <p:txBody>
          <a:bodyPr wrap="square" rtlCol="0">
            <a:spAutoFit/>
          </a:bodyPr>
          <a:lstStyle/>
          <a:p>
            <a:pPr algn="r"/>
            <a:r>
              <a:rPr lang="en-US" sz="2400" dirty="0">
                <a:solidFill>
                  <a:schemeClr val="accent6"/>
                </a:solidFill>
                <a:latin typeface="Wingdings 3" panose="05040102010807070707" pitchFamily="18" charset="2"/>
              </a:rPr>
              <a:t>z</a:t>
            </a:r>
            <a:endParaRPr lang="en-US" sz="2400" dirty="0">
              <a:solidFill>
                <a:schemeClr val="accent6"/>
              </a:solidFill>
              <a:latin typeface="MS Shell Dlg 2" panose="020B0604030504040204" pitchFamily="34" charset="0"/>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9" name="Rectangle 2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97D162C4-EDD9-4389-A98B-B87ECEA2A816}" type="datetimeFigureOut">
              <a:rPr lang="en-US" dirty="0"/>
              <a:t>1/10/2024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
        <p:nvSpPr>
          <p:cNvPr id="7" name="TextBox 6"/>
          <p:cNvSpPr txBox="1"/>
          <p:nvPr/>
        </p:nvSpPr>
        <p:spPr>
          <a:xfrm>
            <a:off x="2194943"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4" name="Rectangle 2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TextBox 10"/>
          <p:cNvSpPr txBox="1"/>
          <p:nvPr/>
        </p:nvSpPr>
        <p:spPr>
          <a:xfrm>
            <a:off x="2191843" y="296258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3147254"/>
            <a:ext cx="7956560" cy="1424746"/>
          </a:xfrm>
        </p:spPr>
        <p:txBody>
          <a:bodyPr anchor="t">
            <a:normAutofit/>
          </a:bodyPr>
          <a:lstStyle>
            <a:lvl1pPr algn="r">
              <a:defRPr sz="32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968" y="2268786"/>
            <a:ext cx="7791931" cy="878468"/>
          </a:xfrm>
        </p:spPr>
        <p:txBody>
          <a:bodyPr tIns="0" anchor="b">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3E5059C3-6A89-4494-99FF-5A4D6FFD50EB}" type="datetimeFigureOut">
              <a:rPr lang="en-US" dirty="0"/>
              <a:t>1/10/2024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6" name="Rectangle 25"/>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609873" y="805817"/>
            <a:ext cx="7950984" cy="1081705"/>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2605374" y="2052116"/>
            <a:ext cx="3891960" cy="399782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666636" y="2052114"/>
            <a:ext cx="3894222" cy="399782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A954B2F-12DE-47F5-8894-472B206D2E1E}" type="datetimeFigureOut">
              <a:rPr lang="en-US" dirty="0"/>
              <a:t>1/10/2024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
        <p:nvSpPr>
          <p:cNvPr id="10" name="TextBox 9"/>
          <p:cNvSpPr txBox="1"/>
          <p:nvPr/>
        </p:nvSpPr>
        <p:spPr>
          <a:xfrm>
            <a:off x="2196172" y="641223"/>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0" name="Rectangle 19"/>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TextBox 11"/>
          <p:cNvSpPr txBox="1"/>
          <p:nvPr/>
        </p:nvSpPr>
        <p:spPr>
          <a:xfrm>
            <a:off x="2193650" y="636424"/>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09873" y="805818"/>
            <a:ext cx="7956560" cy="1078348"/>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609285" y="2052115"/>
            <a:ext cx="3896467"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2609285" y="2851331"/>
            <a:ext cx="3893623"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666634" y="2052115"/>
            <a:ext cx="3899798" cy="713818"/>
          </a:xfrm>
        </p:spPr>
        <p:txBody>
          <a:bodyPr anchor="b">
            <a:noAutofit/>
          </a:bodyPr>
          <a:lstStyle>
            <a:lvl1pPr marL="0" indent="0" algn="l">
              <a:lnSpc>
                <a:spcPct val="100000"/>
              </a:lnSpc>
              <a:buNone/>
              <a:defRPr sz="2200" b="0" cap="none" baseline="0">
                <a:solidFill>
                  <a:schemeClr val="accent6"/>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666635" y="2851331"/>
            <a:ext cx="3899798" cy="307143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3F30E46F-7819-4ACF-B48B-48222C2ACC88}" type="datetimeFigureOut">
              <a:rPr lang="en-US" dirty="0"/>
              <a:t>1/10/2024</a:t>
            </a:fld>
            <a:endParaRPr lang="en-US" dirty="0"/>
          </a:p>
        </p:txBody>
      </p:sp>
      <p:sp>
        <p:nvSpPr>
          <p:cNvPr id="8" name="Footer Placeholder 7"/>
          <p:cNvSpPr>
            <a:spLocks noGrp="1"/>
          </p:cNvSpPr>
          <p:nvPr>
            <p:ph type="ftr" sz="quarter" idx="11"/>
          </p:nvPr>
        </p:nvSpPr>
        <p:spPr/>
        <p:txBody>
          <a:bodyPr/>
          <a:lstStyle/>
          <a:p>
            <a:r>
              <a:rPr lang="en-US" dirty="0"/>
              <a:t>
              </a:t>
            </a:r>
          </a:p>
        </p:txBody>
      </p:sp>
      <p:sp>
        <p:nvSpPr>
          <p:cNvPr id="9" name="Slide Number Placeholder 8"/>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13" name="Rectangle 12"/>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Rectangle 13"/>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1FAF3416-4057-4DAA-829D-4CA07428D088}" type="datetimeFigureOut">
              <a:rPr lang="en-US" dirty="0"/>
              <a:t>1/10/2024</a:t>
            </a:fld>
            <a:endParaRPr lang="en-US" dirty="0"/>
          </a:p>
        </p:txBody>
      </p:sp>
      <p:sp>
        <p:nvSpPr>
          <p:cNvPr id="4" name="Footer Placeholder 3"/>
          <p:cNvSpPr>
            <a:spLocks noGrp="1"/>
          </p:cNvSpPr>
          <p:nvPr>
            <p:ph type="ftr" sz="quarter" idx="11"/>
          </p:nvPr>
        </p:nvSpPr>
        <p:spPr/>
        <p:txBody>
          <a:bodyPr/>
          <a:lstStyle/>
          <a:p>
            <a:r>
              <a:rPr lang="en-US" dirty="0"/>
              <a:t>
              </a:t>
            </a:r>
          </a:p>
        </p:txBody>
      </p:sp>
      <p:sp>
        <p:nvSpPr>
          <p:cNvPr id="5" name="Slide Number Placeholder 4"/>
          <p:cNvSpPr>
            <a:spLocks noGrp="1"/>
          </p:cNvSpPr>
          <p:nvPr>
            <p:ph type="sldNum" sz="quarter" idx="12"/>
          </p:nvPr>
        </p:nvSpPr>
        <p:spPr/>
        <p:txBody>
          <a:bodyPr/>
          <a:lstStyle/>
          <a:p>
            <a:fld id="{6D22F896-40B5-4ADD-8801-0D06FADFA095}" type="slidenum">
              <a:rPr lang="en-US" dirty="0"/>
              <a:t>‹Nº›</a:t>
            </a:fld>
            <a:endParaRPr lang="en-US" dirty="0"/>
          </a:p>
        </p:txBody>
      </p:sp>
      <p:sp>
        <p:nvSpPr>
          <p:cNvPr id="8" name="TextBox 7"/>
          <p:cNvSpPr txBox="1"/>
          <p:nvPr/>
        </p:nvSpPr>
        <p:spPr>
          <a:xfrm>
            <a:off x="2196172" y="641226"/>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12" name="Rectangle 11"/>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921D9284-D300-4297-87F7-E791DCC15DB1}" type="datetimeFigureOut">
              <a:rPr lang="en-US" dirty="0"/>
              <a:t>1/10/2024</a:t>
            </a:fld>
            <a:endParaRPr lang="en-US" dirty="0"/>
          </a:p>
        </p:txBody>
      </p:sp>
      <p:sp>
        <p:nvSpPr>
          <p:cNvPr id="3" name="Footer Placeholder 2"/>
          <p:cNvSpPr>
            <a:spLocks noGrp="1"/>
          </p:cNvSpPr>
          <p:nvPr>
            <p:ph type="ftr" sz="quarter" idx="11"/>
          </p:nvPr>
        </p:nvSpPr>
        <p:spPr/>
        <p:txBody>
          <a:bodyPr/>
          <a:lstStyle/>
          <a:p>
            <a:r>
              <a:rPr lang="en-US" dirty="0"/>
              <a:t>
              </a:t>
            </a:r>
          </a:p>
        </p:txBody>
      </p:sp>
      <p:sp>
        <p:nvSpPr>
          <p:cNvPr id="4" name="Slide Number Placeholder 3"/>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5" name="Rectangle 2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TextBox 9"/>
          <p:cNvSpPr txBox="1"/>
          <p:nvPr/>
        </p:nvSpPr>
        <p:spPr>
          <a:xfrm>
            <a:off x="1554154"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0323" y="1282451"/>
            <a:ext cx="2664361" cy="1903241"/>
          </a:xfrm>
        </p:spPr>
        <p:txBody>
          <a:bodyPr anchor="b">
            <a:normAutofit/>
          </a:bodyPr>
          <a:lstStyle>
            <a:lvl1pPr algn="l">
              <a:defRPr sz="24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120154" y="805818"/>
            <a:ext cx="5446278" cy="5244126"/>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970322" y="3186154"/>
            <a:ext cx="2664361" cy="2386397"/>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37D525BB-DA17-4BA0-B3C8-3AC3ABC827E6}" type="datetimeFigureOut">
              <a:rPr lang="en-US" dirty="0"/>
              <a:t>1/10/2024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19" name="Rectangle 18"/>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Picture Placeholder 2"/>
          <p:cNvSpPr>
            <a:spLocks noGrp="1" noChangeAspect="1"/>
          </p:cNvSpPr>
          <p:nvPr>
            <p:ph type="pic" idx="1"/>
          </p:nvPr>
        </p:nvSpPr>
        <p:spPr>
          <a:xfrm>
            <a:off x="6747062" y="3229"/>
            <a:ext cx="4629734" cy="6858000"/>
          </a:xfrm>
          <a:solidFill>
            <a:schemeClr val="tx1">
              <a:alpha val="10000"/>
            </a:schemeClr>
          </a:solidFill>
          <a:ln w="9525" cap="sq">
            <a:noFill/>
            <a:miter lim="800000"/>
          </a:ln>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10" name="TextBox 9"/>
          <p:cNvSpPr txBox="1"/>
          <p:nvPr/>
        </p:nvSpPr>
        <p:spPr>
          <a:xfrm>
            <a:off x="1554686" y="1127550"/>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1971241" y="1282452"/>
            <a:ext cx="3970986" cy="1900473"/>
          </a:xfrm>
        </p:spPr>
        <p:txBody>
          <a:bodyPr anchor="b">
            <a:normAutofit/>
          </a:bodyPr>
          <a:lstStyle>
            <a:lvl1pPr algn="l">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1970322" y="3182928"/>
            <a:ext cx="3971874" cy="2386394"/>
          </a:xfrm>
        </p:spPr>
        <p:txBody>
          <a:bodyPr>
            <a:normAutofit/>
          </a:bodyPr>
          <a:lstStyle>
            <a:lvl1pPr marL="0" indent="0" algn="l">
              <a:buNone/>
              <a:defRPr sz="20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16C4C9A-3960-41CF-A4E9-2A8FB932454B}" type="datetimeFigureOut">
              <a:rPr lang="en-US" dirty="0"/>
              <a:t>1/10/2024</a:t>
            </a:fld>
            <a:endParaRPr lang="en-US" dirty="0"/>
          </a:p>
        </p:txBody>
      </p:sp>
      <p:sp>
        <p:nvSpPr>
          <p:cNvPr id="6" name="Footer Placeholder 5"/>
          <p:cNvSpPr>
            <a:spLocks noGrp="1"/>
          </p:cNvSpPr>
          <p:nvPr>
            <p:ph type="ftr" sz="quarter" idx="11"/>
          </p:nvPr>
        </p:nvSpPr>
        <p:spPr/>
        <p:txBody>
          <a:bodyPr/>
          <a:lstStyle/>
          <a:p>
            <a:r>
              <a:rPr lang="en-US" dirty="0"/>
              <a:t>
              </a:t>
            </a:r>
          </a:p>
        </p:txBody>
      </p:sp>
      <p:sp>
        <p:nvSpPr>
          <p:cNvPr id="7" name="Slide Number Placeholder 6"/>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14" name="Rectangle 13"/>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a:off x="2194236" y="641225"/>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Title 1"/>
          <p:cNvSpPr>
            <a:spLocks noGrp="1"/>
          </p:cNvSpPr>
          <p:nvPr>
            <p:ph type="title"/>
          </p:nvPr>
        </p:nvSpPr>
        <p:spPr>
          <a:xfrm>
            <a:off x="2611808" y="808056"/>
            <a:ext cx="7954091" cy="1077229"/>
          </a:xfrm>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857E33E-8B18-4087-B112-809917729534}" type="datetimeFigureOut">
              <a:rPr lang="en-US" dirty="0"/>
              <a:t>1/10/2024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15" name="Rectangle 14"/>
          <p:cNvSpPr/>
          <p:nvPr/>
        </p:nvSpPr>
        <p:spPr>
          <a:xfrm>
            <a:off x="1004479" y="0"/>
            <a:ext cx="10372316" cy="6858000"/>
          </a:xfrm>
          <a:prstGeom prst="rect">
            <a:avLst/>
          </a:prstGeom>
          <a:solidFill>
            <a:schemeClr val="bg2">
              <a:alpha val="92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6" name="Rectangle 15"/>
          <p:cNvSpPr/>
          <p:nvPr/>
        </p:nvSpPr>
        <p:spPr>
          <a:xfrm>
            <a:off x="11377328" y="0"/>
            <a:ext cx="27432"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TextBox 8"/>
          <p:cNvSpPr txBox="1"/>
          <p:nvPr/>
        </p:nvSpPr>
        <p:spPr>
          <a:xfrm rot="5400000">
            <a:off x="10337141" y="416061"/>
            <a:ext cx="415636" cy="369332"/>
          </a:xfrm>
          <a:prstGeom prst="rect">
            <a:avLst/>
          </a:prstGeom>
          <a:noFill/>
        </p:spPr>
        <p:txBody>
          <a:bodyPr wrap="square" rtlCol="0">
            <a:spAutoFit/>
          </a:bodyPr>
          <a:lstStyle/>
          <a:p>
            <a:pPr algn="r"/>
            <a:r>
              <a:rPr lang="en-US" sz="1800" dirty="0">
                <a:solidFill>
                  <a:schemeClr val="accent6"/>
                </a:solidFill>
                <a:latin typeface="Wingdings 3" panose="05040102010807070707" pitchFamily="18" charset="2"/>
              </a:rPr>
              <a:t>z</a:t>
            </a:r>
            <a:endParaRPr lang="en-US" sz="1000" dirty="0">
              <a:solidFill>
                <a:schemeClr val="accent6"/>
              </a:solidFill>
              <a:latin typeface="MS Shell Dlg 2" panose="020B0604030504040204" pitchFamily="34" charset="0"/>
            </a:endParaRPr>
          </a:p>
        </p:txBody>
      </p:sp>
      <p:sp>
        <p:nvSpPr>
          <p:cNvPr id="2" name="Vertical Title 1"/>
          <p:cNvSpPr>
            <a:spLocks noGrp="1"/>
          </p:cNvSpPr>
          <p:nvPr>
            <p:ph type="title" orient="vert"/>
          </p:nvPr>
        </p:nvSpPr>
        <p:spPr>
          <a:xfrm>
            <a:off x="9239380" y="805818"/>
            <a:ext cx="1326519" cy="5244126"/>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2608751" y="970410"/>
            <a:ext cx="6466903" cy="50795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D3FFE419-2371-464F-8239-3959401C3561}" type="datetimeFigureOut">
              <a:rPr lang="en-US" dirty="0"/>
              <a:t>1/10/2024</a:t>
            </a:fld>
            <a:endParaRPr lang="en-US" dirty="0"/>
          </a:p>
        </p:txBody>
      </p:sp>
      <p:sp>
        <p:nvSpPr>
          <p:cNvPr id="5" name="Footer Placeholder 4"/>
          <p:cNvSpPr>
            <a:spLocks noGrp="1"/>
          </p:cNvSpPr>
          <p:nvPr>
            <p:ph type="ftr" sz="quarter" idx="11"/>
          </p:nvPr>
        </p:nvSpPr>
        <p:spPr/>
        <p:txBody>
          <a:bodyPr/>
          <a:lstStyle/>
          <a:p>
            <a:r>
              <a:rPr lang="en-US" dirty="0"/>
              <a:t>
              </a:t>
            </a:r>
          </a:p>
        </p:txBody>
      </p:sp>
      <p:sp>
        <p:nvSpPr>
          <p:cNvPr id="6" name="Slide Number Placeholder 5"/>
          <p:cNvSpPr>
            <a:spLocks noGrp="1"/>
          </p:cNvSpPr>
          <p:nvPr>
            <p:ph type="sldNum" sz="quarter" idx="12"/>
          </p:nvPr>
        </p:nvSpPr>
        <p:spPr/>
        <p:txBody>
          <a:bodyPr/>
          <a:lstStyle/>
          <a:p>
            <a:fld id="{6D22F896-40B5-4ADD-8801-0D06FADFA095}" type="slidenum">
              <a:rPr lang="en-US" dirty="0"/>
              <a:t>‹Nº›</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pic>
        <p:nvPicPr>
          <p:cNvPr id="18" name="Picture 17"/>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2831794" y="2105202"/>
            <a:ext cx="9360205" cy="4752798"/>
          </a:xfrm>
          <a:prstGeom prst="rect">
            <a:avLst/>
          </a:prstGeom>
        </p:spPr>
      </p:pic>
      <p:pic>
        <p:nvPicPr>
          <p:cNvPr id="15" name="Picture 14"/>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0" y="0"/>
            <a:ext cx="12189867" cy="6858000"/>
          </a:xfrm>
          <a:prstGeom prst="rect">
            <a:avLst/>
          </a:prstGeom>
        </p:spPr>
      </p:pic>
      <p:sp>
        <p:nvSpPr>
          <p:cNvPr id="8" name="Rectangle 7"/>
          <p:cNvSpPr/>
          <p:nvPr/>
        </p:nvSpPr>
        <p:spPr>
          <a:xfrm>
            <a:off x="0" y="0"/>
            <a:ext cx="964174"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611808" y="808056"/>
            <a:ext cx="7958331" cy="1077229"/>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2773599" y="2052116"/>
            <a:ext cx="7796540" cy="399782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rot="5400000">
            <a:off x="-810065" y="5270604"/>
            <a:ext cx="2662729" cy="182880"/>
          </a:xfrm>
          <a:prstGeom prst="rect">
            <a:avLst/>
          </a:prstGeom>
        </p:spPr>
        <p:txBody>
          <a:bodyPr vert="horz" lIns="91440" tIns="18288" rIns="91440" bIns="45720" rtlCol="0" anchor="t"/>
          <a:lstStyle>
            <a:lvl1pPr algn="r">
              <a:defRPr sz="800">
                <a:solidFill>
                  <a:schemeClr val="tx1">
                    <a:tint val="75000"/>
                  </a:schemeClr>
                </a:solidFill>
                <a:latin typeface="+mn-lt"/>
              </a:defRPr>
            </a:lvl1pPr>
          </a:lstStyle>
          <a:p>
            <a:fld id="{3CBC1C18-307B-4F68-A007-B5B542270E8D}" type="datetimeFigureOut">
              <a:rPr lang="en-US" dirty="0"/>
              <a:t>1/10/2024</a:t>
            </a:fld>
            <a:endParaRPr lang="en-US" dirty="0"/>
          </a:p>
        </p:txBody>
      </p:sp>
      <p:sp>
        <p:nvSpPr>
          <p:cNvPr id="5" name="Footer Placeholder 4"/>
          <p:cNvSpPr>
            <a:spLocks noGrp="1"/>
          </p:cNvSpPr>
          <p:nvPr>
            <p:ph type="ftr" sz="quarter" idx="3"/>
          </p:nvPr>
        </p:nvSpPr>
        <p:spPr>
          <a:xfrm rot="5400000">
            <a:off x="-2237130" y="3661144"/>
            <a:ext cx="5885352" cy="179176"/>
          </a:xfrm>
          <a:prstGeom prst="rect">
            <a:avLst/>
          </a:prstGeom>
        </p:spPr>
        <p:txBody>
          <a:bodyPr vert="horz" lIns="91440" tIns="45720" rIns="91440" bIns="18288" rtlCol="0" anchor="b"/>
          <a:lstStyle>
            <a:lvl1pPr algn="r">
              <a:defRPr sz="800">
                <a:solidFill>
                  <a:schemeClr val="tx1">
                    <a:tint val="75000"/>
                  </a:schemeClr>
                </a:solidFill>
              </a:defRPr>
            </a:lvl1pPr>
          </a:lstStyle>
          <a:p>
            <a:r>
              <a:rPr lang="en-US" dirty="0"/>
              <a:t>
              </a:t>
            </a:r>
          </a:p>
        </p:txBody>
      </p:sp>
      <p:sp>
        <p:nvSpPr>
          <p:cNvPr id="6" name="Slide Number Placeholder 5"/>
          <p:cNvSpPr>
            <a:spLocks noGrp="1"/>
          </p:cNvSpPr>
          <p:nvPr>
            <p:ph type="sldNum" sz="quarter" idx="4"/>
          </p:nvPr>
        </p:nvSpPr>
        <p:spPr>
          <a:xfrm>
            <a:off x="158407" y="164592"/>
            <a:ext cx="636727" cy="322851"/>
          </a:xfrm>
          <a:prstGeom prst="rect">
            <a:avLst/>
          </a:prstGeom>
        </p:spPr>
        <p:txBody>
          <a:bodyPr vert="horz" lIns="91440" tIns="45720" rIns="45720" bIns="45720" rtlCol="0" anchor="ctr"/>
          <a:lstStyle>
            <a:lvl1pPr algn="r">
              <a:defRPr sz="1800">
                <a:solidFill>
                  <a:schemeClr val="tx1">
                    <a:tint val="75000"/>
                  </a:schemeClr>
                </a:solidFill>
              </a:defRPr>
            </a:lvl1pPr>
          </a:lstStyle>
          <a:p>
            <a:fld id="{6D22F896-40B5-4ADD-8801-0D06FADFA095}" type="slidenum">
              <a:rPr lang="en-US" dirty="0"/>
              <a:pPr/>
              <a:t>‹Nº›</a:t>
            </a:fld>
            <a:endParaRPr lang="en-US" dirty="0"/>
          </a:p>
        </p:txBody>
      </p:sp>
      <p:sp>
        <p:nvSpPr>
          <p:cNvPr id="57" name="Rectangle 56"/>
          <p:cNvSpPr/>
          <p:nvPr/>
        </p:nvSpPr>
        <p:spPr>
          <a:xfrm>
            <a:off x="962042" y="0"/>
            <a:ext cx="45719" cy="6858000"/>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r" defTabSz="914400" rtl="0" eaLnBrk="1" latinLnBrk="0" hangingPunct="1">
        <a:lnSpc>
          <a:spcPct val="90000"/>
        </a:lnSpc>
        <a:spcBef>
          <a:spcPct val="0"/>
        </a:spcBef>
        <a:buNone/>
        <a:defRPr sz="3400" b="0" i="0" kern="1200" cap="none">
          <a:solidFill>
            <a:schemeClr val="tx1"/>
          </a:solidFill>
          <a:effectLst/>
          <a:latin typeface="+mj-lt"/>
          <a:ea typeface="+mj-ea"/>
          <a:cs typeface="+mj-cs"/>
        </a:defRPr>
      </a:lvl1pPr>
    </p:titleStyle>
    <p:bodyStyle>
      <a:lvl1pPr marL="3444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2000" kern="1200">
          <a:solidFill>
            <a:schemeClr val="tx1"/>
          </a:solidFill>
          <a:effectLst/>
          <a:latin typeface="+mn-lt"/>
          <a:ea typeface="+mn-ea"/>
          <a:cs typeface="+mn-cs"/>
        </a:defRPr>
      </a:lvl1pPr>
      <a:lvl2pPr marL="7953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800" kern="1200">
          <a:solidFill>
            <a:schemeClr val="tx1"/>
          </a:solidFill>
          <a:effectLst/>
          <a:latin typeface="+mn-lt"/>
          <a:ea typeface="+mn-ea"/>
          <a:cs typeface="+mn-cs"/>
        </a:defRPr>
      </a:lvl2pPr>
      <a:lvl3pPr marL="12588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600" kern="1200">
          <a:solidFill>
            <a:schemeClr val="tx1"/>
          </a:solidFill>
          <a:effectLst/>
          <a:latin typeface="+mn-lt"/>
          <a:ea typeface="+mn-ea"/>
          <a:cs typeface="+mn-cs"/>
        </a:defRPr>
      </a:lvl3pPr>
      <a:lvl4pPr marL="170973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400" kern="1200">
          <a:solidFill>
            <a:schemeClr val="tx1"/>
          </a:solidFill>
          <a:effectLst/>
          <a:latin typeface="+mn-lt"/>
          <a:ea typeface="+mn-ea"/>
          <a:cs typeface="+mn-cs"/>
        </a:defRPr>
      </a:lvl4pPr>
      <a:lvl5pPr marL="217328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5pPr>
      <a:lvl6pPr marL="2642616"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6pPr>
      <a:lvl7pPr marL="3108960"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7pPr>
      <a:lvl8pPr marL="3575304"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8pPr>
      <a:lvl9pPr marL="4041648" indent="-338328" algn="l" defTabSz="914400" rtl="0" eaLnBrk="1" latinLnBrk="0" hangingPunct="1">
        <a:lnSpc>
          <a:spcPct val="120000"/>
        </a:lnSpc>
        <a:spcBef>
          <a:spcPts val="500"/>
        </a:spcBef>
        <a:spcAft>
          <a:spcPts val="600"/>
        </a:spcAft>
        <a:buClr>
          <a:schemeClr val="accent6"/>
        </a:buClr>
        <a:buSzPct val="90000"/>
        <a:buFont typeface="Wingdings" panose="05000000000000000000" pitchFamily="2" charset="2"/>
        <a:buChar char="§"/>
        <a:defRPr sz="1200" kern="120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C4668B8-6609-442A-BD64-129051CDA9D2}"/>
              </a:ext>
            </a:extLst>
          </p:cNvPr>
          <p:cNvSpPr/>
          <p:nvPr/>
        </p:nvSpPr>
        <p:spPr>
          <a:xfrm>
            <a:off x="1835325" y="553411"/>
            <a:ext cx="6032678" cy="1754326"/>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Trabajo Final</a:t>
            </a:r>
          </a:p>
          <a:p>
            <a:pPr algn="ctr"/>
            <a:r>
              <a:rPr lang="es-ES" sz="5400" dirty="0">
                <a:ln w="0"/>
                <a:effectLst>
                  <a:outerShdw blurRad="38100" dist="19050" dir="2700000" algn="tl" rotWithShape="0">
                    <a:schemeClr val="dk1">
                      <a:alpha val="40000"/>
                    </a:schemeClr>
                  </a:outerShdw>
                </a:effectLst>
              </a:rPr>
              <a:t>Robots Autónomos</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ángulo 4">
            <a:extLst>
              <a:ext uri="{FF2B5EF4-FFF2-40B4-BE49-F238E27FC236}">
                <a16:creationId xmlns:a16="http://schemas.microsoft.com/office/drawing/2014/main" id="{85C4DE20-38CD-4B11-8090-E28710751D46}"/>
              </a:ext>
            </a:extLst>
          </p:cNvPr>
          <p:cNvSpPr/>
          <p:nvPr/>
        </p:nvSpPr>
        <p:spPr>
          <a:xfrm>
            <a:off x="2591479" y="3217748"/>
            <a:ext cx="6032678" cy="1569660"/>
          </a:xfrm>
          <a:prstGeom prst="rect">
            <a:avLst/>
          </a:prstGeom>
          <a:noFill/>
        </p:spPr>
        <p:txBody>
          <a:bodyPr wrap="square" lIns="91440" tIns="45720" rIns="91440" bIns="45720">
            <a:spAutoFit/>
          </a:bodyPr>
          <a:lstStyle/>
          <a:p>
            <a:r>
              <a:rPr lang="es-ES" sz="3200" dirty="0">
                <a:ln w="0"/>
                <a:solidFill>
                  <a:schemeClr val="accent2">
                    <a:lumMod val="60000"/>
                    <a:lumOff val="40000"/>
                  </a:schemeClr>
                </a:solidFill>
                <a:effectLst>
                  <a:outerShdw blurRad="38100" dist="19050" dir="2700000" algn="tl" rotWithShape="0">
                    <a:schemeClr val="dk1">
                      <a:alpha val="40000"/>
                    </a:schemeClr>
                  </a:outerShdw>
                </a:effectLst>
              </a:rPr>
              <a:t>Robots aéreos vs robots submarinos</a:t>
            </a:r>
          </a:p>
          <a:p>
            <a:r>
              <a:rPr lang="es-ES" sz="3200" dirty="0">
                <a:ln w="0"/>
                <a:solidFill>
                  <a:schemeClr val="accent2">
                    <a:lumMod val="60000"/>
                    <a:lumOff val="40000"/>
                  </a:schemeClr>
                </a:solidFill>
                <a:effectLst>
                  <a:outerShdw blurRad="38100" dist="19050" dir="2700000" algn="tl" rotWithShape="0">
                    <a:schemeClr val="dk1">
                      <a:alpha val="40000"/>
                    </a:schemeClr>
                  </a:outerShdw>
                </a:effectLst>
              </a:rPr>
              <a:t>DJI Matrice RKT 300 </a:t>
            </a:r>
          </a:p>
        </p:txBody>
      </p:sp>
      <p:sp>
        <p:nvSpPr>
          <p:cNvPr id="6" name="Rectángulo 5">
            <a:extLst>
              <a:ext uri="{FF2B5EF4-FFF2-40B4-BE49-F238E27FC236}">
                <a16:creationId xmlns:a16="http://schemas.microsoft.com/office/drawing/2014/main" id="{A67E450C-B423-4C53-B45B-0480FA6F4ABE}"/>
              </a:ext>
            </a:extLst>
          </p:cNvPr>
          <p:cNvSpPr/>
          <p:nvPr/>
        </p:nvSpPr>
        <p:spPr>
          <a:xfrm>
            <a:off x="2834927" y="5880158"/>
            <a:ext cx="3352200" cy="646331"/>
          </a:xfrm>
          <a:prstGeom prst="rect">
            <a:avLst/>
          </a:prstGeom>
          <a:noFill/>
        </p:spPr>
        <p:txBody>
          <a:bodyPr wrap="none" lIns="91440" tIns="45720" rIns="91440" bIns="45720">
            <a:spAutoFit/>
          </a:bodyPr>
          <a:lstStyle/>
          <a:p>
            <a:r>
              <a:rPr lang="es-ES" b="1" cap="none" spc="50" dirty="0">
                <a:ln w="0"/>
                <a:solidFill>
                  <a:schemeClr val="accent1">
                    <a:lumMod val="60000"/>
                    <a:lumOff val="40000"/>
                  </a:schemeClr>
                </a:solidFill>
                <a:effectLst>
                  <a:innerShdw blurRad="63500" dist="50800" dir="13500000">
                    <a:srgbClr val="000000">
                      <a:alpha val="50000"/>
                    </a:srgbClr>
                  </a:innerShdw>
                </a:effectLst>
              </a:rPr>
              <a:t>Arlet Acosta González</a:t>
            </a:r>
          </a:p>
          <a:p>
            <a:r>
              <a:rPr lang="es-ES" b="1" spc="50" dirty="0">
                <a:ln w="0"/>
                <a:solidFill>
                  <a:schemeClr val="accent1">
                    <a:lumMod val="60000"/>
                    <a:lumOff val="40000"/>
                  </a:schemeClr>
                </a:solidFill>
                <a:effectLst>
                  <a:innerShdw blurRad="63500" dist="50800" dir="13500000">
                    <a:srgbClr val="000000">
                      <a:alpha val="50000"/>
                    </a:srgbClr>
                  </a:innerShdw>
                </a:effectLst>
              </a:rPr>
              <a:t>Liz Carolina Sánchez Rojas</a:t>
            </a:r>
            <a:endParaRPr lang="es-ES" b="1" cap="none" spc="50" dirty="0">
              <a:ln w="0"/>
              <a:solidFill>
                <a:schemeClr val="accent1">
                  <a:lumMod val="60000"/>
                  <a:lumOff val="40000"/>
                </a:schemeClr>
              </a:solidFill>
              <a:effectLst>
                <a:innerShdw blurRad="63500" dist="50800" dir="13500000">
                  <a:srgbClr val="000000">
                    <a:alpha val="50000"/>
                  </a:srgbClr>
                </a:innerShdw>
              </a:effectLst>
            </a:endParaRPr>
          </a:p>
        </p:txBody>
      </p:sp>
      <p:pic>
        <p:nvPicPr>
          <p:cNvPr id="8" name="Imagen 7">
            <a:extLst>
              <a:ext uri="{FF2B5EF4-FFF2-40B4-BE49-F238E27FC236}">
                <a16:creationId xmlns:a16="http://schemas.microsoft.com/office/drawing/2014/main" id="{CE812416-28ED-4BA0-929A-E4F43CD6CCA1}"/>
              </a:ext>
            </a:extLst>
          </p:cNvPr>
          <p:cNvPicPr>
            <a:picLocks noChangeAspect="1"/>
          </p:cNvPicPr>
          <p:nvPr/>
        </p:nvPicPr>
        <p:blipFill rotWithShape="1">
          <a:blip r:embed="rId2"/>
          <a:srcRect t="1" b="363"/>
          <a:stretch/>
        </p:blipFill>
        <p:spPr>
          <a:xfrm>
            <a:off x="8932834" y="527905"/>
            <a:ext cx="3259166" cy="2234152"/>
          </a:xfrm>
          <a:prstGeom prst="rect">
            <a:avLst/>
          </a:prstGeom>
        </p:spPr>
      </p:pic>
      <p:pic>
        <p:nvPicPr>
          <p:cNvPr id="10" name="Imagen 9">
            <a:extLst>
              <a:ext uri="{FF2B5EF4-FFF2-40B4-BE49-F238E27FC236}">
                <a16:creationId xmlns:a16="http://schemas.microsoft.com/office/drawing/2014/main" id="{9AF0FD79-9273-4BC7-B636-80BE91BB7001}"/>
              </a:ext>
            </a:extLst>
          </p:cNvPr>
          <p:cNvPicPr>
            <a:picLocks noChangeAspect="1"/>
          </p:cNvPicPr>
          <p:nvPr/>
        </p:nvPicPr>
        <p:blipFill rotWithShape="1">
          <a:blip r:embed="rId3"/>
          <a:srcRect r="11819"/>
          <a:stretch/>
        </p:blipFill>
        <p:spPr>
          <a:xfrm>
            <a:off x="8932834" y="3396859"/>
            <a:ext cx="3259166" cy="2263336"/>
          </a:xfrm>
          <a:prstGeom prst="rect">
            <a:avLst/>
          </a:prstGeom>
        </p:spPr>
      </p:pic>
      <p:pic>
        <p:nvPicPr>
          <p:cNvPr id="14" name="Imagen 13">
            <a:extLst>
              <a:ext uri="{FF2B5EF4-FFF2-40B4-BE49-F238E27FC236}">
                <a16:creationId xmlns:a16="http://schemas.microsoft.com/office/drawing/2014/main" id="{0A667228-2AE7-4CD3-BE46-072A66EE7539}"/>
              </a:ext>
            </a:extLst>
          </p:cNvPr>
          <p:cNvPicPr>
            <a:picLocks noChangeAspect="1"/>
          </p:cNvPicPr>
          <p:nvPr/>
        </p:nvPicPr>
        <p:blipFill>
          <a:blip r:embed="rId4"/>
          <a:stretch>
            <a:fillRect/>
          </a:stretch>
        </p:blipFill>
        <p:spPr>
          <a:xfrm>
            <a:off x="10331776" y="6343338"/>
            <a:ext cx="1860223" cy="514662"/>
          </a:xfrm>
          <a:prstGeom prst="rect">
            <a:avLst/>
          </a:prstGeom>
        </p:spPr>
      </p:pic>
    </p:spTree>
    <p:extLst>
      <p:ext uri="{BB962C8B-B14F-4D97-AF65-F5344CB8AC3E}">
        <p14:creationId xmlns:p14="http://schemas.microsoft.com/office/powerpoint/2010/main" val="34740603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uadroTexto 1">
            <a:extLst>
              <a:ext uri="{FF2B5EF4-FFF2-40B4-BE49-F238E27FC236}">
                <a16:creationId xmlns:a16="http://schemas.microsoft.com/office/drawing/2014/main" id="{700BCF2E-4CCB-4CC1-BE2E-015E7054C6A9}"/>
              </a:ext>
            </a:extLst>
          </p:cNvPr>
          <p:cNvSpPr txBox="1"/>
          <p:nvPr/>
        </p:nvSpPr>
        <p:spPr>
          <a:xfrm>
            <a:off x="1058159" y="223943"/>
            <a:ext cx="10087361" cy="458780"/>
          </a:xfrm>
          <a:prstGeom prst="rect">
            <a:avLst/>
          </a:prstGeom>
          <a:noFill/>
        </p:spPr>
        <p:txBody>
          <a:bodyPr wrap="square">
            <a:spAutoFit/>
          </a:bodyPr>
          <a:lstStyle/>
          <a:p>
            <a:pPr algn="just">
              <a:lnSpc>
                <a:spcPct val="107000"/>
              </a:lnSpc>
              <a:spcAft>
                <a:spcPts val="800"/>
              </a:spcAft>
            </a:pPr>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aéreos (I)</a:t>
            </a:r>
            <a:endParaRPr lang="es-ES" sz="2400" dirty="0">
              <a:effectLst/>
              <a:latin typeface="+mj-lt"/>
              <a:ea typeface="Times New Roman" panose="02020603050405020304" pitchFamily="18" charset="0"/>
              <a:cs typeface="Times New Roman" panose="02020603050405020304" pitchFamily="18" charset="0"/>
            </a:endParaRPr>
          </a:p>
        </p:txBody>
      </p:sp>
      <p:sp>
        <p:nvSpPr>
          <p:cNvPr id="3" name="CuadroTexto 2">
            <a:extLst>
              <a:ext uri="{FF2B5EF4-FFF2-40B4-BE49-F238E27FC236}">
                <a16:creationId xmlns:a16="http://schemas.microsoft.com/office/drawing/2014/main" id="{0F38A274-257D-4059-AD5C-2B2131529DCB}"/>
              </a:ext>
            </a:extLst>
          </p:cNvPr>
          <p:cNvSpPr txBox="1"/>
          <p:nvPr/>
        </p:nvSpPr>
        <p:spPr>
          <a:xfrm>
            <a:off x="955250" y="1630443"/>
            <a:ext cx="10457466" cy="4401205"/>
          </a:xfrm>
          <a:prstGeom prst="rect">
            <a:avLst/>
          </a:prstGeom>
          <a:noFill/>
        </p:spPr>
        <p:txBody>
          <a:bodyPr wrap="square">
            <a:spAutoFit/>
          </a:bodyPr>
          <a:lstStyle/>
          <a:p>
            <a:pPr marL="342900" lvl="0" indent="-342900" algn="just">
              <a:buFont typeface="Symbol" panose="05050102010706020507" pitchFamily="18" charset="2"/>
              <a:buChar char=""/>
            </a:pPr>
            <a:r>
              <a:rPr lang="es-ES" sz="2000" b="1" dirty="0">
                <a:effectLst/>
                <a:ea typeface="Times New Roman" panose="02020603050405020304" pitchFamily="18" charset="0"/>
                <a:cs typeface="Times New Roman" panose="02020603050405020304" pitchFamily="18" charset="0"/>
              </a:rPr>
              <a:t>Sistema de Posicionamiento Global (GPS): </a:t>
            </a:r>
            <a:r>
              <a:rPr lang="es-ES" sz="2000" dirty="0">
                <a:effectLst/>
                <a:ea typeface="Times New Roman" panose="02020603050405020304" pitchFamily="18" charset="0"/>
                <a:cs typeface="Times New Roman" panose="02020603050405020304" pitchFamily="18" charset="0"/>
              </a:rPr>
              <a:t>Los drones aéreos suelen utilizar receptores GPS para determinar su posición en tiempo real. Esta información se utiliza para la navegación básica y para establecer rutas de vuelo predefinidas.</a:t>
            </a:r>
          </a:p>
          <a:p>
            <a:pPr marL="342900" lvl="0" indent="-342900" algn="just">
              <a:buFont typeface="Symbol" panose="05050102010706020507" pitchFamily="18" charset="2"/>
              <a:buChar char=""/>
            </a:pPr>
            <a:endParaRPr lang="es-ES" sz="2000" dirty="0">
              <a:effectLst/>
              <a:ea typeface="Times New Roman" panose="02020603050405020304" pitchFamily="18" charset="0"/>
              <a:cs typeface="Times New Roman" panose="02020603050405020304" pitchFamily="18" charset="0"/>
            </a:endParaRPr>
          </a:p>
          <a:p>
            <a:pPr marL="342900" lvl="0" indent="-342900" algn="just">
              <a:buFont typeface="Symbol" panose="05050102010706020507" pitchFamily="18" charset="2"/>
              <a:buChar char=""/>
              <a:tabLst>
                <a:tab pos="1529715" algn="l"/>
              </a:tabLst>
            </a:pPr>
            <a:r>
              <a:rPr lang="es-ES" sz="2000" b="1" dirty="0">
                <a:effectLst/>
                <a:ea typeface="Times New Roman" panose="02020603050405020304" pitchFamily="18" charset="0"/>
                <a:cs typeface="Times New Roman" panose="02020603050405020304" pitchFamily="18" charset="0"/>
              </a:rPr>
              <a:t>Sensores Inerciales</a:t>
            </a:r>
            <a:r>
              <a:rPr lang="es-ES" sz="2000" dirty="0">
                <a:effectLst/>
                <a:ea typeface="Times New Roman" panose="02020603050405020304" pitchFamily="18" charset="0"/>
                <a:cs typeface="Times New Roman" panose="02020603050405020304" pitchFamily="18" charset="0"/>
              </a:rPr>
              <a:t>: Los giroscopios y acelerómetros son sensores inerciales que miden la velocidad angular y la aceleración lineal del dron, respectivamente. Estos sensores proporcionan datos cruciales para estimar la orientación y la posición del dron, especialmente en ausencia de señales GPS confiables, como en interiores o en áreas urbanas densas.</a:t>
            </a:r>
          </a:p>
          <a:p>
            <a:pPr marL="342900" lvl="0" indent="-342900" algn="just">
              <a:buFont typeface="Symbol" panose="05050102010706020507" pitchFamily="18" charset="2"/>
              <a:buChar char=""/>
              <a:tabLst>
                <a:tab pos="1529715" algn="l"/>
              </a:tabLst>
            </a:pPr>
            <a:endParaRPr lang="es-ES" sz="2000" dirty="0">
              <a:effectLst/>
              <a:ea typeface="Times New Roman" panose="02020603050405020304" pitchFamily="18" charset="0"/>
              <a:cs typeface="Times New Roman" panose="02020603050405020304" pitchFamily="18" charset="0"/>
            </a:endParaRPr>
          </a:p>
          <a:p>
            <a:pPr marL="342900" lvl="0" indent="-342900" algn="just">
              <a:spcAft>
                <a:spcPts val="800"/>
              </a:spcAft>
              <a:buFont typeface="Symbol" panose="05050102010706020507" pitchFamily="18" charset="2"/>
              <a:buChar char=""/>
            </a:pPr>
            <a:r>
              <a:rPr lang="es-ES" sz="2000" b="1" dirty="0">
                <a:effectLst/>
                <a:ea typeface="Times New Roman" panose="02020603050405020304" pitchFamily="18" charset="0"/>
                <a:cs typeface="Times New Roman" panose="02020603050405020304" pitchFamily="18" charset="0"/>
              </a:rPr>
              <a:t>Sistema de </a:t>
            </a:r>
            <a:r>
              <a:rPr lang="es-ES" sz="2000" b="1" dirty="0" err="1">
                <a:effectLst/>
                <a:ea typeface="Times New Roman" panose="02020603050405020304" pitchFamily="18" charset="0"/>
                <a:cs typeface="Times New Roman" panose="02020603050405020304" pitchFamily="18" charset="0"/>
              </a:rPr>
              <a:t>Odometría</a:t>
            </a:r>
            <a:r>
              <a:rPr lang="es-ES" sz="2000" b="1" dirty="0">
                <a:effectLst/>
                <a:ea typeface="Times New Roman" panose="02020603050405020304" pitchFamily="18" charset="0"/>
                <a:cs typeface="Times New Roman" panose="02020603050405020304" pitchFamily="18" charset="0"/>
              </a:rPr>
              <a:t> Visual</a:t>
            </a:r>
            <a:r>
              <a:rPr lang="es-ES" sz="2000" dirty="0">
                <a:effectLst/>
                <a:ea typeface="Times New Roman" panose="02020603050405020304" pitchFamily="18" charset="0"/>
                <a:cs typeface="Times New Roman" panose="02020603050405020304" pitchFamily="18" charset="0"/>
              </a:rPr>
              <a:t>: Algunos drones utilizan cámaras y algoritmos de </a:t>
            </a:r>
            <a:r>
              <a:rPr lang="es-ES" sz="2000" dirty="0" err="1">
                <a:effectLst/>
                <a:ea typeface="Times New Roman" panose="02020603050405020304" pitchFamily="18" charset="0"/>
                <a:cs typeface="Times New Roman" panose="02020603050405020304" pitchFamily="18" charset="0"/>
              </a:rPr>
              <a:t>odometría</a:t>
            </a:r>
            <a:r>
              <a:rPr lang="es-ES" sz="2000" dirty="0">
                <a:effectLst/>
                <a:ea typeface="Times New Roman" panose="02020603050405020304" pitchFamily="18" charset="0"/>
                <a:cs typeface="Times New Roman" panose="02020603050405020304" pitchFamily="18" charset="0"/>
              </a:rPr>
              <a:t> visual para estimar cambios en la posición mediante el seguimiento de características visuales en el entorno. Esto puede ser útil en situaciones donde el GPS es menos preciso o no está disponible.</a:t>
            </a:r>
          </a:p>
        </p:txBody>
      </p:sp>
    </p:spTree>
    <p:extLst>
      <p:ext uri="{BB962C8B-B14F-4D97-AF65-F5344CB8AC3E}">
        <p14:creationId xmlns:p14="http://schemas.microsoft.com/office/powerpoint/2010/main" val="31124489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8EDE5490-F213-4259-8321-91163FC5D74E}"/>
              </a:ext>
            </a:extLst>
          </p:cNvPr>
          <p:cNvSpPr txBox="1"/>
          <p:nvPr/>
        </p:nvSpPr>
        <p:spPr>
          <a:xfrm>
            <a:off x="1019666" y="1567611"/>
            <a:ext cx="10152668" cy="4358886"/>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s-ES" sz="2000" dirty="0" err="1">
                <a:effectLst/>
                <a:latin typeface="+mj-lt"/>
                <a:ea typeface="Times New Roman" panose="02020603050405020304" pitchFamily="18" charset="0"/>
                <a:cs typeface="Times New Roman" panose="02020603050405020304" pitchFamily="18" charset="0"/>
              </a:rPr>
              <a:t>Lidar</a:t>
            </a:r>
            <a:r>
              <a:rPr lang="es-ES" sz="2000" dirty="0">
                <a:effectLst/>
                <a:latin typeface="+mj-lt"/>
                <a:ea typeface="Times New Roman" panose="02020603050405020304" pitchFamily="18" charset="0"/>
                <a:cs typeface="Times New Roman" panose="02020603050405020304" pitchFamily="18" charset="0"/>
              </a:rPr>
              <a:t> y Sensores de Distancia: </a:t>
            </a:r>
            <a:r>
              <a:rPr lang="es-ES" sz="2000" dirty="0" err="1">
                <a:effectLst/>
                <a:latin typeface="+mj-lt"/>
                <a:ea typeface="Times New Roman" panose="02020603050405020304" pitchFamily="18" charset="0"/>
                <a:cs typeface="Times New Roman" panose="02020603050405020304" pitchFamily="18" charset="0"/>
              </a:rPr>
              <a:t>Lidar</a:t>
            </a:r>
            <a:r>
              <a:rPr lang="es-ES" sz="2000" dirty="0">
                <a:effectLst/>
                <a:latin typeface="+mj-lt"/>
                <a:ea typeface="Times New Roman" panose="02020603050405020304" pitchFamily="18" charset="0"/>
                <a:cs typeface="Times New Roman" panose="02020603050405020304" pitchFamily="18" charset="0"/>
              </a:rPr>
              <a:t> (detección y medición de luz) y sensores ultrasónicos son utilizados para medir la distancia entre el dron y los objetos circundantes. Esto es esencial para evitar colisiones y para la navegación segura, especialmente en entornos urbanos o en vuelos a baja altitud.</a:t>
            </a:r>
          </a:p>
          <a:p>
            <a:pPr marL="342900" lvl="0" indent="-342900" algn="just">
              <a:lnSpc>
                <a:spcPct val="107000"/>
              </a:lnSpc>
              <a:buFont typeface="Symbol" panose="05050102010706020507" pitchFamily="18" charset="2"/>
              <a:buChar char=""/>
            </a:pPr>
            <a:endParaRPr lang="es-ES" sz="2000" dirty="0">
              <a:effectLst/>
              <a:latin typeface="+mj-lt"/>
              <a:ea typeface="Times New Roman" panose="02020603050405020304" pitchFamily="18"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s-ES" sz="2000" dirty="0">
                <a:effectLst/>
                <a:latin typeface="+mj-lt"/>
                <a:ea typeface="Times New Roman" panose="02020603050405020304" pitchFamily="18" charset="0"/>
                <a:cs typeface="Times New Roman" panose="02020603050405020304" pitchFamily="18" charset="0"/>
              </a:rPr>
              <a:t>Brújula Electrónica: Las brújulas electrónicas proporcionan información sobre la orientación del dron con respecto al campo magnético de la Tierra. Esto contribuye a la precisión de la navegación y ayuda a mantener una dirección constante.</a:t>
            </a:r>
          </a:p>
          <a:p>
            <a:pPr marL="342900" lvl="0" indent="-342900" algn="just">
              <a:lnSpc>
                <a:spcPct val="107000"/>
              </a:lnSpc>
              <a:buFont typeface="Symbol" panose="05050102010706020507" pitchFamily="18" charset="2"/>
              <a:buChar char=""/>
            </a:pPr>
            <a:endParaRPr lang="es-ES" sz="2000" dirty="0">
              <a:effectLst/>
              <a:latin typeface="+mj-lt"/>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2000" dirty="0">
                <a:effectLst/>
                <a:latin typeface="+mj-lt"/>
                <a:ea typeface="Times New Roman" panose="02020603050405020304" pitchFamily="18" charset="0"/>
                <a:cs typeface="Times New Roman" panose="02020603050405020304" pitchFamily="18" charset="0"/>
              </a:rPr>
              <a:t>Sistema de Control de Vuelo: Los sistemas de control de vuelo a bordo utilizan algoritmos avanzados para procesar datos de sensores y controlar los actuadores del dron, como los motores y los servos. Estos sistemas permiten el control preciso de la posición y la actitud del dron.</a:t>
            </a:r>
          </a:p>
        </p:txBody>
      </p:sp>
      <p:sp>
        <p:nvSpPr>
          <p:cNvPr id="5" name="CuadroTexto 4">
            <a:extLst>
              <a:ext uri="{FF2B5EF4-FFF2-40B4-BE49-F238E27FC236}">
                <a16:creationId xmlns:a16="http://schemas.microsoft.com/office/drawing/2014/main" id="{EFF548E3-8484-40B5-9BF7-3724F54AA252}"/>
              </a:ext>
            </a:extLst>
          </p:cNvPr>
          <p:cNvSpPr txBox="1"/>
          <p:nvPr/>
        </p:nvSpPr>
        <p:spPr>
          <a:xfrm>
            <a:off x="1163948" y="343653"/>
            <a:ext cx="10509891" cy="461665"/>
          </a:xfrm>
          <a:prstGeom prst="rect">
            <a:avLst/>
          </a:prstGeom>
          <a:noFill/>
        </p:spPr>
        <p:txBody>
          <a:bodyPr wrap="square">
            <a:spAutoFit/>
          </a:bodyPr>
          <a:lstStyle/>
          <a:p>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aéreos (II)</a:t>
            </a:r>
            <a:r>
              <a:rPr lang="es-ES" sz="2400" dirty="0">
                <a:effectLst/>
                <a:latin typeface="+mj-lt"/>
                <a:ea typeface="Times New Roman" panose="02020603050405020304" pitchFamily="18" charset="0"/>
                <a:cs typeface="Times New Roman" panose="02020603050405020304" pitchFamily="18" charset="0"/>
              </a:rPr>
              <a:t> </a:t>
            </a:r>
            <a:endParaRPr lang="es-ES" sz="2400" dirty="0">
              <a:latin typeface="+mj-lt"/>
            </a:endParaRPr>
          </a:p>
        </p:txBody>
      </p:sp>
    </p:spTree>
    <p:extLst>
      <p:ext uri="{BB962C8B-B14F-4D97-AF65-F5344CB8AC3E}">
        <p14:creationId xmlns:p14="http://schemas.microsoft.com/office/powerpoint/2010/main" val="2584729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9FED085-5749-4BFF-A6FA-C042FF64A451}"/>
              </a:ext>
            </a:extLst>
          </p:cNvPr>
          <p:cNvSpPr txBox="1"/>
          <p:nvPr/>
        </p:nvSpPr>
        <p:spPr>
          <a:xfrm>
            <a:off x="1027523" y="1748187"/>
            <a:ext cx="10360058" cy="3361626"/>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Comunicación y Telemetría: Los drones a menudo están equipados con sistemas de comunicación para la transmisión de datos a un operador remoto. La telemetría proporciona información en tiempo real sobre el estado del dron, incluida la posición, la batería y otros datos vitales.</a:t>
            </a:r>
          </a:p>
          <a:p>
            <a:pPr marL="342900" lvl="0" indent="-342900" algn="just">
              <a:lnSpc>
                <a:spcPct val="107000"/>
              </a:lnSpc>
              <a:buFont typeface="Symbol" panose="05050102010706020507" pitchFamily="18" charset="2"/>
              <a:buChar char=""/>
            </a:pPr>
            <a:endParaRPr lang="es-ES" sz="2000" dirty="0">
              <a:effectLst/>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Sistema de Planificación de Rutas y Autonomía: Los drones autónomos pueden contar con sistemas de planificación de rutas que les permiten seguir trayectorias predefinidas o incluso adaptarse a su entorno en tiempo real. Estos sistemas utilizan algoritmos de toma de decisiones y planificación para evitar obstáculos y alcanzar destinos específicos.</a:t>
            </a:r>
          </a:p>
        </p:txBody>
      </p:sp>
      <p:sp>
        <p:nvSpPr>
          <p:cNvPr id="5" name="CuadroTexto 4">
            <a:extLst>
              <a:ext uri="{FF2B5EF4-FFF2-40B4-BE49-F238E27FC236}">
                <a16:creationId xmlns:a16="http://schemas.microsoft.com/office/drawing/2014/main" id="{6DDF1107-5600-423B-A1F3-080D03268578}"/>
              </a:ext>
            </a:extLst>
          </p:cNvPr>
          <p:cNvSpPr txBox="1"/>
          <p:nvPr/>
        </p:nvSpPr>
        <p:spPr>
          <a:xfrm>
            <a:off x="1027523" y="319323"/>
            <a:ext cx="10209438" cy="461665"/>
          </a:xfrm>
          <a:prstGeom prst="rect">
            <a:avLst/>
          </a:prstGeom>
          <a:noFill/>
        </p:spPr>
        <p:txBody>
          <a:bodyPr wrap="square">
            <a:spAutoFit/>
          </a:bodyPr>
          <a:lstStyle/>
          <a:p>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aéreos (III)</a:t>
            </a:r>
            <a:r>
              <a:rPr lang="es-ES" sz="2400" dirty="0">
                <a:effectLst/>
                <a:latin typeface="+mj-lt"/>
                <a:ea typeface="Times New Roman" panose="02020603050405020304" pitchFamily="18" charset="0"/>
                <a:cs typeface="Times New Roman" panose="02020603050405020304" pitchFamily="18" charset="0"/>
              </a:rPr>
              <a:t> </a:t>
            </a:r>
            <a:endParaRPr lang="es-ES" sz="2400" dirty="0">
              <a:latin typeface="+mj-lt"/>
            </a:endParaRPr>
          </a:p>
        </p:txBody>
      </p:sp>
    </p:spTree>
    <p:extLst>
      <p:ext uri="{BB962C8B-B14F-4D97-AF65-F5344CB8AC3E}">
        <p14:creationId xmlns:p14="http://schemas.microsoft.com/office/powerpoint/2010/main" val="2103292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717D8A28-3F00-46A8-9BD1-8783E5710D1F}"/>
              </a:ext>
            </a:extLst>
          </p:cNvPr>
          <p:cNvSpPr txBox="1"/>
          <p:nvPr/>
        </p:nvSpPr>
        <p:spPr>
          <a:xfrm>
            <a:off x="996099" y="1908199"/>
            <a:ext cx="10199802" cy="3690947"/>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Sistema de Posicionamiento Acústico: Los AUV suelen utilizar sistemas de posicionamiento acústico para determinar su ubicación en entornos submarinos donde las señales de GPS no son efectivas. Estos sistemas pueden consistir en transpondedores instalados en el fondo marino y un emisor/receptor acústico en el AUV. La medición del tiempo de vuelo de las señales acústicas permite calcular la posición con precisión.</a:t>
            </a:r>
          </a:p>
          <a:p>
            <a:pPr marL="342900" lvl="0" indent="-342900" algn="just">
              <a:lnSpc>
                <a:spcPct val="107000"/>
              </a:lnSpc>
              <a:buFont typeface="Symbol" panose="05050102010706020507" pitchFamily="18" charset="2"/>
              <a:buChar char=""/>
            </a:pPr>
            <a:endParaRPr lang="es-ES" sz="2000" dirty="0">
              <a:effectLst/>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Unidad de Medición Inercial (IMU): Las IMU incluyen giroscopios y acelerómetros para medir la velocidad angular y la aceleración lineal del AUV. Estos datos se utilizan para estimar la orientación y la posición del vehículo en ausencia de señales externas.</a:t>
            </a:r>
          </a:p>
        </p:txBody>
      </p:sp>
      <p:sp>
        <p:nvSpPr>
          <p:cNvPr id="5" name="CuadroTexto 4">
            <a:extLst>
              <a:ext uri="{FF2B5EF4-FFF2-40B4-BE49-F238E27FC236}">
                <a16:creationId xmlns:a16="http://schemas.microsoft.com/office/drawing/2014/main" id="{DBEB4EF1-938E-44DF-AA32-98407C5040A0}"/>
              </a:ext>
            </a:extLst>
          </p:cNvPr>
          <p:cNvSpPr txBox="1"/>
          <p:nvPr/>
        </p:nvSpPr>
        <p:spPr>
          <a:xfrm>
            <a:off x="996099" y="337444"/>
            <a:ext cx="10199802" cy="830997"/>
          </a:xfrm>
          <a:prstGeom prst="rect">
            <a:avLst/>
          </a:prstGeom>
          <a:noFill/>
        </p:spPr>
        <p:txBody>
          <a:bodyPr wrap="square">
            <a:spAutoFit/>
          </a:bodyPr>
          <a:lstStyle/>
          <a:p>
            <a:pPr algn="ctr"/>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submarinos (I)</a:t>
            </a:r>
            <a:r>
              <a:rPr lang="es-ES" sz="2400" dirty="0">
                <a:effectLst/>
                <a:latin typeface="+mj-lt"/>
                <a:ea typeface="Times New Roman" panose="02020603050405020304" pitchFamily="18" charset="0"/>
                <a:cs typeface="Times New Roman" panose="02020603050405020304" pitchFamily="18" charset="0"/>
              </a:rPr>
              <a:t> </a:t>
            </a:r>
            <a:endParaRPr lang="es-ES" sz="2400" dirty="0">
              <a:latin typeface="+mj-lt"/>
            </a:endParaRPr>
          </a:p>
        </p:txBody>
      </p:sp>
    </p:spTree>
    <p:extLst>
      <p:ext uri="{BB962C8B-B14F-4D97-AF65-F5344CB8AC3E}">
        <p14:creationId xmlns:p14="http://schemas.microsoft.com/office/powerpoint/2010/main" val="1279799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2E2C556D-E305-4ACE-A9AB-42538BDA7AA4}"/>
              </a:ext>
            </a:extLst>
          </p:cNvPr>
          <p:cNvSpPr txBox="1"/>
          <p:nvPr/>
        </p:nvSpPr>
        <p:spPr>
          <a:xfrm>
            <a:off x="1132787" y="1854261"/>
            <a:ext cx="9926425" cy="4184735"/>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Sistema de Navegación por Estrellas: Algunos AUV (</a:t>
            </a:r>
            <a:r>
              <a:rPr lang="en-US" sz="2000" b="0" i="1" dirty="0">
                <a:effectLst/>
                <a:latin typeface="Söhne"/>
              </a:rPr>
              <a:t>Autonomous Underwater Vehicle</a:t>
            </a:r>
            <a:r>
              <a:rPr lang="es-ES" sz="2000" dirty="0">
                <a:effectLst/>
                <a:ea typeface="Times New Roman" panose="02020603050405020304" pitchFamily="18" charset="0"/>
                <a:cs typeface="Times New Roman" panose="02020603050405020304" pitchFamily="18" charset="0"/>
              </a:rPr>
              <a:t>) pueden estar equipados con sistemas de navegación por estrellas que utilizan sensores ópticos para reconocer patrones de estrellas en la superficie del agua. Esto puede proporcionar una referencia adicional para la navegación.</a:t>
            </a:r>
          </a:p>
          <a:p>
            <a:pPr marL="342900" lvl="0" indent="-342900" algn="just">
              <a:lnSpc>
                <a:spcPct val="107000"/>
              </a:lnSpc>
              <a:buFont typeface="Symbol" panose="05050102010706020507" pitchFamily="18" charset="2"/>
              <a:buChar char=""/>
            </a:pPr>
            <a:endParaRPr lang="es-ES" sz="2000" dirty="0">
              <a:effectLst/>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2000" dirty="0">
                <a:effectLst/>
                <a:ea typeface="Times New Roman" panose="02020603050405020304" pitchFamily="18" charset="0"/>
                <a:cs typeface="Times New Roman" panose="02020603050405020304" pitchFamily="18" charset="0"/>
              </a:rPr>
              <a:t>Sensores de Profundidad y Presión: Los sensores de profundidad y presión permiten a los AUV determinar su altitud con respecto al fondo marino. Esto es crucial para evitar colisiones y garantizar un vuelo seguro a altitudes específicas.</a:t>
            </a:r>
          </a:p>
          <a:p>
            <a:pPr marL="342900" lvl="0" indent="-342900" algn="just">
              <a:lnSpc>
                <a:spcPct val="107000"/>
              </a:lnSpc>
              <a:spcAft>
                <a:spcPts val="800"/>
              </a:spcAft>
              <a:buFont typeface="Symbol" panose="05050102010706020507" pitchFamily="18" charset="2"/>
              <a:buChar char=""/>
            </a:pPr>
            <a:endParaRPr lang="es-ES" sz="2000" dirty="0">
              <a:effectLst/>
              <a:ea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s-ES" sz="2000" dirty="0">
                <a:effectLst/>
                <a:ea typeface="Times New Roman" panose="02020603050405020304" pitchFamily="18" charset="0"/>
                <a:cs typeface="Times New Roman" panose="02020603050405020304" pitchFamily="18" charset="0"/>
              </a:rPr>
              <a:t>Sistema de Sonar: Los sistemas de sonar se utilizan para mapear el lecho marino y detectar obstáculos en la ruta del AUV. Esto es esencial para la seguridad y la planificación de la ruta.</a:t>
            </a:r>
            <a:endParaRPr lang="es-ES" sz="2000" dirty="0"/>
          </a:p>
        </p:txBody>
      </p:sp>
      <p:sp>
        <p:nvSpPr>
          <p:cNvPr id="4" name="CuadroTexto 3">
            <a:extLst>
              <a:ext uri="{FF2B5EF4-FFF2-40B4-BE49-F238E27FC236}">
                <a16:creationId xmlns:a16="http://schemas.microsoft.com/office/drawing/2014/main" id="{901A8BCF-89FD-4BC1-9B18-AD2DE5C8DFA9}"/>
              </a:ext>
            </a:extLst>
          </p:cNvPr>
          <p:cNvSpPr txBox="1"/>
          <p:nvPr/>
        </p:nvSpPr>
        <p:spPr>
          <a:xfrm>
            <a:off x="1276546" y="317857"/>
            <a:ext cx="9782666" cy="830997"/>
          </a:xfrm>
          <a:prstGeom prst="rect">
            <a:avLst/>
          </a:prstGeom>
          <a:noFill/>
        </p:spPr>
        <p:txBody>
          <a:bodyPr wrap="square">
            <a:spAutoFit/>
          </a:bodyPr>
          <a:lstStyle/>
          <a:p>
            <a:pPr algn="ctr"/>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submarinos (II)</a:t>
            </a:r>
            <a:r>
              <a:rPr lang="es-ES" sz="2400" dirty="0">
                <a:effectLst/>
                <a:latin typeface="+mj-lt"/>
                <a:ea typeface="Times New Roman" panose="02020603050405020304" pitchFamily="18" charset="0"/>
                <a:cs typeface="Times New Roman" panose="02020603050405020304" pitchFamily="18" charset="0"/>
              </a:rPr>
              <a:t> </a:t>
            </a:r>
            <a:endParaRPr lang="es-ES" sz="2400" dirty="0">
              <a:latin typeface="+mj-lt"/>
            </a:endParaRPr>
          </a:p>
        </p:txBody>
      </p:sp>
    </p:spTree>
    <p:extLst>
      <p:ext uri="{BB962C8B-B14F-4D97-AF65-F5344CB8AC3E}">
        <p14:creationId xmlns:p14="http://schemas.microsoft.com/office/powerpoint/2010/main" val="34374998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73BEA3E-5F05-4E3B-859F-8BF2F731D81E}"/>
              </a:ext>
            </a:extLst>
          </p:cNvPr>
          <p:cNvSpPr txBox="1"/>
          <p:nvPr/>
        </p:nvSpPr>
        <p:spPr>
          <a:xfrm>
            <a:off x="920684" y="1734111"/>
            <a:ext cx="10350631" cy="4349589"/>
          </a:xfrm>
          <a:prstGeom prst="rect">
            <a:avLst/>
          </a:prstGeom>
          <a:noFill/>
        </p:spPr>
        <p:txBody>
          <a:bodyPr wrap="square">
            <a:spAutoFit/>
          </a:bodyPr>
          <a:lstStyle/>
          <a:p>
            <a:pPr marL="342900" lvl="0" indent="-342900" algn="just">
              <a:lnSpc>
                <a:spcPct val="107000"/>
              </a:lnSpc>
              <a:buFont typeface="Symbol" panose="05050102010706020507" pitchFamily="18" charset="2"/>
              <a:buChar char=""/>
            </a:pPr>
            <a:r>
              <a:rPr lang="es-ES" sz="2000" dirty="0">
                <a:effectLst/>
                <a:latin typeface="+mj-lt"/>
                <a:ea typeface="Times New Roman" panose="02020603050405020304" pitchFamily="18" charset="0"/>
                <a:cs typeface="Times New Roman" panose="02020603050405020304" pitchFamily="18" charset="0"/>
              </a:rPr>
              <a:t>Sistema de Control Autónomo: Los algoritmos de control autónomo procesan datos de los sensores y toman decisiones en tiempo real para ajustar la trayectoria y las acciones del AUV. Estos sistemas son fundamentales para la autonomía del vehículo bajo el agua.</a:t>
            </a:r>
          </a:p>
          <a:p>
            <a:pPr marL="342900" lvl="0" indent="-342900" algn="just">
              <a:lnSpc>
                <a:spcPct val="107000"/>
              </a:lnSpc>
              <a:buFont typeface="Symbol" panose="05050102010706020507" pitchFamily="18" charset="2"/>
              <a:buChar char=""/>
            </a:pPr>
            <a:endParaRPr lang="es-ES" sz="2000" dirty="0">
              <a:effectLst/>
              <a:latin typeface="+mj-lt"/>
              <a:ea typeface="Times New Roman" panose="02020603050405020304" pitchFamily="18" charset="0"/>
              <a:cs typeface="Times New Roman" panose="02020603050405020304" pitchFamily="18" charset="0"/>
            </a:endParaRPr>
          </a:p>
          <a:p>
            <a:pPr marL="342900" lvl="0" indent="-342900" algn="just">
              <a:lnSpc>
                <a:spcPct val="107000"/>
              </a:lnSpc>
              <a:buFont typeface="Symbol" panose="05050102010706020507" pitchFamily="18" charset="2"/>
              <a:buChar char=""/>
            </a:pPr>
            <a:r>
              <a:rPr lang="es-ES" sz="2000" dirty="0">
                <a:effectLst/>
                <a:latin typeface="+mj-lt"/>
                <a:ea typeface="Times New Roman" panose="02020603050405020304" pitchFamily="18" charset="0"/>
                <a:cs typeface="Times New Roman" panose="02020603050405020304" pitchFamily="18" charset="0"/>
              </a:rPr>
              <a:t>Comunicación Acústica: La comunicación acústica se utiliza para la transmisión de datos entre el AUV y la superficie o estaciones de control. Dado que las señales de radio tienen un alcance limitado bajo el agua, la comunicación acústica es esencial para la operación remota y la transmisión de datos.</a:t>
            </a:r>
          </a:p>
          <a:p>
            <a:pPr marL="342900" lvl="0" indent="-342900" algn="just">
              <a:lnSpc>
                <a:spcPct val="107000"/>
              </a:lnSpc>
              <a:buFont typeface="Symbol" panose="05050102010706020507" pitchFamily="18" charset="2"/>
              <a:buChar char=""/>
            </a:pPr>
            <a:endParaRPr lang="es-ES" sz="2000" dirty="0">
              <a:effectLst/>
              <a:latin typeface="+mj-lt"/>
              <a:ea typeface="Times New Roman" panose="02020603050405020304" pitchFamily="18" charset="0"/>
              <a:cs typeface="Times New Roman" panose="02020603050405020304" pitchFamily="18" charset="0"/>
            </a:endParaRPr>
          </a:p>
          <a:p>
            <a:pPr marL="342900" lvl="0" indent="-342900" algn="just">
              <a:lnSpc>
                <a:spcPct val="107000"/>
              </a:lnSpc>
              <a:spcAft>
                <a:spcPts val="800"/>
              </a:spcAft>
              <a:buFont typeface="Symbol" panose="05050102010706020507" pitchFamily="18" charset="2"/>
              <a:buChar char=""/>
            </a:pPr>
            <a:r>
              <a:rPr lang="es-ES" sz="2000" dirty="0">
                <a:effectLst/>
                <a:latin typeface="+mj-lt"/>
                <a:ea typeface="Times New Roman" panose="02020603050405020304" pitchFamily="18" charset="0"/>
                <a:cs typeface="Times New Roman" panose="02020603050405020304" pitchFamily="18" charset="0"/>
              </a:rPr>
              <a:t>Sistema de Energía Eficiente: Dado que los AUV operan con baterías limitadas, los sistemas de navegación deben ser diseñados para ser energéticamente eficientes. La planificación de rutas y el control de energía son consideraciones críticas.</a:t>
            </a:r>
          </a:p>
        </p:txBody>
      </p:sp>
      <p:sp>
        <p:nvSpPr>
          <p:cNvPr id="4" name="CuadroTexto 3">
            <a:extLst>
              <a:ext uri="{FF2B5EF4-FFF2-40B4-BE49-F238E27FC236}">
                <a16:creationId xmlns:a16="http://schemas.microsoft.com/office/drawing/2014/main" id="{4B91EFDF-629B-4C2E-BEBA-F7CE50C3E320}"/>
              </a:ext>
            </a:extLst>
          </p:cNvPr>
          <p:cNvSpPr txBox="1"/>
          <p:nvPr/>
        </p:nvSpPr>
        <p:spPr>
          <a:xfrm>
            <a:off x="1256122" y="317857"/>
            <a:ext cx="9782666" cy="830997"/>
          </a:xfrm>
          <a:prstGeom prst="rect">
            <a:avLst/>
          </a:prstGeom>
          <a:noFill/>
        </p:spPr>
        <p:txBody>
          <a:bodyPr wrap="square">
            <a:spAutoFit/>
          </a:bodyPr>
          <a:lstStyle/>
          <a:p>
            <a:pPr algn="ctr"/>
            <a:r>
              <a:rPr lang="es-ES" sz="2400" b="1" u="sng" dirty="0">
                <a:effectLst/>
                <a:latin typeface="+mj-lt"/>
                <a:ea typeface="Times New Roman" panose="02020603050405020304" pitchFamily="18" charset="0"/>
                <a:cs typeface="Times New Roman" panose="02020603050405020304" pitchFamily="18" charset="0"/>
              </a:rPr>
              <a:t>Descripción de los sistemas de navegación de los robots submarinos (III)</a:t>
            </a:r>
            <a:endParaRPr lang="es-ES" sz="2400" dirty="0">
              <a:latin typeface="+mj-lt"/>
            </a:endParaRPr>
          </a:p>
        </p:txBody>
      </p:sp>
    </p:spTree>
    <p:extLst>
      <p:ext uri="{BB962C8B-B14F-4D97-AF65-F5344CB8AC3E}">
        <p14:creationId xmlns:p14="http://schemas.microsoft.com/office/powerpoint/2010/main" val="405110639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0B6D2EF-4A55-4ACC-A17A-6E4CE3E3827A}"/>
              </a:ext>
            </a:extLst>
          </p:cNvPr>
          <p:cNvSpPr txBox="1"/>
          <p:nvPr/>
        </p:nvSpPr>
        <p:spPr>
          <a:xfrm>
            <a:off x="1041400" y="4394200"/>
            <a:ext cx="10109200" cy="1323439"/>
          </a:xfrm>
          <a:prstGeom prst="rect">
            <a:avLst/>
          </a:prstGeom>
          <a:noFill/>
        </p:spPr>
        <p:txBody>
          <a:bodyPr wrap="square">
            <a:spAutoFit/>
          </a:bodyPr>
          <a:lstStyle/>
          <a:p>
            <a:pPr algn="just"/>
            <a:r>
              <a:rPr lang="es-ES" sz="2000" b="0" i="0" dirty="0">
                <a:effectLst/>
                <a:latin typeface="Söhne"/>
              </a:rPr>
              <a:t>DJI Matrice 300 RTK es un dron de la serie Matrice fabricado por DJI ("</a:t>
            </a:r>
            <a:r>
              <a:rPr lang="es-ES" sz="2000" b="0" i="0" dirty="0" err="1">
                <a:effectLst/>
                <a:latin typeface="Söhne"/>
              </a:rPr>
              <a:t>Dà-Jiāng</a:t>
            </a:r>
            <a:r>
              <a:rPr lang="es-ES" sz="2000" b="0" i="0" dirty="0">
                <a:effectLst/>
                <a:latin typeface="Söhne"/>
              </a:rPr>
              <a:t> </a:t>
            </a:r>
            <a:r>
              <a:rPr lang="es-ES" sz="2000" b="0" i="0" dirty="0" err="1">
                <a:effectLst/>
                <a:latin typeface="Söhne"/>
              </a:rPr>
              <a:t>Innovations</a:t>
            </a:r>
            <a:r>
              <a:rPr lang="es-ES" sz="2000" b="0" i="0" dirty="0">
                <a:effectLst/>
                <a:latin typeface="Söhne"/>
              </a:rPr>
              <a:t>"), que utiliza la tecnología RTK (Real-Time </a:t>
            </a:r>
            <a:r>
              <a:rPr lang="es-ES" sz="2000" b="0" i="0" dirty="0" err="1">
                <a:effectLst/>
                <a:latin typeface="Söhne"/>
              </a:rPr>
              <a:t>Kinematic</a:t>
            </a:r>
            <a:r>
              <a:rPr lang="es-ES" sz="2000" b="0" i="0" dirty="0">
                <a:effectLst/>
                <a:latin typeface="Söhne"/>
              </a:rPr>
              <a:t>) para proporcionar una mayor precisión en la determinación de la posición en tiempo real. Este dron está diseñado para aplicaciones profesionales y comerciales que requieren un rendimiento y una precisión avanzados.</a:t>
            </a:r>
            <a:endParaRPr lang="es-ES" sz="2000" dirty="0"/>
          </a:p>
        </p:txBody>
      </p:sp>
      <p:pic>
        <p:nvPicPr>
          <p:cNvPr id="4" name="Imagen 3">
            <a:extLst>
              <a:ext uri="{FF2B5EF4-FFF2-40B4-BE49-F238E27FC236}">
                <a16:creationId xmlns:a16="http://schemas.microsoft.com/office/drawing/2014/main" id="{DB41CFD5-826A-4D24-9841-CC96503E48D2}"/>
              </a:ext>
            </a:extLst>
          </p:cNvPr>
          <p:cNvPicPr>
            <a:picLocks noChangeAspect="1"/>
          </p:cNvPicPr>
          <p:nvPr/>
        </p:nvPicPr>
        <p:blipFill rotWithShape="1">
          <a:blip r:embed="rId2"/>
          <a:srcRect t="1" b="363"/>
          <a:stretch/>
        </p:blipFill>
        <p:spPr>
          <a:xfrm>
            <a:off x="3212753" y="822544"/>
            <a:ext cx="4684149" cy="3210975"/>
          </a:xfrm>
          <a:prstGeom prst="rect">
            <a:avLst/>
          </a:prstGeom>
        </p:spPr>
      </p:pic>
      <p:sp>
        <p:nvSpPr>
          <p:cNvPr id="6" name="CuadroTexto 5">
            <a:extLst>
              <a:ext uri="{FF2B5EF4-FFF2-40B4-BE49-F238E27FC236}">
                <a16:creationId xmlns:a16="http://schemas.microsoft.com/office/drawing/2014/main" id="{7F616F9A-56BE-4E1F-A356-81AE28FA49A2}"/>
              </a:ext>
            </a:extLst>
          </p:cNvPr>
          <p:cNvSpPr txBox="1"/>
          <p:nvPr/>
        </p:nvSpPr>
        <p:spPr>
          <a:xfrm>
            <a:off x="3862993" y="193238"/>
            <a:ext cx="3889087" cy="461665"/>
          </a:xfrm>
          <a:prstGeom prst="rect">
            <a:avLst/>
          </a:prstGeom>
          <a:noFill/>
        </p:spPr>
        <p:txBody>
          <a:bodyPr wrap="square">
            <a:spAutoFit/>
          </a:bodyPr>
          <a:lstStyle/>
          <a:p>
            <a:r>
              <a:rPr lang="es-ES" sz="2400" b="1" i="0" dirty="0">
                <a:effectLst/>
                <a:latin typeface="+mj-lt"/>
              </a:rPr>
              <a:t>DJI Matrice 300 RTK </a:t>
            </a:r>
            <a:endParaRPr lang="es-ES" sz="2400" b="1" dirty="0">
              <a:latin typeface="+mj-lt"/>
            </a:endParaRPr>
          </a:p>
        </p:txBody>
      </p:sp>
    </p:spTree>
    <p:extLst>
      <p:ext uri="{BB962C8B-B14F-4D97-AF65-F5344CB8AC3E}">
        <p14:creationId xmlns:p14="http://schemas.microsoft.com/office/powerpoint/2010/main" val="36004483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55E5309C-2B46-4607-9658-B9D6D27D9D6F}"/>
              </a:ext>
            </a:extLst>
          </p:cNvPr>
          <p:cNvSpPr txBox="1"/>
          <p:nvPr/>
        </p:nvSpPr>
        <p:spPr>
          <a:xfrm>
            <a:off x="952499" y="798081"/>
            <a:ext cx="9867507" cy="5308889"/>
          </a:xfrm>
          <a:prstGeom prst="rect">
            <a:avLst/>
          </a:prstGeom>
          <a:noFill/>
        </p:spPr>
        <p:txBody>
          <a:bodyPr wrap="square">
            <a:spAutoFit/>
          </a:bodyPr>
          <a:lstStyle/>
          <a:p>
            <a:pPr marL="342900" indent="-342900" algn="just">
              <a:lnSpc>
                <a:spcPct val="107000"/>
              </a:lnSpc>
              <a:spcAft>
                <a:spcPts val="800"/>
              </a:spcAft>
              <a:buFont typeface="Arial" panose="020B0604020202020204" pitchFamily="34" charset="0"/>
              <a:buChar char="•"/>
            </a:pPr>
            <a:r>
              <a:rPr lang="es-ES" b="1" dirty="0">
                <a:effectLst/>
                <a:ea typeface="Times New Roman" panose="02020603050405020304" pitchFamily="18" charset="0"/>
                <a:cs typeface="Arial" panose="020B0604020202020204" pitchFamily="34" charset="0"/>
              </a:rPr>
              <a:t>Balizas: </a:t>
            </a:r>
            <a:r>
              <a:rPr lang="es-ES" dirty="0">
                <a:effectLst/>
                <a:ea typeface="Times New Roman" panose="02020603050405020304" pitchFamily="18" charset="0"/>
                <a:cs typeface="Arial" panose="020B0604020202020204" pitchFamily="34" charset="0"/>
              </a:rPr>
              <a:t>Permiten la identificación de la aeronave durante vuelos nocturnos o en zonas con escasa iluminación.</a:t>
            </a:r>
          </a:p>
          <a:p>
            <a:pPr marL="342900" indent="-342900" algn="just">
              <a:lnSpc>
                <a:spcPct val="107000"/>
              </a:lnSpc>
              <a:spcAft>
                <a:spcPts val="800"/>
              </a:spcAft>
              <a:buFont typeface="Arial" panose="020B0604020202020204" pitchFamily="34" charset="0"/>
              <a:buChar char="•"/>
            </a:pPr>
            <a:endParaRPr lang="es-ES" dirty="0">
              <a:effectLst/>
              <a:ea typeface="Times New Roman" panose="02020603050405020304" pitchFamily="18" charset="0"/>
              <a:cs typeface="Arial" panose="020B0604020202020204" pitchFamily="34" charset="0"/>
            </a:endParaRPr>
          </a:p>
          <a:p>
            <a:pPr marL="285750" indent="-285750" algn="just">
              <a:buFont typeface="Arial" panose="020B0604020202020204" pitchFamily="34" charset="0"/>
              <a:buChar char="•"/>
            </a:pPr>
            <a:r>
              <a:rPr lang="es-ES" b="1" dirty="0"/>
              <a:t>El sistema de detección por infrarrojos </a:t>
            </a:r>
            <a:r>
              <a:rPr lang="es-ES" dirty="0"/>
              <a:t>solo sirve para sortear obstáculos grandes, difusos y reflectantes (cuya reflectividad sea &gt;10 %). </a:t>
            </a:r>
          </a:p>
          <a:p>
            <a:pPr marL="800100" lvl="1" indent="-342900" algn="just">
              <a:buFont typeface="Courier New" panose="02070309020205020404" pitchFamily="49" charset="0"/>
              <a:buChar char="o"/>
            </a:pPr>
            <a:r>
              <a:rPr lang="es-ES" dirty="0"/>
              <a:t>El sistema de detección por infrarrojos inferior sirve para el posicionamiento y para la asistencia en la configuración de la altitud durante el despegue y el aterrizaje.</a:t>
            </a:r>
          </a:p>
          <a:p>
            <a:pPr marL="800100" lvl="1" indent="-342900" algn="just">
              <a:buFont typeface="Courier New" panose="02070309020205020404" pitchFamily="49" charset="0"/>
              <a:buChar char="o"/>
            </a:pPr>
            <a:r>
              <a:rPr lang="es-ES" dirty="0"/>
              <a:t>El sistema de detección por infrarrojos de los otros cinco lados se ocupa de la detección de obstáculos.</a:t>
            </a:r>
          </a:p>
          <a:p>
            <a:pPr marL="800100" lvl="1" indent="-342900" algn="just">
              <a:buFont typeface="Courier New" panose="02070309020205020404" pitchFamily="49" charset="0"/>
              <a:buChar char="o"/>
            </a:pPr>
            <a:endParaRPr lang="es-ES" dirty="0"/>
          </a:p>
          <a:p>
            <a:pPr marL="285750" indent="-285750" algn="just">
              <a:buFont typeface="Arial" panose="020B0604020202020204" pitchFamily="34" charset="0"/>
              <a:buChar char="•"/>
            </a:pPr>
            <a:r>
              <a:rPr lang="es-ES" b="1" dirty="0">
                <a:effectLst/>
                <a:ea typeface="Times New Roman" panose="02020603050405020304" pitchFamily="18" charset="0"/>
                <a:cs typeface="Times New Roman" panose="02020603050405020304" pitchFamily="18" charset="0"/>
              </a:rPr>
              <a:t>Sistema de Posicionamiento Global (GPS) y Real Time </a:t>
            </a:r>
            <a:r>
              <a:rPr lang="es-ES" b="1" dirty="0" err="1">
                <a:effectLst/>
                <a:ea typeface="Times New Roman" panose="02020603050405020304" pitchFamily="18" charset="0"/>
                <a:cs typeface="Times New Roman" panose="02020603050405020304" pitchFamily="18" charset="0"/>
              </a:rPr>
              <a:t>Kinematic</a:t>
            </a:r>
            <a:r>
              <a:rPr lang="es-ES" b="1" dirty="0">
                <a:effectLst/>
                <a:ea typeface="Times New Roman" panose="02020603050405020304" pitchFamily="18" charset="0"/>
                <a:cs typeface="Times New Roman" panose="02020603050405020304" pitchFamily="18" charset="0"/>
              </a:rPr>
              <a:t> (RTK): </a:t>
            </a:r>
            <a:r>
              <a:rPr lang="es-ES" dirty="0">
                <a:effectLst/>
                <a:ea typeface="Times New Roman" panose="02020603050405020304" pitchFamily="18" charset="0"/>
                <a:cs typeface="Times New Roman" panose="02020603050405020304" pitchFamily="18" charset="0"/>
              </a:rPr>
              <a:t>Estos sistemas proporcionan información precisa sobre la ubicación y la posición del dron. El RTK mejora la precisión del posicionamiento al utilizar estaciones terrestres para corregir las señales GPS.</a:t>
            </a:r>
          </a:p>
          <a:p>
            <a:pPr marL="742950" lvl="1" indent="-285750" algn="just">
              <a:buFont typeface="Courier New" panose="02070309020205020404" pitchFamily="49" charset="0"/>
              <a:buChar char="o"/>
            </a:pPr>
            <a:r>
              <a:rPr lang="es-ES" b="1" dirty="0"/>
              <a:t>RTK </a:t>
            </a:r>
            <a:r>
              <a:rPr lang="es-ES" dirty="0"/>
              <a:t>permite soportar interferencias magnéticas provenientes de estructuras metálicas, lo cual garantiza la estabilidad del vuelo. Es posible obtener datos de posicionamiento más precisos aún, utilizando la estación móvil GNSS de alta precisión D-RTK 2 de DJI.</a:t>
            </a:r>
          </a:p>
          <a:p>
            <a:pPr marL="342900" indent="-342900" algn="just">
              <a:lnSpc>
                <a:spcPct val="107000"/>
              </a:lnSpc>
              <a:spcAft>
                <a:spcPts val="800"/>
              </a:spcAft>
              <a:buFont typeface="Arial" panose="020B0604020202020204" pitchFamily="34" charset="0"/>
              <a:buChar char="•"/>
            </a:pPr>
            <a:endParaRPr lang="es-ES" sz="1600" dirty="0">
              <a:effectLst/>
              <a:ea typeface="Times New Roman" panose="02020603050405020304" pitchFamily="18" charset="0"/>
              <a:cs typeface="Arial" panose="020B0604020202020204" pitchFamily="34" charset="0"/>
            </a:endParaRPr>
          </a:p>
        </p:txBody>
      </p:sp>
      <p:sp>
        <p:nvSpPr>
          <p:cNvPr id="5" name="Rectángulo 4">
            <a:extLst>
              <a:ext uri="{FF2B5EF4-FFF2-40B4-BE49-F238E27FC236}">
                <a16:creationId xmlns:a16="http://schemas.microsoft.com/office/drawing/2014/main" id="{ABC059F9-59AB-4BB5-AE6E-7E4B9EFF8C74}"/>
              </a:ext>
            </a:extLst>
          </p:cNvPr>
          <p:cNvSpPr/>
          <p:nvPr/>
        </p:nvSpPr>
        <p:spPr>
          <a:xfrm>
            <a:off x="4806980" y="45976"/>
            <a:ext cx="1571264" cy="461665"/>
          </a:xfrm>
          <a:prstGeom prst="rect">
            <a:avLst/>
          </a:prstGeom>
          <a:noFill/>
        </p:spPr>
        <p:txBody>
          <a:bodyPr wrap="none" lIns="91440" tIns="45720" rIns="91440" bIns="45720">
            <a:spAutoFit/>
          </a:bodyPr>
          <a:lstStyle/>
          <a:p>
            <a:pPr algn="ctr"/>
            <a:r>
              <a:rPr lang="es-ES" sz="2400" b="1" u="sng" cap="none" spc="0" dirty="0">
                <a:ln w="0"/>
                <a:solidFill>
                  <a:schemeClr val="tx1"/>
                </a:solidFill>
                <a:effectLst>
                  <a:outerShdw blurRad="38100" dist="19050" dir="2700000" algn="tl" rotWithShape="0">
                    <a:schemeClr val="dk1">
                      <a:alpha val="40000"/>
                    </a:schemeClr>
                  </a:outerShdw>
                </a:effectLst>
              </a:rPr>
              <a:t>Sensores</a:t>
            </a:r>
          </a:p>
        </p:txBody>
      </p:sp>
    </p:spTree>
    <p:extLst>
      <p:ext uri="{BB962C8B-B14F-4D97-AF65-F5344CB8AC3E}">
        <p14:creationId xmlns:p14="http://schemas.microsoft.com/office/powerpoint/2010/main" val="26514056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07556A1E-8845-47B3-B825-BECAD586E1D1}"/>
              </a:ext>
            </a:extLst>
          </p:cNvPr>
          <p:cNvSpPr txBox="1"/>
          <p:nvPr/>
        </p:nvSpPr>
        <p:spPr>
          <a:xfrm>
            <a:off x="970280" y="581303"/>
            <a:ext cx="10251440" cy="5970865"/>
          </a:xfrm>
          <a:prstGeom prst="rect">
            <a:avLst/>
          </a:prstGeom>
          <a:noFill/>
        </p:spPr>
        <p:txBody>
          <a:bodyPr wrap="square">
            <a:spAutoFit/>
          </a:bodyPr>
          <a:lstStyle/>
          <a:p>
            <a:pPr algn="just"/>
            <a:r>
              <a:rPr lang="es-ES" b="1" dirty="0"/>
              <a:t>R</a:t>
            </a:r>
            <a:r>
              <a:rPr lang="es-ES" b="1" i="0" dirty="0">
                <a:effectLst/>
              </a:rPr>
              <a:t>eceptor ADS-B (</a:t>
            </a:r>
            <a:r>
              <a:rPr lang="es-ES" b="0" i="1" dirty="0" err="1">
                <a:effectLst/>
                <a:latin typeface="Söhne"/>
              </a:rPr>
              <a:t>Automatic</a:t>
            </a:r>
            <a:r>
              <a:rPr lang="es-ES" b="0" i="1" dirty="0">
                <a:effectLst/>
                <a:latin typeface="Söhne"/>
              </a:rPr>
              <a:t> </a:t>
            </a:r>
            <a:r>
              <a:rPr lang="es-ES" b="0" i="1" dirty="0" err="1">
                <a:effectLst/>
                <a:latin typeface="Söhne"/>
              </a:rPr>
              <a:t>Dependent</a:t>
            </a:r>
            <a:r>
              <a:rPr lang="es-ES" b="0" i="1" dirty="0">
                <a:effectLst/>
                <a:latin typeface="Söhne"/>
              </a:rPr>
              <a:t> </a:t>
            </a:r>
            <a:r>
              <a:rPr lang="es-ES" b="0" i="1" dirty="0" err="1">
                <a:effectLst/>
                <a:latin typeface="Söhne"/>
              </a:rPr>
              <a:t>Surveillance</a:t>
            </a:r>
            <a:r>
              <a:rPr lang="es-ES" b="0" i="1" dirty="0">
                <a:effectLst/>
                <a:latin typeface="Söhne"/>
              </a:rPr>
              <a:t>-Broadcast</a:t>
            </a:r>
            <a:r>
              <a:rPr lang="es-ES" b="1" i="0" dirty="0">
                <a:effectLst/>
              </a:rPr>
              <a:t>): </a:t>
            </a:r>
            <a:r>
              <a:rPr lang="es-ES" b="0" i="0" dirty="0">
                <a:effectLst/>
              </a:rPr>
              <a:t>Permite captar las señales emitidas por aeronaves cercanas que estén equipadas con transpondedores ADS-B. </a:t>
            </a:r>
            <a:r>
              <a:rPr lang="es-ES" dirty="0"/>
              <a:t>Además,  calcula el riesgo de colisión a tiempo real y envía una advertencia al usuario.</a:t>
            </a:r>
            <a:r>
              <a:rPr lang="es-ES" b="0" i="0" dirty="0">
                <a:effectLst/>
              </a:rPr>
              <a:t> Cuando el sistema detecta una aeronave cercana a través de las señales ADS-B, emite alertas visuales y auditivas al operador del Matrice 300 RTK. Estas alertas ayudan a los operadores a estar al tanto de la presencia de otras aeronaves en la proximidad del dron.</a:t>
            </a:r>
          </a:p>
          <a:p>
            <a:pPr algn="just"/>
            <a:endParaRPr lang="es-ES" b="0" i="0" dirty="0">
              <a:effectLst/>
            </a:endParaRPr>
          </a:p>
          <a:p>
            <a:pPr algn="just"/>
            <a:r>
              <a:rPr lang="es-ES" b="1" dirty="0"/>
              <a:t>B</a:t>
            </a:r>
            <a:r>
              <a:rPr lang="es-ES" b="1" i="0" dirty="0">
                <a:effectLst/>
              </a:rPr>
              <a:t>arómetros</a:t>
            </a:r>
            <a:r>
              <a:rPr lang="es-ES" b="0" i="0" dirty="0">
                <a:effectLst/>
              </a:rPr>
              <a:t>: miden la presión atmosférica para proporcionar información sobre la altitud del dron.</a:t>
            </a:r>
          </a:p>
          <a:p>
            <a:pPr algn="just"/>
            <a:endParaRPr lang="es-ES" b="0" i="0" dirty="0">
              <a:effectLst/>
            </a:endParaRPr>
          </a:p>
          <a:p>
            <a:pPr algn="just"/>
            <a:r>
              <a:rPr lang="es-ES" sz="2000" b="1" i="0" dirty="0">
                <a:effectLst/>
                <a:latin typeface="Söhne"/>
              </a:rPr>
              <a:t>IMU duales (Unidades de Medición Inercial)</a:t>
            </a:r>
            <a:r>
              <a:rPr lang="es-ES" sz="2000" b="1" dirty="0">
                <a:latin typeface="Söhne"/>
              </a:rPr>
              <a:t>: </a:t>
            </a:r>
            <a:r>
              <a:rPr lang="es-ES" sz="2000" dirty="0">
                <a:latin typeface="Söhne"/>
              </a:rPr>
              <a:t>el Matrice 300 RTK está equipado con dos conjuntos independientes de IMU para proporcionar redundancia y mayor fiabilidad. Son sistemas que integran múltiples sensores, como giroscopios y acelerómetros, para medir y proporcionar información sobre la orientación y los cambios de velocidad lineal del dron.</a:t>
            </a:r>
          </a:p>
          <a:p>
            <a:pPr algn="just"/>
            <a:endParaRPr lang="es-ES" sz="2000" dirty="0">
              <a:latin typeface="Söhne"/>
            </a:endParaRPr>
          </a:p>
          <a:p>
            <a:pPr algn="just"/>
            <a:r>
              <a:rPr lang="es-ES" sz="2000" b="1" dirty="0">
                <a:latin typeface="Söhne"/>
              </a:rPr>
              <a:t>Cámaras y sistema de visión: </a:t>
            </a:r>
            <a:r>
              <a:rPr lang="es-ES" sz="2000" dirty="0">
                <a:latin typeface="Söhne"/>
              </a:rPr>
              <a:t>El sistema de visión utiliza datos de imágenes para ayudar a la aeronave a detectar obstáculos y a obtener información de la posición de esta de forma constante. Posibilita el vuelo estacionario en interiores y demás entornos.</a:t>
            </a:r>
          </a:p>
          <a:p>
            <a:pPr algn="just"/>
            <a:r>
              <a:rPr lang="es-ES" sz="2000" dirty="0">
                <a:latin typeface="Söhne"/>
              </a:rPr>
              <a:t>Los componentes principales del sistema de visión se encuentran en las partes frontal, trasera, izquierda, derecha, superior e inferior de la aeronave e incluyen sensores de visión estéreo (</a:t>
            </a:r>
            <a:r>
              <a:rPr lang="es-ES" sz="2000" b="0" i="0" dirty="0">
                <a:effectLst/>
                <a:latin typeface="Söhne"/>
              </a:rPr>
              <a:t>utiliza dos cámaras para proporcionar información tridimensional sobre el entorno</a:t>
            </a:r>
            <a:r>
              <a:rPr lang="es-ES" sz="2000" dirty="0">
                <a:latin typeface="Söhne"/>
              </a:rPr>
              <a:t>)</a:t>
            </a:r>
          </a:p>
        </p:txBody>
      </p:sp>
    </p:spTree>
    <p:extLst>
      <p:ext uri="{BB962C8B-B14F-4D97-AF65-F5344CB8AC3E}">
        <p14:creationId xmlns:p14="http://schemas.microsoft.com/office/powerpoint/2010/main" val="1924616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adroTexto 163">
            <a:extLst>
              <a:ext uri="{FF2B5EF4-FFF2-40B4-BE49-F238E27FC236}">
                <a16:creationId xmlns:a16="http://schemas.microsoft.com/office/drawing/2014/main" id="{AE10C5FE-02E4-41CE-8F31-80F732B54BD3}"/>
              </a:ext>
            </a:extLst>
          </p:cNvPr>
          <p:cNvSpPr txBox="1"/>
          <p:nvPr/>
        </p:nvSpPr>
        <p:spPr>
          <a:xfrm>
            <a:off x="1046480" y="1034256"/>
            <a:ext cx="10099040" cy="4062651"/>
          </a:xfrm>
          <a:prstGeom prst="rect">
            <a:avLst/>
          </a:prstGeom>
          <a:noFill/>
        </p:spPr>
        <p:txBody>
          <a:bodyPr wrap="square">
            <a:spAutoFit/>
          </a:bodyPr>
          <a:lstStyle/>
          <a:p>
            <a:pPr marL="342900" indent="-342900" algn="just">
              <a:buFont typeface="Arial" panose="020B0604020202020204" pitchFamily="34" charset="0"/>
              <a:buChar char="•"/>
            </a:pPr>
            <a:r>
              <a:rPr lang="es-ES" sz="2000" b="1" i="0" dirty="0">
                <a:effectLst/>
              </a:rPr>
              <a:t>Motores: </a:t>
            </a:r>
            <a:r>
              <a:rPr lang="es-ES" sz="2000" b="0" i="0" dirty="0">
                <a:effectLst/>
              </a:rPr>
              <a:t>El dron está equipado con múltiples motores eléctricos que impulsan las hélices. Estos motores son esenciales para proporcionar el empuje necesario para el vuelo y para mantener la estabilidad durante diversas condiciones.</a:t>
            </a:r>
          </a:p>
          <a:p>
            <a:pPr algn="just">
              <a:buFont typeface="Arial" panose="020B0604020202020204" pitchFamily="34" charset="0"/>
              <a:buChar char="•"/>
            </a:pPr>
            <a:endParaRPr lang="es-ES" sz="2000" b="0" i="0" dirty="0">
              <a:effectLst/>
            </a:endParaRPr>
          </a:p>
          <a:p>
            <a:pPr marL="342900" indent="-342900" algn="just">
              <a:buFont typeface="Arial" panose="020B0604020202020204" pitchFamily="34" charset="0"/>
              <a:buChar char="•"/>
            </a:pPr>
            <a:r>
              <a:rPr lang="es-ES" sz="2000" b="1" i="0" dirty="0">
                <a:effectLst/>
              </a:rPr>
              <a:t>Hélices: </a:t>
            </a:r>
            <a:r>
              <a:rPr lang="es-ES" sz="2000" b="0" i="0" dirty="0">
                <a:effectLst/>
              </a:rPr>
              <a:t>Las hélices, están conectadas a los motores y generan la fuerza necesaria para elevar el dron en el aire. El control independiente de las velocidades de las hélices permite al Matrice 300 RTK cambiar de dirección y altitud.</a:t>
            </a:r>
          </a:p>
          <a:p>
            <a:pPr algn="just">
              <a:buFont typeface="Arial" panose="020B0604020202020204" pitchFamily="34" charset="0"/>
              <a:buChar char="•"/>
            </a:pPr>
            <a:endParaRPr lang="es-ES" sz="2000" b="0" i="0" dirty="0">
              <a:effectLst/>
            </a:endParaRPr>
          </a:p>
          <a:p>
            <a:pPr marL="342900" indent="-342900" algn="just">
              <a:buFont typeface="Arial" panose="020B0604020202020204" pitchFamily="34" charset="0"/>
              <a:buChar char="•"/>
            </a:pPr>
            <a:r>
              <a:rPr lang="es-ES" sz="2000" b="1" i="0" dirty="0">
                <a:effectLst/>
              </a:rPr>
              <a:t>Sistema de Estabilización </a:t>
            </a:r>
            <a:r>
              <a:rPr lang="es-ES" sz="2000" b="1" i="0" dirty="0" err="1">
                <a:effectLst/>
              </a:rPr>
              <a:t>Gimbal</a:t>
            </a:r>
            <a:r>
              <a:rPr lang="es-ES" sz="2000" b="1" i="0" dirty="0">
                <a:effectLst/>
              </a:rPr>
              <a:t>: </a:t>
            </a:r>
            <a:r>
              <a:rPr lang="es-ES" sz="2000" b="0" i="0" dirty="0">
                <a:effectLst/>
              </a:rPr>
              <a:t>El Matrice 300 RTK utiliza cámaras </a:t>
            </a:r>
            <a:r>
              <a:rPr lang="es-ES" sz="2000" b="0" i="0" dirty="0" err="1">
                <a:effectLst/>
              </a:rPr>
              <a:t>gimbales</a:t>
            </a:r>
            <a:r>
              <a:rPr lang="es-ES" sz="2000" b="0" i="0" dirty="0">
                <a:effectLst/>
              </a:rPr>
              <a:t> para capturar imágenes y videos estables durante el vuelo. Los actuadores en el </a:t>
            </a:r>
            <a:r>
              <a:rPr lang="es-ES" sz="2000" b="0" i="0" dirty="0" err="1">
                <a:effectLst/>
              </a:rPr>
              <a:t>gimbal</a:t>
            </a:r>
            <a:r>
              <a:rPr lang="es-ES" sz="2000" b="0" i="0" dirty="0">
                <a:effectLst/>
              </a:rPr>
              <a:t> ajustan continuamente la posición de la cámara para contrarrestar </a:t>
            </a:r>
            <a:r>
              <a:rPr lang="es-ES" sz="2000" dirty="0"/>
              <a:t>cualquier movimiento del dron, proporcionando imágenes suaves y estables.</a:t>
            </a:r>
          </a:p>
          <a:p>
            <a:pPr algn="just">
              <a:buFont typeface="Arial" panose="020B0604020202020204" pitchFamily="34" charset="0"/>
              <a:buChar char="•"/>
            </a:pPr>
            <a:endParaRPr lang="es-ES" b="0" i="0" dirty="0">
              <a:solidFill>
                <a:srgbClr val="D1D5DB"/>
              </a:solidFill>
              <a:effectLst/>
              <a:latin typeface="Söhne"/>
            </a:endParaRPr>
          </a:p>
        </p:txBody>
      </p:sp>
      <p:sp>
        <p:nvSpPr>
          <p:cNvPr id="165" name="Rectángulo 164">
            <a:extLst>
              <a:ext uri="{FF2B5EF4-FFF2-40B4-BE49-F238E27FC236}">
                <a16:creationId xmlns:a16="http://schemas.microsoft.com/office/drawing/2014/main" id="{0FE37C58-F2A0-4400-BF70-4FB1A0748FE5}"/>
              </a:ext>
            </a:extLst>
          </p:cNvPr>
          <p:cNvSpPr/>
          <p:nvPr/>
        </p:nvSpPr>
        <p:spPr>
          <a:xfrm>
            <a:off x="4632773" y="167896"/>
            <a:ext cx="1879041" cy="461665"/>
          </a:xfrm>
          <a:prstGeom prst="rect">
            <a:avLst/>
          </a:prstGeom>
          <a:noFill/>
        </p:spPr>
        <p:txBody>
          <a:bodyPr wrap="none" lIns="91440" tIns="45720" rIns="91440" bIns="45720">
            <a:spAutoFit/>
          </a:bodyPr>
          <a:lstStyle/>
          <a:p>
            <a:pPr algn="ctr"/>
            <a:r>
              <a:rPr lang="es-ES" sz="2400" b="1" u="sng" cap="none" spc="0" dirty="0">
                <a:ln w="0"/>
                <a:solidFill>
                  <a:schemeClr val="tx1"/>
                </a:solidFill>
                <a:effectLst>
                  <a:outerShdw blurRad="38100" dist="19050" dir="2700000" algn="tl" rotWithShape="0">
                    <a:schemeClr val="dk1">
                      <a:alpha val="40000"/>
                    </a:schemeClr>
                  </a:outerShdw>
                </a:effectLst>
              </a:rPr>
              <a:t>Actuadores</a:t>
            </a:r>
          </a:p>
        </p:txBody>
      </p:sp>
    </p:spTree>
    <p:extLst>
      <p:ext uri="{BB962C8B-B14F-4D97-AF65-F5344CB8AC3E}">
        <p14:creationId xmlns:p14="http://schemas.microsoft.com/office/powerpoint/2010/main" val="22725367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D2E435D9-F46B-4C50-A612-0766CE0DF881}"/>
              </a:ext>
            </a:extLst>
          </p:cNvPr>
          <p:cNvSpPr txBox="1"/>
          <p:nvPr/>
        </p:nvSpPr>
        <p:spPr>
          <a:xfrm>
            <a:off x="1056640" y="328414"/>
            <a:ext cx="10190480" cy="830997"/>
          </a:xfrm>
          <a:prstGeom prst="rect">
            <a:avLst/>
          </a:prstGeom>
          <a:noFill/>
        </p:spPr>
        <p:txBody>
          <a:bodyPr wrap="square">
            <a:spAutoFit/>
          </a:bodyPr>
          <a:lstStyle/>
          <a:p>
            <a:pPr algn="ctr"/>
            <a:r>
              <a:rPr lang="es-ES" sz="2400" b="1" u="sng" dirty="0"/>
              <a:t>Funcionalidades  y capacidades inteligentes asociadas al DJI Matrice 300 RKT (I)</a:t>
            </a:r>
          </a:p>
        </p:txBody>
      </p:sp>
      <p:sp>
        <p:nvSpPr>
          <p:cNvPr id="5" name="CuadroTexto 4">
            <a:extLst>
              <a:ext uri="{FF2B5EF4-FFF2-40B4-BE49-F238E27FC236}">
                <a16:creationId xmlns:a16="http://schemas.microsoft.com/office/drawing/2014/main" id="{AE5BF242-18BF-428D-8238-AE482F6A4268}"/>
              </a:ext>
            </a:extLst>
          </p:cNvPr>
          <p:cNvSpPr txBox="1"/>
          <p:nvPr/>
        </p:nvSpPr>
        <p:spPr>
          <a:xfrm>
            <a:off x="980440" y="1679694"/>
            <a:ext cx="10342880" cy="5293757"/>
          </a:xfrm>
          <a:prstGeom prst="rect">
            <a:avLst/>
          </a:prstGeom>
          <a:noFill/>
        </p:spPr>
        <p:txBody>
          <a:bodyPr wrap="square">
            <a:spAutoFit/>
          </a:bodyPr>
          <a:lstStyle/>
          <a:p>
            <a:pPr marL="285750" indent="-285750" algn="just">
              <a:buFont typeface="Arial" panose="020B0604020202020204" pitchFamily="34" charset="0"/>
              <a:buChar char="•"/>
            </a:pPr>
            <a:r>
              <a:rPr lang="es-ES" sz="2000" b="1" dirty="0"/>
              <a:t>Controlador de vuelo</a:t>
            </a:r>
            <a:r>
              <a:rPr lang="es-ES" sz="2000" dirty="0"/>
              <a:t>: a partir de la información de los sensores, ajusta continuamente la velocidad de los motores del dron para mantenerlo estable y responder a las entradas del piloto o a comandos automáticos. Ofrece cuatro modos de vuelo: como Posicionamiento (P), Sport (s), Trípode (T) y </a:t>
            </a:r>
            <a:r>
              <a:rPr lang="es-ES" sz="2000" dirty="0" err="1"/>
              <a:t>Altitude</a:t>
            </a:r>
            <a:r>
              <a:rPr lang="es-ES" sz="2000" dirty="0"/>
              <a:t> (A).</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Las </a:t>
            </a:r>
            <a:r>
              <a:rPr lang="es-ES" sz="2000" b="1" dirty="0"/>
              <a:t>luces auxiliares</a:t>
            </a:r>
            <a:r>
              <a:rPr lang="es-ES" sz="2000" dirty="0"/>
              <a:t> permiten que el sistema de posicionamiento visual logre un mejor rendimiento por la noche o en condiciones de poca iluminación, y mejoran el despegue, el aterrizaje y la seguridad de vuelo de la aeronave.</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El </a:t>
            </a:r>
            <a:r>
              <a:rPr lang="es-ES" sz="2000" b="1" dirty="0"/>
              <a:t>sistema de estabilizador y cámara </a:t>
            </a:r>
            <a:r>
              <a:rPr lang="es-ES" sz="2000" dirty="0"/>
              <a:t>de la serie H20 posibilita la compatibilidad de la Matrice 300 RTK con la focalización por inteligencia artificial para tomar fotografías en vuelos de demostración y permite guardar información como misión de vuelo y tomar fotografías en la misma posición cuando se completa cada misión de vuelo.</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La </a:t>
            </a:r>
            <a:r>
              <a:rPr lang="es-ES" sz="2000" b="1" dirty="0"/>
              <a:t>función Marca </a:t>
            </a:r>
            <a:r>
              <a:rPr lang="es-ES" sz="2000" dirty="0"/>
              <a:t>permite a los usuarios marcar objetivos fijos y compartir la ubicación en tiempo real.</a:t>
            </a:r>
          </a:p>
          <a:p>
            <a:pPr marL="285750" indent="-285750" algn="just">
              <a:buFont typeface="Arial" panose="020B0604020202020204" pitchFamily="34" charset="0"/>
              <a:buChar char="•"/>
            </a:pPr>
            <a:endParaRPr lang="es-ES" sz="2000" dirty="0"/>
          </a:p>
        </p:txBody>
      </p:sp>
    </p:spTree>
    <p:extLst>
      <p:ext uri="{BB962C8B-B14F-4D97-AF65-F5344CB8AC3E}">
        <p14:creationId xmlns:p14="http://schemas.microsoft.com/office/powerpoint/2010/main" val="35542049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FAF8A15-36F5-4A85-A3E0-1A18C6B555CD}"/>
              </a:ext>
            </a:extLst>
          </p:cNvPr>
          <p:cNvSpPr txBox="1"/>
          <p:nvPr/>
        </p:nvSpPr>
        <p:spPr>
          <a:xfrm>
            <a:off x="894080" y="1365806"/>
            <a:ext cx="10403840" cy="5324535"/>
          </a:xfrm>
          <a:prstGeom prst="rect">
            <a:avLst/>
          </a:prstGeom>
          <a:noFill/>
        </p:spPr>
        <p:txBody>
          <a:bodyPr wrap="square">
            <a:spAutoFit/>
          </a:bodyPr>
          <a:lstStyle/>
          <a:p>
            <a:pPr marL="285750" indent="-285750" algn="just">
              <a:buFont typeface="Arial" panose="020B0604020202020204" pitchFamily="34" charset="0"/>
              <a:buChar char="•"/>
            </a:pPr>
            <a:r>
              <a:rPr lang="es-ES" sz="2000" dirty="0"/>
              <a:t>El Seguimiento inteligente sirve para identificar automáticamente objetivos y seguir a los que estén moviéndose. El objetivo queda centrado en la pantalla, se enfoca al tamaño adecuado, y su ubicación en tiempo real se comparte gracias al zoom automático</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El Controlador Inteligente proporciona vídeo HD en directo desde la cámara de la aeronave. Puede transmitir datos de imágenes a distancias de hasta 15 km (9.32 millas) e incluye varios controles de aeronave y estabilizador, así como algunos botones personalizables.</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La pantalla incorporada de alto brillo de 5.5 pulgadas y 1000 cd/m² tiene una resolución de 1920×1080 píxeles y cuenta con un sistema Android con múltiples funciones como Bluetooth y GNSS</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Además de admitir conectividad </a:t>
            </a:r>
            <a:r>
              <a:rPr lang="es-ES" sz="2000" dirty="0" err="1"/>
              <a:t>Wi</a:t>
            </a:r>
            <a:r>
              <a:rPr lang="es-ES" sz="2000" dirty="0"/>
              <a:t>-Fi, también es compatible con otros dispositivos móviles para un uso más flexible. </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Dispone de puerto HDMI para salida de imágenes y vídeo en HD. </a:t>
            </a:r>
          </a:p>
        </p:txBody>
      </p:sp>
      <p:sp>
        <p:nvSpPr>
          <p:cNvPr id="4" name="CuadroTexto 3">
            <a:extLst>
              <a:ext uri="{FF2B5EF4-FFF2-40B4-BE49-F238E27FC236}">
                <a16:creationId xmlns:a16="http://schemas.microsoft.com/office/drawing/2014/main" id="{FA62AC2C-0DD0-45A8-B524-6F63A2131D2B}"/>
              </a:ext>
            </a:extLst>
          </p:cNvPr>
          <p:cNvSpPr txBox="1"/>
          <p:nvPr/>
        </p:nvSpPr>
        <p:spPr>
          <a:xfrm>
            <a:off x="1107440" y="288280"/>
            <a:ext cx="10190480" cy="830997"/>
          </a:xfrm>
          <a:prstGeom prst="rect">
            <a:avLst/>
          </a:prstGeom>
          <a:noFill/>
        </p:spPr>
        <p:txBody>
          <a:bodyPr wrap="square">
            <a:spAutoFit/>
          </a:bodyPr>
          <a:lstStyle/>
          <a:p>
            <a:pPr algn="ctr"/>
            <a:r>
              <a:rPr lang="es-ES" sz="2400" b="1" u="sng" dirty="0"/>
              <a:t>Funcionalidades  y capacidades inteligentes asociadas al DJI Matrice 300 RKT (II)</a:t>
            </a:r>
          </a:p>
        </p:txBody>
      </p:sp>
    </p:spTree>
    <p:extLst>
      <p:ext uri="{BB962C8B-B14F-4D97-AF65-F5344CB8AC3E}">
        <p14:creationId xmlns:p14="http://schemas.microsoft.com/office/powerpoint/2010/main" val="18216298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106999DD-8286-484C-AE9C-FC230E43644C}"/>
              </a:ext>
            </a:extLst>
          </p:cNvPr>
          <p:cNvSpPr txBox="1"/>
          <p:nvPr/>
        </p:nvSpPr>
        <p:spPr>
          <a:xfrm>
            <a:off x="1000760" y="1235025"/>
            <a:ext cx="10190480" cy="5324535"/>
          </a:xfrm>
          <a:prstGeom prst="rect">
            <a:avLst/>
          </a:prstGeom>
          <a:noFill/>
        </p:spPr>
        <p:txBody>
          <a:bodyPr wrap="square">
            <a:spAutoFit/>
          </a:bodyPr>
          <a:lstStyle/>
          <a:p>
            <a:pPr marL="285750" indent="-285750" algn="just">
              <a:buFont typeface="Arial" panose="020B0604020202020204" pitchFamily="34" charset="0"/>
              <a:buChar char="•"/>
            </a:pPr>
            <a:r>
              <a:rPr lang="es-ES" sz="2000" dirty="0"/>
              <a:t>El sistema de transmisión admite 2.4 GHz y 5.8 GHz para garantizar un mayor grado de fiabilidad en la conexión en entornos tendentes a las interferencias de señales. </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Mediante la encriptación AES-256, la transmisión de sus datos se realiza en condiciones seguras de modo que nadie pueda acceder a su información esencial.</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El sistema avanzado de gestión de energía y las baterías duales garantizan el suministro eléctrico y mejoran la seguridad del vuelo. </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La unidad de cámara es independiente del procesador de imágenes de modo que tenga la flexibilidad para escoger el sistema de cámara y estabilizador más adecuado para cada una de sus aplicaciones. Esto quiere decir que la potencia de procesamiento será la misma a pesar de sus preferencias de cámara.</a:t>
            </a:r>
          </a:p>
          <a:p>
            <a:pPr marL="285750" indent="-285750" algn="just">
              <a:buFont typeface="Arial" panose="020B0604020202020204" pitchFamily="34" charset="0"/>
              <a:buChar char="•"/>
            </a:pPr>
            <a:endParaRPr lang="es-ES" sz="2000" dirty="0"/>
          </a:p>
          <a:p>
            <a:pPr marL="285750" indent="-285750" algn="just">
              <a:buFont typeface="Arial" panose="020B0604020202020204" pitchFamily="34" charset="0"/>
              <a:buChar char="•"/>
            </a:pPr>
            <a:r>
              <a:rPr lang="es-ES" sz="2000" dirty="0"/>
              <a:t>Admite el modo de control dual avanzado, que permite que dos controles remotos se conecten a la misma aeronave. En este modo, dos controles remotos tienen la misma prioridad y carecen de roles preasignados.</a:t>
            </a:r>
          </a:p>
        </p:txBody>
      </p:sp>
      <p:sp>
        <p:nvSpPr>
          <p:cNvPr id="4" name="CuadroTexto 3">
            <a:extLst>
              <a:ext uri="{FF2B5EF4-FFF2-40B4-BE49-F238E27FC236}">
                <a16:creationId xmlns:a16="http://schemas.microsoft.com/office/drawing/2014/main" id="{8F156E8F-D76F-4F15-98E8-920415062774}"/>
              </a:ext>
            </a:extLst>
          </p:cNvPr>
          <p:cNvSpPr txBox="1"/>
          <p:nvPr/>
        </p:nvSpPr>
        <p:spPr>
          <a:xfrm>
            <a:off x="1076960" y="281097"/>
            <a:ext cx="10190480" cy="830997"/>
          </a:xfrm>
          <a:prstGeom prst="rect">
            <a:avLst/>
          </a:prstGeom>
          <a:noFill/>
        </p:spPr>
        <p:txBody>
          <a:bodyPr wrap="square">
            <a:spAutoFit/>
          </a:bodyPr>
          <a:lstStyle/>
          <a:p>
            <a:pPr algn="ctr"/>
            <a:r>
              <a:rPr lang="es-ES" sz="2400" b="1" u="sng" dirty="0"/>
              <a:t>Funcionalidades  y capacidades inteligentes asociadas al DJI Matrice 300 RKT (III)</a:t>
            </a:r>
          </a:p>
        </p:txBody>
      </p:sp>
    </p:spTree>
    <p:extLst>
      <p:ext uri="{BB962C8B-B14F-4D97-AF65-F5344CB8AC3E}">
        <p14:creationId xmlns:p14="http://schemas.microsoft.com/office/powerpoint/2010/main" val="1812320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uadroTexto 2">
            <a:extLst>
              <a:ext uri="{FF2B5EF4-FFF2-40B4-BE49-F238E27FC236}">
                <a16:creationId xmlns:a16="http://schemas.microsoft.com/office/drawing/2014/main" id="{60F2CD08-CA7B-4107-A5E4-2C8B9554C385}"/>
              </a:ext>
            </a:extLst>
          </p:cNvPr>
          <p:cNvSpPr txBox="1"/>
          <p:nvPr/>
        </p:nvSpPr>
        <p:spPr>
          <a:xfrm>
            <a:off x="1148080" y="1633319"/>
            <a:ext cx="10180320" cy="4093428"/>
          </a:xfrm>
          <a:prstGeom prst="rect">
            <a:avLst/>
          </a:prstGeom>
          <a:noFill/>
        </p:spPr>
        <p:txBody>
          <a:bodyPr wrap="square">
            <a:spAutoFit/>
          </a:bodyPr>
          <a:lstStyle/>
          <a:p>
            <a:pPr algn="just"/>
            <a:r>
              <a:rPr lang="es-ES" sz="2000" b="0" i="0" dirty="0">
                <a:effectLst/>
              </a:rPr>
              <a:t>El DJI Matrice 300 RTK, al ser un dron de alta gama utilizado en aplicaciones profesionales, está equipado con sistemas avanzados de navegación y posicionamiento. La </a:t>
            </a:r>
            <a:r>
              <a:rPr lang="es-ES" sz="2000" b="0" i="0" dirty="0" err="1">
                <a:effectLst/>
              </a:rPr>
              <a:t>odometría</a:t>
            </a:r>
            <a:r>
              <a:rPr lang="es-ES" sz="2000" b="0" i="0" dirty="0">
                <a:effectLst/>
              </a:rPr>
              <a:t>, que mide el desplazamiento del dron a través del seguimiento de la distancia recorrida, es fundamental para la navegación precisa. </a:t>
            </a:r>
          </a:p>
          <a:p>
            <a:pPr algn="just"/>
            <a:endParaRPr lang="es-ES" sz="2000" b="0" i="0" dirty="0">
              <a:effectLst/>
            </a:endParaRPr>
          </a:p>
          <a:p>
            <a:pPr marL="342900" indent="-342900" algn="just">
              <a:buFont typeface="Arial" panose="020B0604020202020204" pitchFamily="34" charset="0"/>
              <a:buChar char="•"/>
            </a:pPr>
            <a:r>
              <a:rPr lang="es-ES" sz="2000" b="1" i="0" dirty="0">
                <a:effectLst/>
              </a:rPr>
              <a:t>Sensores de Posicionamiento</a:t>
            </a:r>
          </a:p>
          <a:p>
            <a:pPr marL="342900" indent="-342900" algn="just">
              <a:buFont typeface="Arial" panose="020B0604020202020204" pitchFamily="34" charset="0"/>
              <a:buChar char="•"/>
            </a:pPr>
            <a:r>
              <a:rPr lang="es-ES" sz="2000" b="1" i="0" dirty="0">
                <a:effectLst/>
              </a:rPr>
              <a:t>Sensores de Altura</a:t>
            </a:r>
            <a:endParaRPr lang="es-ES" sz="2000" b="1" dirty="0"/>
          </a:p>
          <a:p>
            <a:pPr marL="342900" indent="-342900" algn="just">
              <a:buFont typeface="Arial" panose="020B0604020202020204" pitchFamily="34" charset="0"/>
              <a:buChar char="•"/>
            </a:pPr>
            <a:r>
              <a:rPr lang="es-ES" sz="2000" b="1" i="0" dirty="0">
                <a:effectLst/>
              </a:rPr>
              <a:t>Sistemas Inerciales</a:t>
            </a:r>
            <a:endParaRPr lang="es-ES" sz="2000" b="0" i="0" dirty="0">
              <a:effectLst/>
            </a:endParaRPr>
          </a:p>
          <a:p>
            <a:pPr marL="342900" indent="-342900" algn="just">
              <a:buFont typeface="Arial" panose="020B0604020202020204" pitchFamily="34" charset="0"/>
              <a:buChar char="•"/>
            </a:pPr>
            <a:r>
              <a:rPr lang="es-ES" sz="2000" b="1" i="0" dirty="0" err="1">
                <a:effectLst/>
              </a:rPr>
              <a:t>Odometría</a:t>
            </a:r>
            <a:r>
              <a:rPr lang="es-ES" sz="2000" b="1" i="0" dirty="0">
                <a:effectLst/>
              </a:rPr>
              <a:t> Visual</a:t>
            </a:r>
          </a:p>
          <a:p>
            <a:pPr marL="342900" indent="-342900" algn="just">
              <a:buFont typeface="Arial" panose="020B0604020202020204" pitchFamily="34" charset="0"/>
              <a:buChar char="•"/>
            </a:pPr>
            <a:endParaRPr lang="es-ES" sz="2000" b="1" dirty="0"/>
          </a:p>
          <a:p>
            <a:pPr algn="just"/>
            <a:r>
              <a:rPr lang="es-ES" sz="2000" b="0" i="0" dirty="0">
                <a:effectLst/>
              </a:rPr>
              <a:t>La </a:t>
            </a:r>
            <a:r>
              <a:rPr lang="es-ES" sz="2000" b="0" i="0" dirty="0" err="1">
                <a:effectLst/>
              </a:rPr>
              <a:t>odometría</a:t>
            </a:r>
            <a:r>
              <a:rPr lang="es-ES" sz="2000" b="0" i="0" dirty="0">
                <a:effectLst/>
              </a:rPr>
              <a:t> efectiva a menudo se logra mediante algoritmos de fusión de sensores que integran la información de múltiples fuentes. Esto ayuda a mitigar errores y mejorar la precisión de la estimación de la posición y orientación.</a:t>
            </a:r>
          </a:p>
        </p:txBody>
      </p:sp>
      <p:sp>
        <p:nvSpPr>
          <p:cNvPr id="4" name="CuadroTexto 3">
            <a:extLst>
              <a:ext uri="{FF2B5EF4-FFF2-40B4-BE49-F238E27FC236}">
                <a16:creationId xmlns:a16="http://schemas.microsoft.com/office/drawing/2014/main" id="{29624224-7B48-4FCE-AC4C-E80F71466520}"/>
              </a:ext>
            </a:extLst>
          </p:cNvPr>
          <p:cNvSpPr txBox="1"/>
          <p:nvPr/>
        </p:nvSpPr>
        <p:spPr>
          <a:xfrm>
            <a:off x="2905760" y="476548"/>
            <a:ext cx="5720080" cy="461665"/>
          </a:xfrm>
          <a:prstGeom prst="rect">
            <a:avLst/>
          </a:prstGeom>
          <a:noFill/>
        </p:spPr>
        <p:txBody>
          <a:bodyPr wrap="square" rtlCol="0">
            <a:spAutoFit/>
          </a:bodyPr>
          <a:lstStyle/>
          <a:p>
            <a:r>
              <a:rPr lang="es-ES" sz="2400" b="1" u="sng" dirty="0" err="1">
                <a:latin typeface="+mj-lt"/>
              </a:rPr>
              <a:t>Odometría</a:t>
            </a:r>
            <a:r>
              <a:rPr lang="es-ES" sz="2400" b="1" u="sng" dirty="0">
                <a:latin typeface="+mj-lt"/>
              </a:rPr>
              <a:t> del DJI Matrice 300 RKT </a:t>
            </a:r>
          </a:p>
        </p:txBody>
      </p:sp>
    </p:spTree>
    <p:extLst>
      <p:ext uri="{BB962C8B-B14F-4D97-AF65-F5344CB8AC3E}">
        <p14:creationId xmlns:p14="http://schemas.microsoft.com/office/powerpoint/2010/main" val="2453836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ángulo 3">
            <a:extLst>
              <a:ext uri="{FF2B5EF4-FFF2-40B4-BE49-F238E27FC236}">
                <a16:creationId xmlns:a16="http://schemas.microsoft.com/office/drawing/2014/main" id="{EC4668B8-6609-442A-BD64-129051CDA9D2}"/>
              </a:ext>
            </a:extLst>
          </p:cNvPr>
          <p:cNvSpPr/>
          <p:nvPr/>
        </p:nvSpPr>
        <p:spPr>
          <a:xfrm>
            <a:off x="1835325" y="553411"/>
            <a:ext cx="6032678" cy="1754326"/>
          </a:xfrm>
          <a:prstGeom prst="rect">
            <a:avLst/>
          </a:prstGeom>
          <a:noFill/>
        </p:spPr>
        <p:txBody>
          <a:bodyPr wrap="none" lIns="91440" tIns="45720" rIns="91440" bIns="45720">
            <a:spAutoFit/>
          </a:bodyPr>
          <a:lstStyle/>
          <a:p>
            <a:pPr algn="ctr"/>
            <a:r>
              <a:rPr lang="es-ES" sz="5400" b="0" cap="none" spc="0" dirty="0">
                <a:ln w="0"/>
                <a:solidFill>
                  <a:schemeClr val="tx1"/>
                </a:solidFill>
                <a:effectLst>
                  <a:outerShdw blurRad="38100" dist="19050" dir="2700000" algn="tl" rotWithShape="0">
                    <a:schemeClr val="dk1">
                      <a:alpha val="40000"/>
                    </a:schemeClr>
                  </a:outerShdw>
                </a:effectLst>
              </a:rPr>
              <a:t>Trabajo Final</a:t>
            </a:r>
          </a:p>
          <a:p>
            <a:pPr algn="ctr"/>
            <a:r>
              <a:rPr lang="es-ES" sz="5400" dirty="0">
                <a:ln w="0"/>
                <a:effectLst>
                  <a:outerShdw blurRad="38100" dist="19050" dir="2700000" algn="tl" rotWithShape="0">
                    <a:schemeClr val="dk1">
                      <a:alpha val="40000"/>
                    </a:schemeClr>
                  </a:outerShdw>
                </a:effectLst>
              </a:rPr>
              <a:t>Robots Autónomos</a:t>
            </a:r>
            <a:endParaRPr lang="es-ES" sz="5400" b="0" cap="none" spc="0" dirty="0">
              <a:ln w="0"/>
              <a:solidFill>
                <a:schemeClr val="tx1"/>
              </a:solidFill>
              <a:effectLst>
                <a:outerShdw blurRad="38100" dist="19050" dir="2700000" algn="tl" rotWithShape="0">
                  <a:schemeClr val="dk1">
                    <a:alpha val="40000"/>
                  </a:schemeClr>
                </a:outerShdw>
              </a:effectLst>
            </a:endParaRPr>
          </a:p>
        </p:txBody>
      </p:sp>
      <p:sp>
        <p:nvSpPr>
          <p:cNvPr id="5" name="Rectángulo 4">
            <a:extLst>
              <a:ext uri="{FF2B5EF4-FFF2-40B4-BE49-F238E27FC236}">
                <a16:creationId xmlns:a16="http://schemas.microsoft.com/office/drawing/2014/main" id="{85C4DE20-38CD-4B11-8090-E28710751D46}"/>
              </a:ext>
            </a:extLst>
          </p:cNvPr>
          <p:cNvSpPr/>
          <p:nvPr/>
        </p:nvSpPr>
        <p:spPr>
          <a:xfrm>
            <a:off x="2591479" y="3217748"/>
            <a:ext cx="6032678" cy="1569660"/>
          </a:xfrm>
          <a:prstGeom prst="rect">
            <a:avLst/>
          </a:prstGeom>
          <a:noFill/>
        </p:spPr>
        <p:txBody>
          <a:bodyPr wrap="square" lIns="91440" tIns="45720" rIns="91440" bIns="45720">
            <a:spAutoFit/>
          </a:bodyPr>
          <a:lstStyle/>
          <a:p>
            <a:r>
              <a:rPr lang="es-ES" sz="3200" dirty="0">
                <a:ln w="0"/>
                <a:solidFill>
                  <a:schemeClr val="accent2">
                    <a:lumMod val="60000"/>
                    <a:lumOff val="40000"/>
                  </a:schemeClr>
                </a:solidFill>
                <a:effectLst>
                  <a:outerShdw blurRad="38100" dist="19050" dir="2700000" algn="tl" rotWithShape="0">
                    <a:schemeClr val="dk1">
                      <a:alpha val="40000"/>
                    </a:schemeClr>
                  </a:outerShdw>
                </a:effectLst>
              </a:rPr>
              <a:t>Robots aéreos vs robots submarinos</a:t>
            </a:r>
          </a:p>
          <a:p>
            <a:r>
              <a:rPr lang="es-ES" sz="3200" dirty="0">
                <a:ln w="0"/>
                <a:solidFill>
                  <a:schemeClr val="accent2">
                    <a:lumMod val="60000"/>
                    <a:lumOff val="40000"/>
                  </a:schemeClr>
                </a:solidFill>
                <a:effectLst>
                  <a:outerShdw blurRad="38100" dist="19050" dir="2700000" algn="tl" rotWithShape="0">
                    <a:schemeClr val="dk1">
                      <a:alpha val="40000"/>
                    </a:schemeClr>
                  </a:outerShdw>
                </a:effectLst>
              </a:rPr>
              <a:t>DJI Matrice RKT 300 </a:t>
            </a:r>
          </a:p>
        </p:txBody>
      </p:sp>
      <p:sp>
        <p:nvSpPr>
          <p:cNvPr id="6" name="Rectángulo 5">
            <a:extLst>
              <a:ext uri="{FF2B5EF4-FFF2-40B4-BE49-F238E27FC236}">
                <a16:creationId xmlns:a16="http://schemas.microsoft.com/office/drawing/2014/main" id="{A67E450C-B423-4C53-B45B-0480FA6F4ABE}"/>
              </a:ext>
            </a:extLst>
          </p:cNvPr>
          <p:cNvSpPr/>
          <p:nvPr/>
        </p:nvSpPr>
        <p:spPr>
          <a:xfrm>
            <a:off x="2834927" y="5880158"/>
            <a:ext cx="3352200" cy="646331"/>
          </a:xfrm>
          <a:prstGeom prst="rect">
            <a:avLst/>
          </a:prstGeom>
          <a:noFill/>
        </p:spPr>
        <p:txBody>
          <a:bodyPr wrap="none" lIns="91440" tIns="45720" rIns="91440" bIns="45720">
            <a:spAutoFit/>
          </a:bodyPr>
          <a:lstStyle/>
          <a:p>
            <a:r>
              <a:rPr lang="es-ES" b="1" cap="none" spc="50" dirty="0">
                <a:ln w="0"/>
                <a:solidFill>
                  <a:schemeClr val="accent1">
                    <a:lumMod val="60000"/>
                    <a:lumOff val="40000"/>
                  </a:schemeClr>
                </a:solidFill>
                <a:effectLst>
                  <a:innerShdw blurRad="63500" dist="50800" dir="13500000">
                    <a:srgbClr val="000000">
                      <a:alpha val="50000"/>
                    </a:srgbClr>
                  </a:innerShdw>
                </a:effectLst>
              </a:rPr>
              <a:t>Arlet Acosta González</a:t>
            </a:r>
          </a:p>
          <a:p>
            <a:r>
              <a:rPr lang="es-ES" b="1" spc="50" dirty="0">
                <a:ln w="0"/>
                <a:solidFill>
                  <a:schemeClr val="accent1">
                    <a:lumMod val="60000"/>
                    <a:lumOff val="40000"/>
                  </a:schemeClr>
                </a:solidFill>
                <a:effectLst>
                  <a:innerShdw blurRad="63500" dist="50800" dir="13500000">
                    <a:srgbClr val="000000">
                      <a:alpha val="50000"/>
                    </a:srgbClr>
                  </a:innerShdw>
                </a:effectLst>
              </a:rPr>
              <a:t>Liz Carolina Sánchez Rojas</a:t>
            </a:r>
            <a:endParaRPr lang="es-ES" b="1" cap="none" spc="50" dirty="0">
              <a:ln w="0"/>
              <a:solidFill>
                <a:schemeClr val="accent1">
                  <a:lumMod val="60000"/>
                  <a:lumOff val="40000"/>
                </a:schemeClr>
              </a:solidFill>
              <a:effectLst>
                <a:innerShdw blurRad="63500" dist="50800" dir="13500000">
                  <a:srgbClr val="000000">
                    <a:alpha val="50000"/>
                  </a:srgbClr>
                </a:innerShdw>
              </a:effectLst>
            </a:endParaRPr>
          </a:p>
        </p:txBody>
      </p:sp>
      <p:pic>
        <p:nvPicPr>
          <p:cNvPr id="8" name="Imagen 7">
            <a:extLst>
              <a:ext uri="{FF2B5EF4-FFF2-40B4-BE49-F238E27FC236}">
                <a16:creationId xmlns:a16="http://schemas.microsoft.com/office/drawing/2014/main" id="{CE812416-28ED-4BA0-929A-E4F43CD6CCA1}"/>
              </a:ext>
            </a:extLst>
          </p:cNvPr>
          <p:cNvPicPr>
            <a:picLocks noChangeAspect="1"/>
          </p:cNvPicPr>
          <p:nvPr/>
        </p:nvPicPr>
        <p:blipFill rotWithShape="1">
          <a:blip r:embed="rId2"/>
          <a:srcRect t="1" b="363"/>
          <a:stretch/>
        </p:blipFill>
        <p:spPr>
          <a:xfrm>
            <a:off x="8932834" y="527905"/>
            <a:ext cx="3259166" cy="2234152"/>
          </a:xfrm>
          <a:prstGeom prst="rect">
            <a:avLst/>
          </a:prstGeom>
        </p:spPr>
      </p:pic>
      <p:pic>
        <p:nvPicPr>
          <p:cNvPr id="10" name="Imagen 9">
            <a:extLst>
              <a:ext uri="{FF2B5EF4-FFF2-40B4-BE49-F238E27FC236}">
                <a16:creationId xmlns:a16="http://schemas.microsoft.com/office/drawing/2014/main" id="{9AF0FD79-9273-4BC7-B636-80BE91BB7001}"/>
              </a:ext>
            </a:extLst>
          </p:cNvPr>
          <p:cNvPicPr>
            <a:picLocks noChangeAspect="1"/>
          </p:cNvPicPr>
          <p:nvPr/>
        </p:nvPicPr>
        <p:blipFill rotWithShape="1">
          <a:blip r:embed="rId3"/>
          <a:srcRect r="11819"/>
          <a:stretch/>
        </p:blipFill>
        <p:spPr>
          <a:xfrm>
            <a:off x="8932834" y="3396859"/>
            <a:ext cx="3259166" cy="2263336"/>
          </a:xfrm>
          <a:prstGeom prst="rect">
            <a:avLst/>
          </a:prstGeom>
        </p:spPr>
      </p:pic>
      <p:pic>
        <p:nvPicPr>
          <p:cNvPr id="14" name="Imagen 13">
            <a:extLst>
              <a:ext uri="{FF2B5EF4-FFF2-40B4-BE49-F238E27FC236}">
                <a16:creationId xmlns:a16="http://schemas.microsoft.com/office/drawing/2014/main" id="{0A667228-2AE7-4CD3-BE46-072A66EE7539}"/>
              </a:ext>
            </a:extLst>
          </p:cNvPr>
          <p:cNvPicPr>
            <a:picLocks noChangeAspect="1"/>
          </p:cNvPicPr>
          <p:nvPr/>
        </p:nvPicPr>
        <p:blipFill>
          <a:blip r:embed="rId4"/>
          <a:stretch>
            <a:fillRect/>
          </a:stretch>
        </p:blipFill>
        <p:spPr>
          <a:xfrm>
            <a:off x="10331776" y="6343338"/>
            <a:ext cx="1860223" cy="514662"/>
          </a:xfrm>
          <a:prstGeom prst="rect">
            <a:avLst/>
          </a:prstGeom>
        </p:spPr>
      </p:pic>
    </p:spTree>
    <p:extLst>
      <p:ext uri="{BB962C8B-B14F-4D97-AF65-F5344CB8AC3E}">
        <p14:creationId xmlns:p14="http://schemas.microsoft.com/office/powerpoint/2010/main" val="3268392433"/>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adison">
  <a:themeElements>
    <a:clrScheme name="Madison">
      <a:dk1>
        <a:sysClr val="windowText" lastClr="000000"/>
      </a:dk1>
      <a:lt1>
        <a:sysClr val="window" lastClr="FFFFFF"/>
      </a:lt1>
      <a:dk2>
        <a:srgbClr val="1F282E"/>
      </a:dk2>
      <a:lt2>
        <a:srgbClr val="C2F5FC"/>
      </a:lt2>
      <a:accent1>
        <a:srgbClr val="4091F3"/>
      </a:accent1>
      <a:accent2>
        <a:srgbClr val="8BBCF1"/>
      </a:accent2>
      <a:accent3>
        <a:srgbClr val="CB6A6A"/>
      </a:accent3>
      <a:accent4>
        <a:srgbClr val="C567AF"/>
      </a:accent4>
      <a:accent5>
        <a:srgbClr val="A684F9"/>
      </a:accent5>
      <a:accent6>
        <a:srgbClr val="A9ACEE"/>
      </a:accent6>
      <a:hlink>
        <a:srgbClr val="6D9CC5"/>
      </a:hlink>
      <a:folHlink>
        <a:srgbClr val="6D82A0"/>
      </a:folHlink>
    </a:clrScheme>
    <a:fontScheme name="Madison">
      <a:majorFont>
        <a:latin typeface="Arial" panose="020B0604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dison">
      <a:fillStyleLst>
        <a:solidFill>
          <a:schemeClr val="phClr"/>
        </a:solidFill>
        <a:gradFill rotWithShape="1">
          <a:gsLst>
            <a:gs pos="0">
              <a:schemeClr val="phClr">
                <a:tint val="48000"/>
                <a:alpha val="88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4000"/>
                <a:satMod val="130000"/>
                <a:lumMod val="92000"/>
              </a:schemeClr>
            </a:gs>
            <a:gs pos="100000">
              <a:schemeClr val="phClr">
                <a:shade val="76000"/>
                <a:satMod val="130000"/>
                <a:lumMod val="88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blipFill rotWithShape="1">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Madison" id="{025CB5FB-2DD3-45EE-B6F0-CC461540EB19}" vid="{178B2DAB-5DDE-4060-A857-D2E1CDA9250F}"/>
    </a:ext>
  </a:extLst>
</a:theme>
</file>

<file path=docProps/app.xml><?xml version="1.0" encoding="utf-8"?>
<Properties xmlns="http://schemas.openxmlformats.org/officeDocument/2006/extended-properties" xmlns:vt="http://schemas.openxmlformats.org/officeDocument/2006/docPropsVTypes">
  <Template>TM16401375[[fn=Madison]]</Template>
  <TotalTime>399</TotalTime>
  <Words>2126</Words>
  <Application>Microsoft Office PowerPoint</Application>
  <PresentationFormat>Panorámica</PresentationFormat>
  <Paragraphs>106</Paragraphs>
  <Slides>16</Slides>
  <Notes>0</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16</vt:i4>
      </vt:variant>
    </vt:vector>
  </HeadingPairs>
  <TitlesOfParts>
    <vt:vector size="24" baseType="lpstr">
      <vt:lpstr>Arial</vt:lpstr>
      <vt:lpstr>Courier New</vt:lpstr>
      <vt:lpstr>MS Shell Dlg 2</vt:lpstr>
      <vt:lpstr>Söhne</vt:lpstr>
      <vt:lpstr>Symbol</vt:lpstr>
      <vt:lpstr>Wingdings</vt:lpstr>
      <vt:lpstr>Wingdings 3</vt:lpstr>
      <vt:lpstr>Madison</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Arlet Acosta González</dc:creator>
  <cp:lastModifiedBy>Arlet Acosta González</cp:lastModifiedBy>
  <cp:revision>69</cp:revision>
  <dcterms:created xsi:type="dcterms:W3CDTF">2024-01-09T12:21:11Z</dcterms:created>
  <dcterms:modified xsi:type="dcterms:W3CDTF">2024-01-10T19:06:20Z</dcterms:modified>
</cp:coreProperties>
</file>