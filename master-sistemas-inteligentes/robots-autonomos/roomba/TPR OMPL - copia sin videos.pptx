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95" r:id="rId1"/>
  </p:sldMasterIdLst>
  <p:sldIdLst>
    <p:sldId id="257" r:id="rId2"/>
    <p:sldId id="260" r:id="rId3"/>
    <p:sldId id="282" r:id="rId4"/>
    <p:sldId id="283" r:id="rId5"/>
    <p:sldId id="281" r:id="rId6"/>
    <p:sldId id="280" r:id="rId7"/>
    <p:sldId id="258" r:id="rId8"/>
    <p:sldId id="259" r:id="rId9"/>
    <p:sldId id="286" r:id="rId10"/>
    <p:sldId id="284" r:id="rId11"/>
    <p:sldId id="261" r:id="rId12"/>
    <p:sldId id="266" r:id="rId13"/>
    <p:sldId id="265" r:id="rId14"/>
    <p:sldId id="262" r:id="rId15"/>
    <p:sldId id="267" r:id="rId16"/>
    <p:sldId id="268" r:id="rId17"/>
    <p:sldId id="263" r:id="rId18"/>
    <p:sldId id="272" r:id="rId19"/>
    <p:sldId id="28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AEB211-5C35-4F3A-AA4C-3E612EE4E50F}" type="doc">
      <dgm:prSet loTypeId="urn:microsoft.com/office/officeart/2005/8/layout/hList1" loCatId="list" qsTypeId="urn:microsoft.com/office/officeart/2005/8/quickstyle/simple2" qsCatId="simple" csTypeId="urn:microsoft.com/office/officeart/2005/8/colors/colorful2" csCatId="colorful" phldr="1"/>
      <dgm:spPr/>
      <dgm:t>
        <a:bodyPr/>
        <a:lstStyle/>
        <a:p>
          <a:endParaRPr lang="es-ES"/>
        </a:p>
      </dgm:t>
    </dgm:pt>
    <dgm:pt modelId="{8FBA81A5-32B0-4180-B8F7-4D45B1B2344D}">
      <dgm:prSet phldrT="[Texto]"/>
      <dgm:spPr/>
      <dgm:t>
        <a:bodyPr/>
        <a:lstStyle/>
        <a:p>
          <a:r>
            <a:rPr lang="es-ES" dirty="0"/>
            <a:t>LazyPRM</a:t>
          </a:r>
        </a:p>
      </dgm:t>
    </dgm:pt>
    <dgm:pt modelId="{E6C30437-AF6D-4B85-A26A-A7C2FE3553BE}" type="parTrans" cxnId="{E469DE72-284F-4122-90A0-AD89A7F774D4}">
      <dgm:prSet/>
      <dgm:spPr/>
      <dgm:t>
        <a:bodyPr/>
        <a:lstStyle/>
        <a:p>
          <a:endParaRPr lang="es-ES"/>
        </a:p>
      </dgm:t>
    </dgm:pt>
    <dgm:pt modelId="{43957B15-97E2-42AD-B377-445DF60C3A19}" type="sibTrans" cxnId="{E469DE72-284F-4122-90A0-AD89A7F774D4}">
      <dgm:prSet/>
      <dgm:spPr/>
      <dgm:t>
        <a:bodyPr/>
        <a:lstStyle/>
        <a:p>
          <a:endParaRPr lang="es-ES"/>
        </a:p>
      </dgm:t>
    </dgm:pt>
    <dgm:pt modelId="{7BCD1871-1B63-43FA-932E-9746FD99E2B3}">
      <dgm:prSet phldrT="[Texto]" custT="1"/>
      <dgm:spPr/>
      <dgm:t>
        <a:bodyPr/>
        <a:lstStyle/>
        <a:p>
          <a:r>
            <a:rPr lang="es-ES" sz="1600" dirty="0"/>
            <a:t>Máximo número de vecinos: 10</a:t>
          </a:r>
        </a:p>
      </dgm:t>
    </dgm:pt>
    <dgm:pt modelId="{5C473CB8-7D52-4EB9-A600-7548204E2665}" type="parTrans" cxnId="{156E8D1E-83C6-4DEC-936B-27DDFE766171}">
      <dgm:prSet/>
      <dgm:spPr/>
      <dgm:t>
        <a:bodyPr/>
        <a:lstStyle/>
        <a:p>
          <a:endParaRPr lang="es-ES"/>
        </a:p>
      </dgm:t>
    </dgm:pt>
    <dgm:pt modelId="{65E68757-D076-4D64-BC56-3384E2D2EE4D}" type="sibTrans" cxnId="{156E8D1E-83C6-4DEC-936B-27DDFE766171}">
      <dgm:prSet/>
      <dgm:spPr/>
      <dgm:t>
        <a:bodyPr/>
        <a:lstStyle/>
        <a:p>
          <a:endParaRPr lang="es-ES"/>
        </a:p>
      </dgm:t>
    </dgm:pt>
    <dgm:pt modelId="{2422F841-BD24-4D28-B1A5-919BCD4DABFB}">
      <dgm:prSet phldrT="[Texto]" custT="1"/>
      <dgm:spPr/>
      <dgm:t>
        <a:bodyPr/>
        <a:lstStyle/>
        <a:p>
          <a:r>
            <a:rPr lang="es-ES" sz="1600" dirty="0"/>
            <a:t>Rango: 15</a:t>
          </a:r>
        </a:p>
      </dgm:t>
    </dgm:pt>
    <dgm:pt modelId="{C7A9E9FE-0866-4F47-BA69-B7A9A0DC55B5}" type="parTrans" cxnId="{27D80C5D-CDAF-4876-A11E-91E8717B9308}">
      <dgm:prSet/>
      <dgm:spPr/>
      <dgm:t>
        <a:bodyPr/>
        <a:lstStyle/>
        <a:p>
          <a:endParaRPr lang="es-ES"/>
        </a:p>
      </dgm:t>
    </dgm:pt>
    <dgm:pt modelId="{9F589A64-35A1-45ED-BF12-D1727AE83B88}" type="sibTrans" cxnId="{27D80C5D-CDAF-4876-A11E-91E8717B9308}">
      <dgm:prSet/>
      <dgm:spPr/>
      <dgm:t>
        <a:bodyPr/>
        <a:lstStyle/>
        <a:p>
          <a:endParaRPr lang="es-ES"/>
        </a:p>
      </dgm:t>
    </dgm:pt>
    <dgm:pt modelId="{629E2748-E69F-49E2-81FC-506FF58C939F}">
      <dgm:prSet phldrT="[Texto]"/>
      <dgm:spPr/>
      <dgm:t>
        <a:bodyPr/>
        <a:lstStyle/>
        <a:p>
          <a:r>
            <a:rPr lang="es-ES" dirty="0"/>
            <a:t>PRM</a:t>
          </a:r>
        </a:p>
      </dgm:t>
    </dgm:pt>
    <dgm:pt modelId="{3FBB7D75-E6F3-4F25-BD2A-33D97CDBDAF7}" type="parTrans" cxnId="{999FEEA6-0A2E-4F3B-8446-29B7CFD9F9B1}">
      <dgm:prSet/>
      <dgm:spPr/>
      <dgm:t>
        <a:bodyPr/>
        <a:lstStyle/>
        <a:p>
          <a:endParaRPr lang="es-ES"/>
        </a:p>
      </dgm:t>
    </dgm:pt>
    <dgm:pt modelId="{F8D249A9-4EB3-4B97-9E22-DB9FBAF9DB61}" type="sibTrans" cxnId="{999FEEA6-0A2E-4F3B-8446-29B7CFD9F9B1}">
      <dgm:prSet/>
      <dgm:spPr/>
      <dgm:t>
        <a:bodyPr/>
        <a:lstStyle/>
        <a:p>
          <a:endParaRPr lang="es-ES"/>
        </a:p>
      </dgm:t>
    </dgm:pt>
    <dgm:pt modelId="{ACFE721B-8BDA-4419-A6C1-ADEB5163C5CB}">
      <dgm:prSet phldrT="[Texto]" custT="1"/>
      <dgm:spPr/>
      <dgm:t>
        <a:bodyPr/>
        <a:lstStyle/>
        <a:p>
          <a:r>
            <a:rPr lang="es-ES" sz="1600" dirty="0"/>
            <a:t>Máximo número de vecinos: 10</a:t>
          </a:r>
        </a:p>
      </dgm:t>
    </dgm:pt>
    <dgm:pt modelId="{F5F5621D-828B-4CDE-9792-3FFE2F0C33DE}" type="parTrans" cxnId="{F247C409-7F6C-41A0-9B07-B5060A02E59D}">
      <dgm:prSet/>
      <dgm:spPr/>
      <dgm:t>
        <a:bodyPr/>
        <a:lstStyle/>
        <a:p>
          <a:endParaRPr lang="es-ES"/>
        </a:p>
      </dgm:t>
    </dgm:pt>
    <dgm:pt modelId="{571A123F-7B0F-4ABC-89B5-9C40C5CB47B2}" type="sibTrans" cxnId="{F247C409-7F6C-41A0-9B07-B5060A02E59D}">
      <dgm:prSet/>
      <dgm:spPr/>
      <dgm:t>
        <a:bodyPr/>
        <a:lstStyle/>
        <a:p>
          <a:endParaRPr lang="es-ES"/>
        </a:p>
      </dgm:t>
    </dgm:pt>
    <dgm:pt modelId="{397ACC91-8FD4-4020-997C-051F91A654BA}">
      <dgm:prSet phldrT="[Texto]" custT="1"/>
      <dgm:spPr/>
      <dgm:t>
        <a:bodyPr/>
        <a:lstStyle/>
        <a:p>
          <a:endParaRPr lang="es-ES" sz="1600" dirty="0"/>
        </a:p>
      </dgm:t>
    </dgm:pt>
    <dgm:pt modelId="{C79E3987-BCF4-470A-84DE-6689215B09E7}" type="parTrans" cxnId="{4C058EBC-0717-4826-81AD-0D859BB18DCD}">
      <dgm:prSet/>
      <dgm:spPr/>
      <dgm:t>
        <a:bodyPr/>
        <a:lstStyle/>
        <a:p>
          <a:endParaRPr lang="es-ES"/>
        </a:p>
      </dgm:t>
    </dgm:pt>
    <dgm:pt modelId="{8039FCC9-3709-4501-AC74-90B96A66D2A7}" type="sibTrans" cxnId="{4C058EBC-0717-4826-81AD-0D859BB18DCD}">
      <dgm:prSet/>
      <dgm:spPr/>
      <dgm:t>
        <a:bodyPr/>
        <a:lstStyle/>
        <a:p>
          <a:endParaRPr lang="es-ES"/>
        </a:p>
      </dgm:t>
    </dgm:pt>
    <dgm:pt modelId="{BE1366B8-8814-4827-AD88-6CB7CA22D802}">
      <dgm:prSet/>
      <dgm:spPr/>
      <dgm:t>
        <a:bodyPr/>
        <a:lstStyle/>
        <a:p>
          <a:r>
            <a:rPr lang="es-ES" dirty="0"/>
            <a:t>RRTConnect</a:t>
          </a:r>
        </a:p>
      </dgm:t>
    </dgm:pt>
    <dgm:pt modelId="{677FFA4A-CA41-4EA1-AC96-B633E10B0E88}" type="sibTrans" cxnId="{E7776753-B32A-4CFB-A37F-3826EE20B49D}">
      <dgm:prSet/>
      <dgm:spPr/>
      <dgm:t>
        <a:bodyPr/>
        <a:lstStyle/>
        <a:p>
          <a:endParaRPr lang="es-ES"/>
        </a:p>
      </dgm:t>
    </dgm:pt>
    <dgm:pt modelId="{5CC343B7-62F1-43CA-B848-5C8933B0BA3F}" type="parTrans" cxnId="{E7776753-B32A-4CFB-A37F-3826EE20B49D}">
      <dgm:prSet/>
      <dgm:spPr/>
      <dgm:t>
        <a:bodyPr/>
        <a:lstStyle/>
        <a:p>
          <a:endParaRPr lang="es-ES"/>
        </a:p>
      </dgm:t>
    </dgm:pt>
    <dgm:pt modelId="{397C885E-0E6F-4A4C-938B-B348D612B462}">
      <dgm:prSet/>
      <dgm:spPr/>
      <dgm:t>
        <a:bodyPr/>
        <a:lstStyle/>
        <a:p>
          <a:r>
            <a:rPr lang="es-ES" dirty="0"/>
            <a:t>KPIECE</a:t>
          </a:r>
        </a:p>
      </dgm:t>
    </dgm:pt>
    <dgm:pt modelId="{8AB1F28E-D3DD-4BDB-AE74-E853920F4BE4}" type="sibTrans" cxnId="{AF94C737-5148-412A-86B5-E9A6D7C38CE5}">
      <dgm:prSet/>
      <dgm:spPr/>
      <dgm:t>
        <a:bodyPr/>
        <a:lstStyle/>
        <a:p>
          <a:endParaRPr lang="es-ES"/>
        </a:p>
      </dgm:t>
    </dgm:pt>
    <dgm:pt modelId="{930E56EB-C6DB-4FB6-85B4-5218D907F5E4}" type="parTrans" cxnId="{AF94C737-5148-412A-86B5-E9A6D7C38CE5}">
      <dgm:prSet/>
      <dgm:spPr/>
      <dgm:t>
        <a:bodyPr/>
        <a:lstStyle/>
        <a:p>
          <a:endParaRPr lang="es-ES"/>
        </a:p>
      </dgm:t>
    </dgm:pt>
    <dgm:pt modelId="{F7CDAD67-A251-42E3-8449-7756E62143A6}">
      <dgm:prSet custT="1"/>
      <dgm:spPr/>
      <dgm:t>
        <a:bodyPr/>
        <a:lstStyle/>
        <a:p>
          <a:r>
            <a:rPr lang="es-ES" sz="1600" dirty="0"/>
            <a:t>Fracción de borde = 0.9
Sesgo del objetivo=0,05
rango=0</a:t>
          </a:r>
        </a:p>
      </dgm:t>
    </dgm:pt>
    <dgm:pt modelId="{7ADE43AD-F5B6-41C1-B5C3-E6E1670301A5}" type="parTrans" cxnId="{4656643A-DD26-48F7-A044-E591198B7044}">
      <dgm:prSet/>
      <dgm:spPr/>
      <dgm:t>
        <a:bodyPr/>
        <a:lstStyle/>
        <a:p>
          <a:endParaRPr lang="es-ES"/>
        </a:p>
      </dgm:t>
    </dgm:pt>
    <dgm:pt modelId="{0B77C469-AC75-485B-9120-597493F36A61}" type="sibTrans" cxnId="{4656643A-DD26-48F7-A044-E591198B7044}">
      <dgm:prSet/>
      <dgm:spPr/>
      <dgm:t>
        <a:bodyPr/>
        <a:lstStyle/>
        <a:p>
          <a:endParaRPr lang="es-ES"/>
        </a:p>
      </dgm:t>
    </dgm:pt>
    <dgm:pt modelId="{1FBD0076-1580-4FEC-811B-44ED4EFE2694}">
      <dgm:prSet custT="1"/>
      <dgm:spPr/>
      <dgm:t>
        <a:bodyPr/>
        <a:lstStyle/>
        <a:p>
          <a:r>
            <a:rPr lang="en-US" sz="1600" dirty="0" err="1"/>
            <a:t>Estados</a:t>
          </a:r>
          <a:r>
            <a:rPr lang="en-US" sz="1600" dirty="0"/>
            <a:t> </a:t>
          </a:r>
          <a:r>
            <a:rPr lang="en-US" sz="1600" dirty="0" err="1"/>
            <a:t>intermedios</a:t>
          </a:r>
          <a:r>
            <a:rPr lang="en-US" sz="1600" dirty="0"/>
            <a:t>=0
Rango = 0</a:t>
          </a:r>
          <a:endParaRPr lang="es-ES" sz="1600" dirty="0"/>
        </a:p>
      </dgm:t>
    </dgm:pt>
    <dgm:pt modelId="{CCA91D5D-2FBC-4C91-9331-D969ADC79B33}" type="parTrans" cxnId="{F9919E40-7B2A-4D61-AAA2-23B5ECD418C8}">
      <dgm:prSet/>
      <dgm:spPr/>
      <dgm:t>
        <a:bodyPr/>
        <a:lstStyle/>
        <a:p>
          <a:endParaRPr lang="es-ES"/>
        </a:p>
      </dgm:t>
    </dgm:pt>
    <dgm:pt modelId="{950B27FB-B22F-4EAB-B7EE-441AD8529E7A}" type="sibTrans" cxnId="{F9919E40-7B2A-4D61-AAA2-23B5ECD418C8}">
      <dgm:prSet/>
      <dgm:spPr/>
      <dgm:t>
        <a:bodyPr/>
        <a:lstStyle/>
        <a:p>
          <a:endParaRPr lang="es-ES"/>
        </a:p>
      </dgm:t>
    </dgm:pt>
    <dgm:pt modelId="{EC178291-7EF2-40A4-A2E2-72060799545D}" type="pres">
      <dgm:prSet presAssocID="{02AEB211-5C35-4F3A-AA4C-3E612EE4E50F}" presName="Name0" presStyleCnt="0">
        <dgm:presLayoutVars>
          <dgm:dir/>
          <dgm:animLvl val="lvl"/>
          <dgm:resizeHandles val="exact"/>
        </dgm:presLayoutVars>
      </dgm:prSet>
      <dgm:spPr/>
    </dgm:pt>
    <dgm:pt modelId="{E6BB3B42-2CC8-42EE-BEC4-BB1F4B5569DB}" type="pres">
      <dgm:prSet presAssocID="{8FBA81A5-32B0-4180-B8F7-4D45B1B2344D}" presName="composite" presStyleCnt="0"/>
      <dgm:spPr/>
    </dgm:pt>
    <dgm:pt modelId="{42C61B74-ED03-47E5-9604-F37D36F55679}" type="pres">
      <dgm:prSet presAssocID="{8FBA81A5-32B0-4180-B8F7-4D45B1B2344D}" presName="parTx" presStyleLbl="alignNode1" presStyleIdx="0" presStyleCnt="4" custLinFactNeighborX="-1672" custLinFactNeighborY="2592">
        <dgm:presLayoutVars>
          <dgm:chMax val="0"/>
          <dgm:chPref val="0"/>
          <dgm:bulletEnabled val="1"/>
        </dgm:presLayoutVars>
      </dgm:prSet>
      <dgm:spPr/>
    </dgm:pt>
    <dgm:pt modelId="{6F185691-2B2D-4532-9C53-28FC7E212B9E}" type="pres">
      <dgm:prSet presAssocID="{8FBA81A5-32B0-4180-B8F7-4D45B1B2344D}" presName="desTx" presStyleLbl="alignAccFollowNode1" presStyleIdx="0" presStyleCnt="4">
        <dgm:presLayoutVars>
          <dgm:bulletEnabled val="1"/>
        </dgm:presLayoutVars>
      </dgm:prSet>
      <dgm:spPr/>
    </dgm:pt>
    <dgm:pt modelId="{92E2508A-5046-4D9C-BFF1-56F1E03E48D1}" type="pres">
      <dgm:prSet presAssocID="{43957B15-97E2-42AD-B377-445DF60C3A19}" presName="space" presStyleCnt="0"/>
      <dgm:spPr/>
    </dgm:pt>
    <dgm:pt modelId="{34513E50-57FE-491C-B0F7-C2F265AE8EBA}" type="pres">
      <dgm:prSet presAssocID="{629E2748-E69F-49E2-81FC-506FF58C939F}" presName="composite" presStyleCnt="0"/>
      <dgm:spPr/>
    </dgm:pt>
    <dgm:pt modelId="{FBD84E54-5423-4A05-B40B-63D7048FABCF}" type="pres">
      <dgm:prSet presAssocID="{629E2748-E69F-49E2-81FC-506FF58C939F}" presName="parTx" presStyleLbl="alignNode1" presStyleIdx="1" presStyleCnt="4">
        <dgm:presLayoutVars>
          <dgm:chMax val="0"/>
          <dgm:chPref val="0"/>
          <dgm:bulletEnabled val="1"/>
        </dgm:presLayoutVars>
      </dgm:prSet>
      <dgm:spPr/>
    </dgm:pt>
    <dgm:pt modelId="{A7AADA0D-75EA-4DE0-966E-1482433D3A38}" type="pres">
      <dgm:prSet presAssocID="{629E2748-E69F-49E2-81FC-506FF58C939F}" presName="desTx" presStyleLbl="alignAccFollowNode1" presStyleIdx="1" presStyleCnt="4">
        <dgm:presLayoutVars>
          <dgm:bulletEnabled val="1"/>
        </dgm:presLayoutVars>
      </dgm:prSet>
      <dgm:spPr/>
    </dgm:pt>
    <dgm:pt modelId="{633DC34B-2D4E-47BF-83C9-8EC0448D656A}" type="pres">
      <dgm:prSet presAssocID="{F8D249A9-4EB3-4B97-9E22-DB9FBAF9DB61}" presName="space" presStyleCnt="0"/>
      <dgm:spPr/>
    </dgm:pt>
    <dgm:pt modelId="{59917859-356D-4A89-8B20-97F174AA15DA}" type="pres">
      <dgm:prSet presAssocID="{BE1366B8-8814-4827-AD88-6CB7CA22D802}" presName="composite" presStyleCnt="0"/>
      <dgm:spPr/>
    </dgm:pt>
    <dgm:pt modelId="{9468FB59-295D-4FBF-90C9-F4C9B01D9694}" type="pres">
      <dgm:prSet presAssocID="{BE1366B8-8814-4827-AD88-6CB7CA22D802}" presName="parTx" presStyleLbl="alignNode1" presStyleIdx="2" presStyleCnt="4">
        <dgm:presLayoutVars>
          <dgm:chMax val="0"/>
          <dgm:chPref val="0"/>
          <dgm:bulletEnabled val="1"/>
        </dgm:presLayoutVars>
      </dgm:prSet>
      <dgm:spPr/>
    </dgm:pt>
    <dgm:pt modelId="{E780A614-5BC7-492F-8202-11FD99C00F45}" type="pres">
      <dgm:prSet presAssocID="{BE1366B8-8814-4827-AD88-6CB7CA22D802}" presName="desTx" presStyleLbl="alignAccFollowNode1" presStyleIdx="2" presStyleCnt="4">
        <dgm:presLayoutVars>
          <dgm:bulletEnabled val="1"/>
        </dgm:presLayoutVars>
      </dgm:prSet>
      <dgm:spPr/>
    </dgm:pt>
    <dgm:pt modelId="{627A0082-FEA8-448A-97EC-F1736874F330}" type="pres">
      <dgm:prSet presAssocID="{677FFA4A-CA41-4EA1-AC96-B633E10B0E88}" presName="space" presStyleCnt="0"/>
      <dgm:spPr/>
    </dgm:pt>
    <dgm:pt modelId="{6B6419C5-F921-4FC3-A233-B08B5759E36E}" type="pres">
      <dgm:prSet presAssocID="{397C885E-0E6F-4A4C-938B-B348D612B462}" presName="composite" presStyleCnt="0"/>
      <dgm:spPr/>
    </dgm:pt>
    <dgm:pt modelId="{2369925D-B7C5-4894-A928-BB93D357504F}" type="pres">
      <dgm:prSet presAssocID="{397C885E-0E6F-4A4C-938B-B348D612B462}" presName="parTx" presStyleLbl="alignNode1" presStyleIdx="3" presStyleCnt="4">
        <dgm:presLayoutVars>
          <dgm:chMax val="0"/>
          <dgm:chPref val="0"/>
          <dgm:bulletEnabled val="1"/>
        </dgm:presLayoutVars>
      </dgm:prSet>
      <dgm:spPr/>
    </dgm:pt>
    <dgm:pt modelId="{CF8D448F-FD00-48EF-85A9-9357311E2D87}" type="pres">
      <dgm:prSet presAssocID="{397C885E-0E6F-4A4C-938B-B348D612B462}" presName="desTx" presStyleLbl="alignAccFollowNode1" presStyleIdx="3" presStyleCnt="4">
        <dgm:presLayoutVars>
          <dgm:bulletEnabled val="1"/>
        </dgm:presLayoutVars>
      </dgm:prSet>
      <dgm:spPr/>
    </dgm:pt>
  </dgm:ptLst>
  <dgm:cxnLst>
    <dgm:cxn modelId="{F247C409-7F6C-41A0-9B07-B5060A02E59D}" srcId="{629E2748-E69F-49E2-81FC-506FF58C939F}" destId="{ACFE721B-8BDA-4419-A6C1-ADEB5163C5CB}" srcOrd="0" destOrd="0" parTransId="{F5F5621D-828B-4CDE-9792-3FFE2F0C33DE}" sibTransId="{571A123F-7B0F-4ABC-89B5-9C40C5CB47B2}"/>
    <dgm:cxn modelId="{156E8D1E-83C6-4DEC-936B-27DDFE766171}" srcId="{8FBA81A5-32B0-4180-B8F7-4D45B1B2344D}" destId="{7BCD1871-1B63-43FA-932E-9746FD99E2B3}" srcOrd="0" destOrd="0" parTransId="{5C473CB8-7D52-4EB9-A600-7548204E2665}" sibTransId="{65E68757-D076-4D64-BC56-3384E2D2EE4D}"/>
    <dgm:cxn modelId="{07592336-80A6-4EBE-AEC9-970C5767EA4E}" type="presOf" srcId="{397ACC91-8FD4-4020-997C-051F91A654BA}" destId="{6F185691-2B2D-4532-9C53-28FC7E212B9E}" srcOrd="0" destOrd="1" presId="urn:microsoft.com/office/officeart/2005/8/layout/hList1"/>
    <dgm:cxn modelId="{AF94C737-5148-412A-86B5-E9A6D7C38CE5}" srcId="{02AEB211-5C35-4F3A-AA4C-3E612EE4E50F}" destId="{397C885E-0E6F-4A4C-938B-B348D612B462}" srcOrd="3" destOrd="0" parTransId="{930E56EB-C6DB-4FB6-85B4-5218D907F5E4}" sibTransId="{8AB1F28E-D3DD-4BDB-AE74-E853920F4BE4}"/>
    <dgm:cxn modelId="{4656643A-DD26-48F7-A044-E591198B7044}" srcId="{397C885E-0E6F-4A4C-938B-B348D612B462}" destId="{F7CDAD67-A251-42E3-8449-7756E62143A6}" srcOrd="0" destOrd="0" parTransId="{7ADE43AD-F5B6-41C1-B5C3-E6E1670301A5}" sibTransId="{0B77C469-AC75-485B-9120-597493F36A61}"/>
    <dgm:cxn modelId="{F9919E40-7B2A-4D61-AAA2-23B5ECD418C8}" srcId="{BE1366B8-8814-4827-AD88-6CB7CA22D802}" destId="{1FBD0076-1580-4FEC-811B-44ED4EFE2694}" srcOrd="0" destOrd="0" parTransId="{CCA91D5D-2FBC-4C91-9331-D969ADC79B33}" sibTransId="{950B27FB-B22F-4EAB-B7EE-441AD8529E7A}"/>
    <dgm:cxn modelId="{5360A55B-9A01-4FA0-9416-114A54FE8B4A}" type="presOf" srcId="{ACFE721B-8BDA-4419-A6C1-ADEB5163C5CB}" destId="{A7AADA0D-75EA-4DE0-966E-1482433D3A38}" srcOrd="0" destOrd="0" presId="urn:microsoft.com/office/officeart/2005/8/layout/hList1"/>
    <dgm:cxn modelId="{27D80C5D-CDAF-4876-A11E-91E8717B9308}" srcId="{8FBA81A5-32B0-4180-B8F7-4D45B1B2344D}" destId="{2422F841-BD24-4D28-B1A5-919BCD4DABFB}" srcOrd="2" destOrd="0" parTransId="{C7A9E9FE-0866-4F47-BA69-B7A9A0DC55B5}" sibTransId="{9F589A64-35A1-45ED-BF12-D1727AE83B88}"/>
    <dgm:cxn modelId="{CA5FFF4E-7454-4FFF-B011-CF3835932E8E}" type="presOf" srcId="{629E2748-E69F-49E2-81FC-506FF58C939F}" destId="{FBD84E54-5423-4A05-B40B-63D7048FABCF}" srcOrd="0" destOrd="0" presId="urn:microsoft.com/office/officeart/2005/8/layout/hList1"/>
    <dgm:cxn modelId="{E469DE72-284F-4122-90A0-AD89A7F774D4}" srcId="{02AEB211-5C35-4F3A-AA4C-3E612EE4E50F}" destId="{8FBA81A5-32B0-4180-B8F7-4D45B1B2344D}" srcOrd="0" destOrd="0" parTransId="{E6C30437-AF6D-4B85-A26A-A7C2FE3553BE}" sibTransId="{43957B15-97E2-42AD-B377-445DF60C3A19}"/>
    <dgm:cxn modelId="{E7776753-B32A-4CFB-A37F-3826EE20B49D}" srcId="{02AEB211-5C35-4F3A-AA4C-3E612EE4E50F}" destId="{BE1366B8-8814-4827-AD88-6CB7CA22D802}" srcOrd="2" destOrd="0" parTransId="{5CC343B7-62F1-43CA-B848-5C8933B0BA3F}" sibTransId="{677FFA4A-CA41-4EA1-AC96-B633E10B0E88}"/>
    <dgm:cxn modelId="{70857D57-2EE8-4E57-8B94-613294F91265}" type="presOf" srcId="{7BCD1871-1B63-43FA-932E-9746FD99E2B3}" destId="{6F185691-2B2D-4532-9C53-28FC7E212B9E}" srcOrd="0" destOrd="0" presId="urn:microsoft.com/office/officeart/2005/8/layout/hList1"/>
    <dgm:cxn modelId="{B31C1B80-C31E-4A55-A6FE-A24E7C6E91DA}" type="presOf" srcId="{397C885E-0E6F-4A4C-938B-B348D612B462}" destId="{2369925D-B7C5-4894-A928-BB93D357504F}" srcOrd="0" destOrd="0" presId="urn:microsoft.com/office/officeart/2005/8/layout/hList1"/>
    <dgm:cxn modelId="{2ED7D483-23BE-4640-9977-4EE238FFC114}" type="presOf" srcId="{1FBD0076-1580-4FEC-811B-44ED4EFE2694}" destId="{E780A614-5BC7-492F-8202-11FD99C00F45}" srcOrd="0" destOrd="0" presId="urn:microsoft.com/office/officeart/2005/8/layout/hList1"/>
    <dgm:cxn modelId="{999FEEA6-0A2E-4F3B-8446-29B7CFD9F9B1}" srcId="{02AEB211-5C35-4F3A-AA4C-3E612EE4E50F}" destId="{629E2748-E69F-49E2-81FC-506FF58C939F}" srcOrd="1" destOrd="0" parTransId="{3FBB7D75-E6F3-4F25-BD2A-33D97CDBDAF7}" sibTransId="{F8D249A9-4EB3-4B97-9E22-DB9FBAF9DB61}"/>
    <dgm:cxn modelId="{A95D82AF-B8E9-4570-8882-B6288628EC9D}" type="presOf" srcId="{8FBA81A5-32B0-4180-B8F7-4D45B1B2344D}" destId="{42C61B74-ED03-47E5-9604-F37D36F55679}" srcOrd="0" destOrd="0" presId="urn:microsoft.com/office/officeart/2005/8/layout/hList1"/>
    <dgm:cxn modelId="{E713CAB1-EAC1-4A89-B733-CCBE9DE99008}" type="presOf" srcId="{2422F841-BD24-4D28-B1A5-919BCD4DABFB}" destId="{6F185691-2B2D-4532-9C53-28FC7E212B9E}" srcOrd="0" destOrd="2" presId="urn:microsoft.com/office/officeart/2005/8/layout/hList1"/>
    <dgm:cxn modelId="{4C058EBC-0717-4826-81AD-0D859BB18DCD}" srcId="{8FBA81A5-32B0-4180-B8F7-4D45B1B2344D}" destId="{397ACC91-8FD4-4020-997C-051F91A654BA}" srcOrd="1" destOrd="0" parTransId="{C79E3987-BCF4-470A-84DE-6689215B09E7}" sibTransId="{8039FCC9-3709-4501-AC74-90B96A66D2A7}"/>
    <dgm:cxn modelId="{51B821D8-5D4B-4C35-9869-F4FBBA0BD902}" type="presOf" srcId="{02AEB211-5C35-4F3A-AA4C-3E612EE4E50F}" destId="{EC178291-7EF2-40A4-A2E2-72060799545D}" srcOrd="0" destOrd="0" presId="urn:microsoft.com/office/officeart/2005/8/layout/hList1"/>
    <dgm:cxn modelId="{709ACCF3-1189-42B7-8299-7EC14C441C1F}" type="presOf" srcId="{F7CDAD67-A251-42E3-8449-7756E62143A6}" destId="{CF8D448F-FD00-48EF-85A9-9357311E2D87}" srcOrd="0" destOrd="0" presId="urn:microsoft.com/office/officeart/2005/8/layout/hList1"/>
    <dgm:cxn modelId="{CF7352F8-E6A7-451C-935E-0188C9F96726}" type="presOf" srcId="{BE1366B8-8814-4827-AD88-6CB7CA22D802}" destId="{9468FB59-295D-4FBF-90C9-F4C9B01D9694}" srcOrd="0" destOrd="0" presId="urn:microsoft.com/office/officeart/2005/8/layout/hList1"/>
    <dgm:cxn modelId="{2E8C3206-7155-428E-93B8-8288325C03E9}" type="presParOf" srcId="{EC178291-7EF2-40A4-A2E2-72060799545D}" destId="{E6BB3B42-2CC8-42EE-BEC4-BB1F4B5569DB}" srcOrd="0" destOrd="0" presId="urn:microsoft.com/office/officeart/2005/8/layout/hList1"/>
    <dgm:cxn modelId="{515D14DE-F459-437D-854B-FFF382AFCCB4}" type="presParOf" srcId="{E6BB3B42-2CC8-42EE-BEC4-BB1F4B5569DB}" destId="{42C61B74-ED03-47E5-9604-F37D36F55679}" srcOrd="0" destOrd="0" presId="urn:microsoft.com/office/officeart/2005/8/layout/hList1"/>
    <dgm:cxn modelId="{6F64ABC1-AA35-4C86-B95A-A380862B357B}" type="presParOf" srcId="{E6BB3B42-2CC8-42EE-BEC4-BB1F4B5569DB}" destId="{6F185691-2B2D-4532-9C53-28FC7E212B9E}" srcOrd="1" destOrd="0" presId="urn:microsoft.com/office/officeart/2005/8/layout/hList1"/>
    <dgm:cxn modelId="{517C9DA1-A584-4A3E-8CFF-8C36A60F6A11}" type="presParOf" srcId="{EC178291-7EF2-40A4-A2E2-72060799545D}" destId="{92E2508A-5046-4D9C-BFF1-56F1E03E48D1}" srcOrd="1" destOrd="0" presId="urn:microsoft.com/office/officeart/2005/8/layout/hList1"/>
    <dgm:cxn modelId="{ECF2D1FA-527C-447A-9ACA-FC6A5858CD93}" type="presParOf" srcId="{EC178291-7EF2-40A4-A2E2-72060799545D}" destId="{34513E50-57FE-491C-B0F7-C2F265AE8EBA}" srcOrd="2" destOrd="0" presId="urn:microsoft.com/office/officeart/2005/8/layout/hList1"/>
    <dgm:cxn modelId="{9C6530FC-445D-4626-8088-7CCB056991BF}" type="presParOf" srcId="{34513E50-57FE-491C-B0F7-C2F265AE8EBA}" destId="{FBD84E54-5423-4A05-B40B-63D7048FABCF}" srcOrd="0" destOrd="0" presId="urn:microsoft.com/office/officeart/2005/8/layout/hList1"/>
    <dgm:cxn modelId="{99753F8B-E593-4244-9E7F-CFDEFE3F00DF}" type="presParOf" srcId="{34513E50-57FE-491C-B0F7-C2F265AE8EBA}" destId="{A7AADA0D-75EA-4DE0-966E-1482433D3A38}" srcOrd="1" destOrd="0" presId="urn:microsoft.com/office/officeart/2005/8/layout/hList1"/>
    <dgm:cxn modelId="{699E11AC-F936-43ED-B986-D825D894DDD1}" type="presParOf" srcId="{EC178291-7EF2-40A4-A2E2-72060799545D}" destId="{633DC34B-2D4E-47BF-83C9-8EC0448D656A}" srcOrd="3" destOrd="0" presId="urn:microsoft.com/office/officeart/2005/8/layout/hList1"/>
    <dgm:cxn modelId="{41A7BABC-3B04-4A33-A137-F85048152A27}" type="presParOf" srcId="{EC178291-7EF2-40A4-A2E2-72060799545D}" destId="{59917859-356D-4A89-8B20-97F174AA15DA}" srcOrd="4" destOrd="0" presId="urn:microsoft.com/office/officeart/2005/8/layout/hList1"/>
    <dgm:cxn modelId="{DF374549-39F5-4E41-AF2E-3FC4F32F30CA}" type="presParOf" srcId="{59917859-356D-4A89-8B20-97F174AA15DA}" destId="{9468FB59-295D-4FBF-90C9-F4C9B01D9694}" srcOrd="0" destOrd="0" presId="urn:microsoft.com/office/officeart/2005/8/layout/hList1"/>
    <dgm:cxn modelId="{803BBA5D-E279-47A7-819D-6A330802C99B}" type="presParOf" srcId="{59917859-356D-4A89-8B20-97F174AA15DA}" destId="{E780A614-5BC7-492F-8202-11FD99C00F45}" srcOrd="1" destOrd="0" presId="urn:microsoft.com/office/officeart/2005/8/layout/hList1"/>
    <dgm:cxn modelId="{B0DD22A5-7D2B-4175-9EF0-BD0F91FE4CD7}" type="presParOf" srcId="{EC178291-7EF2-40A4-A2E2-72060799545D}" destId="{627A0082-FEA8-448A-97EC-F1736874F330}" srcOrd="5" destOrd="0" presId="urn:microsoft.com/office/officeart/2005/8/layout/hList1"/>
    <dgm:cxn modelId="{E1986929-2FB0-40B0-89E9-1F53C816839B}" type="presParOf" srcId="{EC178291-7EF2-40A4-A2E2-72060799545D}" destId="{6B6419C5-F921-4FC3-A233-B08B5759E36E}" srcOrd="6" destOrd="0" presId="urn:microsoft.com/office/officeart/2005/8/layout/hList1"/>
    <dgm:cxn modelId="{EDDCDFEA-6ADD-4A35-BE03-D5B798F3D8C1}" type="presParOf" srcId="{6B6419C5-F921-4FC3-A233-B08B5759E36E}" destId="{2369925D-B7C5-4894-A928-BB93D357504F}" srcOrd="0" destOrd="0" presId="urn:microsoft.com/office/officeart/2005/8/layout/hList1"/>
    <dgm:cxn modelId="{94F13B68-E2BC-46AD-8763-C6783B52CDB8}" type="presParOf" srcId="{6B6419C5-F921-4FC3-A233-B08B5759E36E}" destId="{CF8D448F-FD00-48EF-85A9-9357311E2D8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C61B74-ED03-47E5-9604-F37D36F55679}">
      <dsp:nvSpPr>
        <dsp:cNvPr id="0" name=""/>
        <dsp:cNvSpPr/>
      </dsp:nvSpPr>
      <dsp:spPr>
        <a:xfrm>
          <a:off x="0" y="401346"/>
          <a:ext cx="2231554" cy="691200"/>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s-ES" sz="2400" kern="1200" dirty="0"/>
            <a:t>LazyPRM</a:t>
          </a:r>
        </a:p>
      </dsp:txBody>
      <dsp:txXfrm>
        <a:off x="0" y="401346"/>
        <a:ext cx="2231554" cy="691200"/>
      </dsp:txXfrm>
    </dsp:sp>
    <dsp:sp modelId="{6F185691-2B2D-4532-9C53-28FC7E212B9E}">
      <dsp:nvSpPr>
        <dsp:cNvPr id="0" name=""/>
        <dsp:cNvSpPr/>
      </dsp:nvSpPr>
      <dsp:spPr>
        <a:xfrm>
          <a:off x="3711" y="1074630"/>
          <a:ext cx="2231554" cy="1445242"/>
        </a:xfrm>
        <a:prstGeom prst="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s-ES" sz="1600" kern="1200" dirty="0"/>
            <a:t>Máximo número de vecinos: 10</a:t>
          </a:r>
        </a:p>
        <a:p>
          <a:pPr marL="171450" lvl="1" indent="-171450" algn="l" defTabSz="711200">
            <a:lnSpc>
              <a:spcPct val="90000"/>
            </a:lnSpc>
            <a:spcBef>
              <a:spcPct val="0"/>
            </a:spcBef>
            <a:spcAft>
              <a:spcPct val="15000"/>
            </a:spcAft>
            <a:buChar char="•"/>
          </a:pPr>
          <a:endParaRPr lang="es-ES" sz="1600" kern="1200" dirty="0"/>
        </a:p>
        <a:p>
          <a:pPr marL="171450" lvl="1" indent="-171450" algn="l" defTabSz="711200">
            <a:lnSpc>
              <a:spcPct val="90000"/>
            </a:lnSpc>
            <a:spcBef>
              <a:spcPct val="0"/>
            </a:spcBef>
            <a:spcAft>
              <a:spcPct val="15000"/>
            </a:spcAft>
            <a:buChar char="•"/>
          </a:pPr>
          <a:r>
            <a:rPr lang="es-ES" sz="1600" kern="1200" dirty="0"/>
            <a:t>Rango: 15</a:t>
          </a:r>
        </a:p>
      </dsp:txBody>
      <dsp:txXfrm>
        <a:off x="3711" y="1074630"/>
        <a:ext cx="2231554" cy="1445242"/>
      </dsp:txXfrm>
    </dsp:sp>
    <dsp:sp modelId="{FBD84E54-5423-4A05-B40B-63D7048FABCF}">
      <dsp:nvSpPr>
        <dsp:cNvPr id="0" name=""/>
        <dsp:cNvSpPr/>
      </dsp:nvSpPr>
      <dsp:spPr>
        <a:xfrm>
          <a:off x="2547683" y="383430"/>
          <a:ext cx="2231554" cy="691200"/>
        </a:xfrm>
        <a:prstGeom prst="rect">
          <a:avLst/>
        </a:prstGeom>
        <a:solidFill>
          <a:schemeClr val="accent2">
            <a:hueOff val="-441124"/>
            <a:satOff val="497"/>
            <a:lumOff val="1177"/>
            <a:alphaOff val="0"/>
          </a:schemeClr>
        </a:solidFill>
        <a:ln w="15875" cap="rnd"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s-ES" sz="2400" kern="1200" dirty="0"/>
            <a:t>PRM</a:t>
          </a:r>
        </a:p>
      </dsp:txBody>
      <dsp:txXfrm>
        <a:off x="2547683" y="383430"/>
        <a:ext cx="2231554" cy="691200"/>
      </dsp:txXfrm>
    </dsp:sp>
    <dsp:sp modelId="{A7AADA0D-75EA-4DE0-966E-1482433D3A38}">
      <dsp:nvSpPr>
        <dsp:cNvPr id="0" name=""/>
        <dsp:cNvSpPr/>
      </dsp:nvSpPr>
      <dsp:spPr>
        <a:xfrm>
          <a:off x="2547683" y="1074630"/>
          <a:ext cx="2231554" cy="1445242"/>
        </a:xfrm>
        <a:prstGeom prst="rect">
          <a:avLst/>
        </a:prstGeom>
        <a:solidFill>
          <a:schemeClr val="accent2">
            <a:tint val="40000"/>
            <a:alpha val="90000"/>
            <a:hueOff val="-613955"/>
            <a:satOff val="4090"/>
            <a:lumOff val="374"/>
            <a:alphaOff val="0"/>
          </a:schemeClr>
        </a:solidFill>
        <a:ln w="15875" cap="rnd" cmpd="sng" algn="ctr">
          <a:solidFill>
            <a:schemeClr val="accent2">
              <a:tint val="40000"/>
              <a:alpha val="90000"/>
              <a:hueOff val="-613955"/>
              <a:satOff val="4090"/>
              <a:lumOff val="37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s-ES" sz="1600" kern="1200" dirty="0"/>
            <a:t>Máximo número de vecinos: 10</a:t>
          </a:r>
        </a:p>
      </dsp:txBody>
      <dsp:txXfrm>
        <a:off x="2547683" y="1074630"/>
        <a:ext cx="2231554" cy="1445242"/>
      </dsp:txXfrm>
    </dsp:sp>
    <dsp:sp modelId="{9468FB59-295D-4FBF-90C9-F4C9B01D9694}">
      <dsp:nvSpPr>
        <dsp:cNvPr id="0" name=""/>
        <dsp:cNvSpPr/>
      </dsp:nvSpPr>
      <dsp:spPr>
        <a:xfrm>
          <a:off x="5091655" y="383430"/>
          <a:ext cx="2231554" cy="691200"/>
        </a:xfrm>
        <a:prstGeom prst="rect">
          <a:avLst/>
        </a:prstGeom>
        <a:solidFill>
          <a:schemeClr val="accent2">
            <a:hueOff val="-882249"/>
            <a:satOff val="995"/>
            <a:lumOff val="2353"/>
            <a:alphaOff val="0"/>
          </a:schemeClr>
        </a:solidFill>
        <a:ln w="15875" cap="rnd"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s-ES" sz="2400" kern="1200" dirty="0"/>
            <a:t>RRTConnect</a:t>
          </a:r>
        </a:p>
      </dsp:txBody>
      <dsp:txXfrm>
        <a:off x="5091655" y="383430"/>
        <a:ext cx="2231554" cy="691200"/>
      </dsp:txXfrm>
    </dsp:sp>
    <dsp:sp modelId="{E780A614-5BC7-492F-8202-11FD99C00F45}">
      <dsp:nvSpPr>
        <dsp:cNvPr id="0" name=""/>
        <dsp:cNvSpPr/>
      </dsp:nvSpPr>
      <dsp:spPr>
        <a:xfrm>
          <a:off x="5091655" y="1074630"/>
          <a:ext cx="2231554" cy="1445242"/>
        </a:xfrm>
        <a:prstGeom prst="rect">
          <a:avLst/>
        </a:prstGeom>
        <a:solidFill>
          <a:schemeClr val="accent2">
            <a:tint val="40000"/>
            <a:alpha val="90000"/>
            <a:hueOff val="-1227910"/>
            <a:satOff val="8180"/>
            <a:lumOff val="748"/>
            <a:alphaOff val="0"/>
          </a:schemeClr>
        </a:solidFill>
        <a:ln w="15875" cap="rnd" cmpd="sng" algn="ctr">
          <a:solidFill>
            <a:schemeClr val="accent2">
              <a:tint val="40000"/>
              <a:alpha val="90000"/>
              <a:hueOff val="-1227910"/>
              <a:satOff val="8180"/>
              <a:lumOff val="7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err="1"/>
            <a:t>Estados</a:t>
          </a:r>
          <a:r>
            <a:rPr lang="en-US" sz="1600" kern="1200" dirty="0"/>
            <a:t> </a:t>
          </a:r>
          <a:r>
            <a:rPr lang="en-US" sz="1600" kern="1200" dirty="0" err="1"/>
            <a:t>intermedios</a:t>
          </a:r>
          <a:r>
            <a:rPr lang="en-US" sz="1600" kern="1200" dirty="0"/>
            <a:t>=0
Rango = 0</a:t>
          </a:r>
          <a:endParaRPr lang="es-ES" sz="1600" kern="1200" dirty="0"/>
        </a:p>
      </dsp:txBody>
      <dsp:txXfrm>
        <a:off x="5091655" y="1074630"/>
        <a:ext cx="2231554" cy="1445242"/>
      </dsp:txXfrm>
    </dsp:sp>
    <dsp:sp modelId="{2369925D-B7C5-4894-A928-BB93D357504F}">
      <dsp:nvSpPr>
        <dsp:cNvPr id="0" name=""/>
        <dsp:cNvSpPr/>
      </dsp:nvSpPr>
      <dsp:spPr>
        <a:xfrm>
          <a:off x="7635627" y="383430"/>
          <a:ext cx="2231554" cy="691200"/>
        </a:xfrm>
        <a:prstGeom prst="rect">
          <a:avLst/>
        </a:prstGeom>
        <a:solidFill>
          <a:schemeClr val="accent2">
            <a:hueOff val="-1323373"/>
            <a:satOff val="1492"/>
            <a:lumOff val="3530"/>
            <a:alphaOff val="0"/>
          </a:schemeClr>
        </a:solidFill>
        <a:ln w="15875" cap="rnd"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s-ES" sz="2400" kern="1200" dirty="0"/>
            <a:t>KPIECE</a:t>
          </a:r>
        </a:p>
      </dsp:txBody>
      <dsp:txXfrm>
        <a:off x="7635627" y="383430"/>
        <a:ext cx="2231554" cy="691200"/>
      </dsp:txXfrm>
    </dsp:sp>
    <dsp:sp modelId="{CF8D448F-FD00-48EF-85A9-9357311E2D87}">
      <dsp:nvSpPr>
        <dsp:cNvPr id="0" name=""/>
        <dsp:cNvSpPr/>
      </dsp:nvSpPr>
      <dsp:spPr>
        <a:xfrm>
          <a:off x="7635627" y="1074630"/>
          <a:ext cx="2231554" cy="1445242"/>
        </a:xfrm>
        <a:prstGeom prst="rect">
          <a:avLst/>
        </a:prstGeom>
        <a:solidFill>
          <a:schemeClr val="accent2">
            <a:tint val="40000"/>
            <a:alpha val="90000"/>
            <a:hueOff val="-1841865"/>
            <a:satOff val="12270"/>
            <a:lumOff val="1122"/>
            <a:alphaOff val="0"/>
          </a:schemeClr>
        </a:solidFill>
        <a:ln w="15875" cap="rnd" cmpd="sng" algn="ctr">
          <a:solidFill>
            <a:schemeClr val="accent2">
              <a:tint val="40000"/>
              <a:alpha val="90000"/>
              <a:hueOff val="-1841865"/>
              <a:satOff val="12270"/>
              <a:lumOff val="112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s-ES" sz="1600" kern="1200" dirty="0"/>
            <a:t>Fracción de borde = 0.9
Sesgo del objetivo=0,05
rango=0</a:t>
          </a:r>
        </a:p>
      </dsp:txBody>
      <dsp:txXfrm>
        <a:off x="7635627" y="1074630"/>
        <a:ext cx="2231554" cy="144524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4/22/2024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61903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4/22/2024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516357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5059C3-6A89-4494-99FF-5A4D6FFD50EB}" type="datetimeFigureOut">
              <a:rPr lang="en-US" smtClean="0"/>
              <a:t>4/22/2024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953757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4/22/2024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226561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CBC1C18-307B-4F68-A007-B5B542270E8D}" type="datetimeFigureOut">
              <a:rPr lang="en-US" smtClean="0"/>
              <a:t>4/22/2024</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30860737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4/22/2024</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127984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4/22/2024</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742177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7D525BB-DA17-4BA0-B3C8-3AC3ABC827E6}" type="datetimeFigureOut">
              <a:rPr lang="en-US" smtClean="0"/>
              <a:t>4/22/2024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971173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s-ES"/>
              <a:t>Haga clic para modificar el estilo de título del patrón</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s-ES"/>
              <a:t>Haga clic en el icono para agregar una imagen</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3885810" y="6041362"/>
            <a:ext cx="976879" cy="365125"/>
          </a:xfrm>
        </p:spPr>
        <p:txBody>
          <a:bodyPr/>
          <a:lstStyle/>
          <a:p>
            <a:fld id="{3CBC1C18-307B-4F68-A007-B5B542270E8D}" type="datetimeFigureOut">
              <a:rPr lang="en-US" smtClean="0"/>
              <a:t>4/22/2024</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r>
              <a:rPr lang="en-US"/>
              <a:t>
              </a:t>
            </a:r>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926971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s-ES"/>
              <a:t>Haga clic para modificar el estilo de título del patrón</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s-ES"/>
              <a:t>Haga clic en el icono para agregar una imagen</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CBC1C18-307B-4F68-A007-B5B542270E8D}" type="datetimeFigureOut">
              <a:rPr lang="en-US" smtClean="0"/>
              <a:t>4/22/2024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54873385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CBC1C18-307B-4F68-A007-B5B542270E8D}" type="datetimeFigureOut">
              <a:rPr lang="en-US" smtClean="0"/>
              <a:t>4/22/2024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29360928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s-ES"/>
              <a:t>Haga clic para modificar el estilo de título del patrón</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s-ES"/>
              <a:t>Haga clic para modificar los estilos de texto del patrón</a:t>
            </a:r>
          </a:p>
        </p:txBody>
      </p:sp>
      <p:sp>
        <p:nvSpPr>
          <p:cNvPr id="2" name="Date Placeholder 1"/>
          <p:cNvSpPr>
            <a:spLocks noGrp="1"/>
          </p:cNvSpPr>
          <p:nvPr>
            <p:ph type="dt" sz="half" idx="10"/>
          </p:nvPr>
        </p:nvSpPr>
        <p:spPr/>
        <p:txBody>
          <a:bodyPr/>
          <a:lstStyle/>
          <a:p>
            <a:fld id="{3CBC1C18-307B-4F68-A007-B5B542270E8D}" type="datetimeFigureOut">
              <a:rPr lang="en-US" smtClean="0"/>
              <a:t>4/22/2024</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41685877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4/22/2024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088352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4/22/2024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34323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US"/>
              <a:t>
              </a:t>
            </a:r>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3CBC1C18-307B-4F68-A007-B5B542270E8D}" type="datetimeFigureOut">
              <a:rPr lang="en-US" smtClean="0"/>
              <a:t>4/22/2024</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798701799"/>
      </p:ext>
    </p:extLst>
  </p:cSld>
  <p:clrMap bg1="dk1" tx1="lt1" bg2="dk2" tx2="lt2" accent1="accent1" accent2="accent2" accent3="accent3" accent4="accent4" accent5="accent5" accent6="accent6" hlink="hlink" folHlink="folHlink"/>
  <p:sldLayoutIdLst>
    <p:sldLayoutId id="2147484096"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 id="2147484107" r:id="rId12"/>
    <p:sldLayoutId id="2147484108" r:id="rId13"/>
    <p:sldLayoutId id="214748410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D4ED639-1645-4796-8F52-CE19226BE71D}"/>
              </a:ext>
            </a:extLst>
          </p:cNvPr>
          <p:cNvSpPr/>
          <p:nvPr/>
        </p:nvSpPr>
        <p:spPr>
          <a:xfrm>
            <a:off x="995776" y="318403"/>
            <a:ext cx="9974205" cy="2123658"/>
          </a:xfrm>
          <a:prstGeom prst="rect">
            <a:avLst/>
          </a:prstGeom>
          <a:noFill/>
        </p:spPr>
        <p:txBody>
          <a:bodyPr wrap="none" lIns="91440" tIns="45720" rIns="91440" bIns="45720">
            <a:spAutoFit/>
          </a:bodyPr>
          <a:lstStyle/>
          <a:p>
            <a:pPr algn="ctr"/>
            <a:r>
              <a:rPr lang="es-ES" sz="4400" b="1" cap="none" spc="0" dirty="0">
                <a:ln w="22225">
                  <a:solidFill>
                    <a:schemeClr val="accent2"/>
                  </a:solidFill>
                  <a:prstDash val="solid"/>
                </a:ln>
                <a:solidFill>
                  <a:schemeClr val="accent2">
                    <a:lumMod val="40000"/>
                    <a:lumOff val="60000"/>
                  </a:schemeClr>
                </a:solidFill>
                <a:effectLst/>
              </a:rPr>
              <a:t>Trabajo Final </a:t>
            </a:r>
          </a:p>
          <a:p>
            <a:pPr algn="ctr"/>
            <a:r>
              <a:rPr lang="es-ES" sz="4400" b="1" dirty="0">
                <a:ln w="22225">
                  <a:solidFill>
                    <a:schemeClr val="accent2"/>
                  </a:solidFill>
                  <a:prstDash val="solid"/>
                </a:ln>
                <a:solidFill>
                  <a:schemeClr val="accent2">
                    <a:lumMod val="40000"/>
                    <a:lumOff val="60000"/>
                  </a:schemeClr>
                </a:solidFill>
              </a:rPr>
              <a:t>De</a:t>
            </a:r>
          </a:p>
          <a:p>
            <a:pPr algn="ctr"/>
            <a:r>
              <a:rPr lang="es-ES" sz="4400" b="1" cap="none" spc="0" dirty="0">
                <a:ln w="22225">
                  <a:solidFill>
                    <a:schemeClr val="accent2"/>
                  </a:solidFill>
                  <a:prstDash val="solid"/>
                </a:ln>
                <a:solidFill>
                  <a:schemeClr val="accent2">
                    <a:lumMod val="40000"/>
                    <a:lumOff val="60000"/>
                  </a:schemeClr>
                </a:solidFill>
                <a:effectLst/>
              </a:rPr>
              <a:t>Técnicas de Planificación de Robots</a:t>
            </a:r>
          </a:p>
        </p:txBody>
      </p:sp>
      <p:sp>
        <p:nvSpPr>
          <p:cNvPr id="4" name="Rectángulo 3">
            <a:extLst>
              <a:ext uri="{FF2B5EF4-FFF2-40B4-BE49-F238E27FC236}">
                <a16:creationId xmlns:a16="http://schemas.microsoft.com/office/drawing/2014/main" id="{1DAFABC9-B73A-4D64-83B4-195AA589CE97}"/>
              </a:ext>
            </a:extLst>
          </p:cNvPr>
          <p:cNvSpPr/>
          <p:nvPr/>
        </p:nvSpPr>
        <p:spPr>
          <a:xfrm>
            <a:off x="414934" y="5791018"/>
            <a:ext cx="2454583" cy="369332"/>
          </a:xfrm>
          <a:prstGeom prst="rect">
            <a:avLst/>
          </a:prstGeom>
          <a:noFill/>
        </p:spPr>
        <p:txBody>
          <a:bodyPr wrap="none" lIns="91440" tIns="45720" rIns="91440" bIns="45720">
            <a:spAutoFit/>
          </a:bodyPr>
          <a:lstStyle/>
          <a:p>
            <a:pPr algn="ctr"/>
            <a:r>
              <a:rPr lang="es-ES" dirty="0">
                <a:ln w="0"/>
                <a:effectLst>
                  <a:outerShdw blurRad="38100" dist="19050" dir="2700000" algn="tl" rotWithShape="0">
                    <a:schemeClr val="dk1">
                      <a:alpha val="40000"/>
                    </a:schemeClr>
                  </a:outerShdw>
                </a:effectLst>
              </a:rPr>
              <a:t>Arlet Acosta González</a:t>
            </a:r>
          </a:p>
        </p:txBody>
      </p:sp>
      <p:pic>
        <p:nvPicPr>
          <p:cNvPr id="6" name="Imagen 5">
            <a:extLst>
              <a:ext uri="{FF2B5EF4-FFF2-40B4-BE49-F238E27FC236}">
                <a16:creationId xmlns:a16="http://schemas.microsoft.com/office/drawing/2014/main" id="{6A2A9F50-A8B6-41FE-A9EC-B5393D54EEEB}"/>
              </a:ext>
            </a:extLst>
          </p:cNvPr>
          <p:cNvPicPr>
            <a:picLocks noChangeAspect="1"/>
          </p:cNvPicPr>
          <p:nvPr/>
        </p:nvPicPr>
        <p:blipFill>
          <a:blip r:embed="rId2">
            <a:alphaModFix amt="85000"/>
          </a:blip>
          <a:stretch>
            <a:fillRect/>
          </a:stretch>
        </p:blipFill>
        <p:spPr>
          <a:xfrm>
            <a:off x="2869517" y="2809002"/>
            <a:ext cx="6076520" cy="2541835"/>
          </a:xfrm>
          <a:prstGeom prst="rect">
            <a:avLst/>
          </a:prstGeom>
        </p:spPr>
      </p:pic>
      <p:sp>
        <p:nvSpPr>
          <p:cNvPr id="5" name="Rectángulo 4">
            <a:extLst>
              <a:ext uri="{FF2B5EF4-FFF2-40B4-BE49-F238E27FC236}">
                <a16:creationId xmlns:a16="http://schemas.microsoft.com/office/drawing/2014/main" id="{C3111C42-35FE-43D4-BE03-8AE6534769BE}"/>
              </a:ext>
            </a:extLst>
          </p:cNvPr>
          <p:cNvSpPr/>
          <p:nvPr/>
        </p:nvSpPr>
        <p:spPr>
          <a:xfrm>
            <a:off x="258485" y="6231199"/>
            <a:ext cx="3651962" cy="369332"/>
          </a:xfrm>
          <a:prstGeom prst="rect">
            <a:avLst/>
          </a:prstGeom>
          <a:noFill/>
        </p:spPr>
        <p:txBody>
          <a:bodyPr wrap="none" lIns="91440" tIns="45720" rIns="91440" bIns="45720">
            <a:spAutoFit/>
          </a:bodyPr>
          <a:lstStyle/>
          <a:p>
            <a:pPr algn="ctr"/>
            <a:r>
              <a:rPr lang="es-ES" dirty="0">
                <a:ln w="0"/>
                <a:effectLst>
                  <a:outerShdw blurRad="38100" dist="19050" dir="2700000" algn="tl" rotWithShape="0">
                    <a:schemeClr val="dk1">
                      <a:alpha val="40000"/>
                    </a:schemeClr>
                  </a:outerShdw>
                </a:effectLst>
              </a:rPr>
              <a:t>Máster en Sistemas Inteligentes</a:t>
            </a:r>
          </a:p>
        </p:txBody>
      </p:sp>
      <p:pic>
        <p:nvPicPr>
          <p:cNvPr id="8" name="Imagen 7">
            <a:extLst>
              <a:ext uri="{FF2B5EF4-FFF2-40B4-BE49-F238E27FC236}">
                <a16:creationId xmlns:a16="http://schemas.microsoft.com/office/drawing/2014/main" id="{21871F8D-92C2-482F-BEC3-1D325E163155}"/>
              </a:ext>
            </a:extLst>
          </p:cNvPr>
          <p:cNvPicPr>
            <a:picLocks noChangeAspect="1"/>
          </p:cNvPicPr>
          <p:nvPr/>
        </p:nvPicPr>
        <p:blipFill>
          <a:blip r:embed="rId3"/>
          <a:stretch>
            <a:fillRect/>
          </a:stretch>
        </p:blipFill>
        <p:spPr>
          <a:xfrm>
            <a:off x="8946037" y="5705780"/>
            <a:ext cx="3013797" cy="833817"/>
          </a:xfrm>
          <a:prstGeom prst="rect">
            <a:avLst/>
          </a:prstGeom>
        </p:spPr>
      </p:pic>
    </p:spTree>
    <p:extLst>
      <p:ext uri="{BB962C8B-B14F-4D97-AF65-F5344CB8AC3E}">
        <p14:creationId xmlns:p14="http://schemas.microsoft.com/office/powerpoint/2010/main" val="3511305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F6E1F19-D000-48A2-9A20-485FB8EC50B7}"/>
              </a:ext>
            </a:extLst>
          </p:cNvPr>
          <p:cNvSpPr txBox="1"/>
          <p:nvPr/>
        </p:nvSpPr>
        <p:spPr>
          <a:xfrm>
            <a:off x="839755" y="352380"/>
            <a:ext cx="10366310" cy="2626360"/>
          </a:xfrm>
          <a:prstGeom prst="rect">
            <a:avLst/>
          </a:prstGeom>
          <a:noFill/>
        </p:spPr>
        <p:txBody>
          <a:bodyPr wrap="square" rtlCol="0">
            <a:spAutoFit/>
          </a:bodyPr>
          <a:lstStyle/>
          <a:p>
            <a:pPr algn="just">
              <a:lnSpc>
                <a:spcPct val="150000"/>
              </a:lnSpc>
            </a:pPr>
            <a:r>
              <a:rPr lang="es-ES" sz="2000" dirty="0"/>
              <a:t>Para realizar el </a:t>
            </a:r>
            <a:r>
              <a:rPr lang="es-ES" sz="2000" i="1" dirty="0"/>
              <a:t>benchmarking</a:t>
            </a:r>
            <a:r>
              <a:rPr lang="es-ES" sz="2000" dirty="0"/>
              <a:t> o evaluación comparativa se incluyeron varios algoritmos de planificación:</a:t>
            </a:r>
          </a:p>
          <a:p>
            <a:pPr marL="342900" indent="-342900" algn="just">
              <a:lnSpc>
                <a:spcPct val="150000"/>
              </a:lnSpc>
              <a:buFont typeface="Arial" panose="020B0604020202020204" pitchFamily="34" charset="0"/>
              <a:buChar char="•"/>
            </a:pPr>
            <a:r>
              <a:rPr lang="es-ES" dirty="0"/>
              <a:t>KPIECE1: </a:t>
            </a:r>
            <a:r>
              <a:rPr lang="en-US" dirty="0" err="1"/>
              <a:t>Kinodynamic</a:t>
            </a:r>
            <a:r>
              <a:rPr lang="en-US" dirty="0"/>
              <a:t> Motion Planning by Interior-Exterior Cell Exploration</a:t>
            </a:r>
          </a:p>
          <a:p>
            <a:pPr marL="342900" indent="-342900" algn="just">
              <a:lnSpc>
                <a:spcPct val="150000"/>
              </a:lnSpc>
              <a:buFont typeface="Arial" panose="020B0604020202020204" pitchFamily="34" charset="0"/>
              <a:buChar char="•"/>
            </a:pPr>
            <a:r>
              <a:rPr lang="en-US" dirty="0"/>
              <a:t>PRM: Probabilistic RoadMap</a:t>
            </a:r>
          </a:p>
          <a:p>
            <a:pPr marL="342900" indent="-342900" algn="just">
              <a:lnSpc>
                <a:spcPct val="150000"/>
              </a:lnSpc>
              <a:buFont typeface="Arial" panose="020B0604020202020204" pitchFamily="34" charset="0"/>
              <a:buChar char="•"/>
            </a:pPr>
            <a:r>
              <a:rPr lang="en-US" dirty="0"/>
              <a:t>LazyPRM: Lazy Probabilistic Roadmap</a:t>
            </a:r>
          </a:p>
          <a:p>
            <a:pPr marL="342900" indent="-342900" algn="just">
              <a:lnSpc>
                <a:spcPct val="150000"/>
              </a:lnSpc>
              <a:buFont typeface="Arial" panose="020B0604020202020204" pitchFamily="34" charset="0"/>
              <a:buChar char="•"/>
            </a:pPr>
            <a:r>
              <a:rPr lang="en-US" dirty="0" err="1"/>
              <a:t>RRTConnect</a:t>
            </a:r>
            <a:r>
              <a:rPr lang="en-US" dirty="0"/>
              <a:t>: Rapidly-exploring Random Trees Connect</a:t>
            </a:r>
            <a:endParaRPr lang="es-ES" dirty="0"/>
          </a:p>
        </p:txBody>
      </p:sp>
      <p:sp>
        <p:nvSpPr>
          <p:cNvPr id="3" name="Rectángulo 2">
            <a:extLst>
              <a:ext uri="{FF2B5EF4-FFF2-40B4-BE49-F238E27FC236}">
                <a16:creationId xmlns:a16="http://schemas.microsoft.com/office/drawing/2014/main" id="{60FC6278-1DEB-4ED9-9D32-31197423C917}"/>
              </a:ext>
            </a:extLst>
          </p:cNvPr>
          <p:cNvSpPr/>
          <p:nvPr/>
        </p:nvSpPr>
        <p:spPr>
          <a:xfrm>
            <a:off x="2978252" y="3789738"/>
            <a:ext cx="167951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Geométricos</a:t>
            </a:r>
          </a:p>
        </p:txBody>
      </p:sp>
      <p:sp>
        <p:nvSpPr>
          <p:cNvPr id="6" name="Rectángulo 5">
            <a:extLst>
              <a:ext uri="{FF2B5EF4-FFF2-40B4-BE49-F238E27FC236}">
                <a16:creationId xmlns:a16="http://schemas.microsoft.com/office/drawing/2014/main" id="{9CE98497-3311-4907-8B7B-05C963E7E3D8}"/>
              </a:ext>
            </a:extLst>
          </p:cNvPr>
          <p:cNvSpPr/>
          <p:nvPr/>
        </p:nvSpPr>
        <p:spPr>
          <a:xfrm>
            <a:off x="1398333" y="5192440"/>
            <a:ext cx="167951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LazyPRM</a:t>
            </a:r>
          </a:p>
        </p:txBody>
      </p:sp>
      <p:sp>
        <p:nvSpPr>
          <p:cNvPr id="4" name="Rectángulo 3">
            <a:extLst>
              <a:ext uri="{FF2B5EF4-FFF2-40B4-BE49-F238E27FC236}">
                <a16:creationId xmlns:a16="http://schemas.microsoft.com/office/drawing/2014/main" id="{B9419430-ECCC-48FB-8C68-4F608945FC5E}"/>
              </a:ext>
            </a:extLst>
          </p:cNvPr>
          <p:cNvSpPr/>
          <p:nvPr/>
        </p:nvSpPr>
        <p:spPr>
          <a:xfrm>
            <a:off x="3370983" y="5506253"/>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PRM</a:t>
            </a:r>
          </a:p>
        </p:txBody>
      </p:sp>
      <p:sp>
        <p:nvSpPr>
          <p:cNvPr id="7" name="Rectángulo 6">
            <a:extLst>
              <a:ext uri="{FF2B5EF4-FFF2-40B4-BE49-F238E27FC236}">
                <a16:creationId xmlns:a16="http://schemas.microsoft.com/office/drawing/2014/main" id="{5DC9E9D7-43AA-48D8-A501-A41CF89E5F0B}"/>
              </a:ext>
            </a:extLst>
          </p:cNvPr>
          <p:cNvSpPr/>
          <p:nvPr/>
        </p:nvSpPr>
        <p:spPr>
          <a:xfrm>
            <a:off x="4670270" y="5192440"/>
            <a:ext cx="167951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RRTConnect</a:t>
            </a:r>
          </a:p>
        </p:txBody>
      </p:sp>
      <p:sp>
        <p:nvSpPr>
          <p:cNvPr id="8" name="Rectángulo 7">
            <a:extLst>
              <a:ext uri="{FF2B5EF4-FFF2-40B4-BE49-F238E27FC236}">
                <a16:creationId xmlns:a16="http://schemas.microsoft.com/office/drawing/2014/main" id="{FFBE3866-CAA4-4C57-96DE-153AB3B9CB9C}"/>
              </a:ext>
            </a:extLst>
          </p:cNvPr>
          <p:cNvSpPr/>
          <p:nvPr/>
        </p:nvSpPr>
        <p:spPr>
          <a:xfrm>
            <a:off x="7736409" y="3789738"/>
            <a:ext cx="276946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Basados en control</a:t>
            </a:r>
          </a:p>
        </p:txBody>
      </p:sp>
      <p:sp>
        <p:nvSpPr>
          <p:cNvPr id="9" name="Rectángulo 8">
            <a:extLst>
              <a:ext uri="{FF2B5EF4-FFF2-40B4-BE49-F238E27FC236}">
                <a16:creationId xmlns:a16="http://schemas.microsoft.com/office/drawing/2014/main" id="{A47059FD-F107-4BE5-9711-F7D832A49589}"/>
              </a:ext>
            </a:extLst>
          </p:cNvPr>
          <p:cNvSpPr/>
          <p:nvPr/>
        </p:nvSpPr>
        <p:spPr>
          <a:xfrm>
            <a:off x="8228641" y="5286984"/>
            <a:ext cx="1785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KPIECE1</a:t>
            </a:r>
          </a:p>
        </p:txBody>
      </p:sp>
      <p:cxnSp>
        <p:nvCxnSpPr>
          <p:cNvPr id="11" name="Conector recto de flecha 10">
            <a:extLst>
              <a:ext uri="{FF2B5EF4-FFF2-40B4-BE49-F238E27FC236}">
                <a16:creationId xmlns:a16="http://schemas.microsoft.com/office/drawing/2014/main" id="{49A6C0F5-831D-4FEE-BDF0-F6C75E65AEC8}"/>
              </a:ext>
            </a:extLst>
          </p:cNvPr>
          <p:cNvCxnSpPr>
            <a:stCxn id="3" idx="1"/>
            <a:endCxn id="6" idx="0"/>
          </p:cNvCxnSpPr>
          <p:nvPr/>
        </p:nvCxnSpPr>
        <p:spPr>
          <a:xfrm flipH="1">
            <a:off x="2238089" y="4246938"/>
            <a:ext cx="740163" cy="945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CD2F979B-87F9-4F44-BBAE-16F499179B3A}"/>
              </a:ext>
            </a:extLst>
          </p:cNvPr>
          <p:cNvCxnSpPr>
            <a:stCxn id="3" idx="2"/>
            <a:endCxn id="4" idx="0"/>
          </p:cNvCxnSpPr>
          <p:nvPr/>
        </p:nvCxnSpPr>
        <p:spPr>
          <a:xfrm>
            <a:off x="3818008" y="4704138"/>
            <a:ext cx="10175" cy="802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D436AB73-5E77-47D9-BE1D-DA2D291825F0}"/>
              </a:ext>
            </a:extLst>
          </p:cNvPr>
          <p:cNvCxnSpPr>
            <a:stCxn id="3" idx="3"/>
            <a:endCxn id="7" idx="0"/>
          </p:cNvCxnSpPr>
          <p:nvPr/>
        </p:nvCxnSpPr>
        <p:spPr>
          <a:xfrm>
            <a:off x="4657763" y="4246938"/>
            <a:ext cx="852263" cy="945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7BD37CBB-474C-4325-BAEC-AF1CA2CEE554}"/>
              </a:ext>
            </a:extLst>
          </p:cNvPr>
          <p:cNvCxnSpPr>
            <a:stCxn id="8" idx="2"/>
            <a:endCxn id="9" idx="0"/>
          </p:cNvCxnSpPr>
          <p:nvPr/>
        </p:nvCxnSpPr>
        <p:spPr>
          <a:xfrm>
            <a:off x="9121141" y="4704138"/>
            <a:ext cx="0" cy="58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245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4D6535E-6EC8-48B5-A48A-F6AE6E0F0B88}"/>
              </a:ext>
            </a:extLst>
          </p:cNvPr>
          <p:cNvSpPr txBox="1"/>
          <p:nvPr/>
        </p:nvSpPr>
        <p:spPr>
          <a:xfrm>
            <a:off x="751706" y="1261015"/>
            <a:ext cx="10463689" cy="4196020"/>
          </a:xfrm>
          <a:prstGeom prst="rect">
            <a:avLst/>
          </a:prstGeom>
          <a:noFill/>
        </p:spPr>
        <p:txBody>
          <a:bodyPr wrap="square">
            <a:spAutoFit/>
          </a:bodyPr>
          <a:lstStyle/>
          <a:p>
            <a:pPr algn="just">
              <a:lnSpc>
                <a:spcPct val="150000"/>
              </a:lnSpc>
            </a:pPr>
            <a:r>
              <a:rPr lang="es-ES" dirty="0"/>
              <a:t>Se construye una hoja de ruta generando los estados de forma aleatoria, reduciendo considerablemente el tiempo de cálculo. </a:t>
            </a:r>
          </a:p>
          <a:p>
            <a:pPr algn="just">
              <a:lnSpc>
                <a:spcPct val="150000"/>
              </a:lnSpc>
            </a:pPr>
            <a:r>
              <a:rPr lang="es-ES" dirty="0"/>
              <a:t>Fase de aprendizaje: gran número de puntos son distribuidos uniforme y aleatoriamente en C y los que se encuentran en F (espacio libre) son retenidos como nodos del </a:t>
            </a:r>
            <a:r>
              <a:rPr lang="es-ES" dirty="0" err="1"/>
              <a:t>roadmap</a:t>
            </a:r>
            <a:r>
              <a:rPr lang="es-ES" dirty="0"/>
              <a:t>.</a:t>
            </a:r>
          </a:p>
          <a:p>
            <a:pPr algn="just">
              <a:lnSpc>
                <a:spcPct val="150000"/>
              </a:lnSpc>
            </a:pPr>
            <a:r>
              <a:rPr lang="es-ES" dirty="0"/>
              <a:t>Se utiliza un planificador local para encontrar caminos entre cada par de nodos que estén lo suficientemente cerca. Si encuentra un camino entre dos nodos, lo añade como arco al </a:t>
            </a:r>
            <a:r>
              <a:rPr lang="es-ES" dirty="0" err="1"/>
              <a:t>roadmap</a:t>
            </a:r>
            <a:r>
              <a:rPr lang="es-ES" dirty="0"/>
              <a:t>.</a:t>
            </a:r>
          </a:p>
          <a:p>
            <a:pPr algn="just">
              <a:lnSpc>
                <a:spcPct val="150000"/>
              </a:lnSpc>
            </a:pPr>
            <a:r>
              <a:rPr lang="es-ES" dirty="0"/>
              <a:t>Fase de consulta: Los puntos especificados por el usuario como </a:t>
            </a:r>
            <a:r>
              <a:rPr lang="es-ES" dirty="0" err="1"/>
              <a:t>start</a:t>
            </a:r>
            <a:r>
              <a:rPr lang="es-ES" dirty="0"/>
              <a:t> y </a:t>
            </a:r>
            <a:r>
              <a:rPr lang="es-ES" dirty="0" err="1"/>
              <a:t>goal</a:t>
            </a:r>
            <a:r>
              <a:rPr lang="es-ES" dirty="0"/>
              <a:t> (configuraciones) son conectados al </a:t>
            </a:r>
            <a:r>
              <a:rPr lang="es-ES" dirty="0" err="1"/>
              <a:t>roadmap</a:t>
            </a:r>
            <a:r>
              <a:rPr lang="es-ES" dirty="0"/>
              <a:t> por el planificador local. Entonces se busca en el </a:t>
            </a:r>
            <a:r>
              <a:rPr lang="es-ES" dirty="0" err="1"/>
              <a:t>roadmap</a:t>
            </a:r>
            <a:r>
              <a:rPr lang="es-ES" dirty="0"/>
              <a:t> el camino más corto entre los dos puntos dados.</a:t>
            </a:r>
          </a:p>
        </p:txBody>
      </p:sp>
      <p:sp>
        <p:nvSpPr>
          <p:cNvPr id="6" name="CuadroTexto 5">
            <a:extLst>
              <a:ext uri="{FF2B5EF4-FFF2-40B4-BE49-F238E27FC236}">
                <a16:creationId xmlns:a16="http://schemas.microsoft.com/office/drawing/2014/main" id="{682DEBB0-0305-48BD-B2DF-061B9772BB2A}"/>
              </a:ext>
            </a:extLst>
          </p:cNvPr>
          <p:cNvSpPr txBox="1"/>
          <p:nvPr/>
        </p:nvSpPr>
        <p:spPr>
          <a:xfrm>
            <a:off x="655706" y="421908"/>
            <a:ext cx="6094268" cy="577850"/>
          </a:xfrm>
          <a:prstGeom prst="rect">
            <a:avLst/>
          </a:prstGeom>
          <a:noFill/>
        </p:spPr>
        <p:txBody>
          <a:bodyPr wrap="square">
            <a:spAutoFit/>
          </a:bodyPr>
          <a:lstStyle/>
          <a:p>
            <a:pPr algn="just">
              <a:lnSpc>
                <a:spcPct val="150000"/>
              </a:lnSpc>
            </a:pPr>
            <a:r>
              <a:rPr lang="en-US" sz="2400" dirty="0">
                <a:ln w="0"/>
                <a:solidFill>
                  <a:schemeClr val="accent1"/>
                </a:solidFill>
                <a:effectLst>
                  <a:outerShdw blurRad="38100" dist="25400" dir="5400000" algn="ctr" rotWithShape="0">
                    <a:srgbClr val="6E747A">
                      <a:alpha val="43000"/>
                    </a:srgbClr>
                  </a:outerShdw>
                </a:effectLst>
              </a:rPr>
              <a:t>PRM: Probabilistic RoadMap</a:t>
            </a:r>
          </a:p>
        </p:txBody>
      </p:sp>
    </p:spTree>
    <p:extLst>
      <p:ext uri="{BB962C8B-B14F-4D97-AF65-F5344CB8AC3E}">
        <p14:creationId xmlns:p14="http://schemas.microsoft.com/office/powerpoint/2010/main" val="208393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8B435AE-9622-4A94-BD66-C0405F487D31}"/>
              </a:ext>
            </a:extLst>
          </p:cNvPr>
          <p:cNvSpPr txBox="1"/>
          <p:nvPr/>
        </p:nvSpPr>
        <p:spPr>
          <a:xfrm>
            <a:off x="896649" y="218542"/>
            <a:ext cx="6094268" cy="577850"/>
          </a:xfrm>
          <a:prstGeom prst="rect">
            <a:avLst/>
          </a:prstGeom>
          <a:noFill/>
        </p:spPr>
        <p:txBody>
          <a:bodyPr wrap="square">
            <a:spAutoFit/>
          </a:bodyPr>
          <a:lstStyle/>
          <a:p>
            <a:pPr algn="just">
              <a:lnSpc>
                <a:spcPct val="150000"/>
              </a:lnSpc>
            </a:pPr>
            <a:r>
              <a:rPr lang="en-US" sz="2400" dirty="0">
                <a:ln w="0"/>
                <a:solidFill>
                  <a:schemeClr val="accent1"/>
                </a:solidFill>
                <a:effectLst>
                  <a:outerShdw blurRad="38100" dist="25400" dir="5400000" algn="ctr" rotWithShape="0">
                    <a:srgbClr val="6E747A">
                      <a:alpha val="43000"/>
                    </a:srgbClr>
                  </a:outerShdw>
                </a:effectLst>
              </a:rPr>
              <a:t>LazyPRM: Lazy Probabilistic Roadmap</a:t>
            </a:r>
          </a:p>
        </p:txBody>
      </p:sp>
      <p:sp>
        <p:nvSpPr>
          <p:cNvPr id="5" name="CuadroTexto 4">
            <a:extLst>
              <a:ext uri="{FF2B5EF4-FFF2-40B4-BE49-F238E27FC236}">
                <a16:creationId xmlns:a16="http://schemas.microsoft.com/office/drawing/2014/main" id="{2E5485C9-E711-4DF8-A403-75E40FA0282E}"/>
              </a:ext>
            </a:extLst>
          </p:cNvPr>
          <p:cNvSpPr txBox="1"/>
          <p:nvPr/>
        </p:nvSpPr>
        <p:spPr>
          <a:xfrm>
            <a:off x="896649" y="1120676"/>
            <a:ext cx="10398702" cy="2308324"/>
          </a:xfrm>
          <a:prstGeom prst="rect">
            <a:avLst/>
          </a:prstGeom>
          <a:noFill/>
        </p:spPr>
        <p:txBody>
          <a:bodyPr wrap="square">
            <a:spAutoFit/>
          </a:bodyPr>
          <a:lstStyle/>
          <a:p>
            <a:pPr marL="342900" indent="-342900" algn="just">
              <a:buFont typeface="Arial" panose="020B0604020202020204" pitchFamily="34" charset="0"/>
              <a:buChar char="•"/>
            </a:pPr>
            <a:r>
              <a:rPr lang="es-ES" sz="1800" dirty="0"/>
              <a:t>El algoritmo es similar al PRM original en el sentido de que el objetivo es encontrar el camino más corto en un </a:t>
            </a:r>
            <a:r>
              <a:rPr lang="en-US" sz="1800" i="1" dirty="0"/>
              <a:t>roadmap</a:t>
            </a:r>
            <a:r>
              <a:rPr lang="es-ES" sz="1800" dirty="0"/>
              <a:t> generado por configuraciones distribuidas aleatoriamente. </a:t>
            </a:r>
          </a:p>
          <a:p>
            <a:pPr marL="342900" indent="-342900" algn="just">
              <a:buFont typeface="Arial" panose="020B0604020202020204" pitchFamily="34" charset="0"/>
              <a:buChar char="•"/>
            </a:pPr>
            <a:endParaRPr lang="es-ES" sz="1800" dirty="0"/>
          </a:p>
          <a:p>
            <a:pPr marL="342900" indent="-342900" algn="just">
              <a:buFont typeface="Arial" panose="020B0604020202020204" pitchFamily="34" charset="0"/>
              <a:buChar char="•"/>
            </a:pPr>
            <a:r>
              <a:rPr lang="es-ES" sz="1800" dirty="0"/>
              <a:t>A diferencia de los PMR existentes, no se construye un </a:t>
            </a:r>
            <a:r>
              <a:rPr lang="en-US" sz="1800" i="1" dirty="0"/>
              <a:t>roadmap</a:t>
            </a:r>
            <a:r>
              <a:rPr lang="es-ES" sz="1800" dirty="0"/>
              <a:t> de caminos factibles, sino más bien un </a:t>
            </a:r>
            <a:r>
              <a:rPr lang="en-US" sz="1800" i="1" dirty="0"/>
              <a:t>roadmap</a:t>
            </a:r>
            <a:r>
              <a:rPr lang="es-ES" sz="1800" dirty="0"/>
              <a:t> de caminos que se asumen como factibles. La idea es evaluar perezosamente la viabilidad del </a:t>
            </a:r>
            <a:r>
              <a:rPr lang="en-US" sz="1800" i="1" dirty="0"/>
              <a:t>roadmap</a:t>
            </a:r>
            <a:r>
              <a:rPr lang="es-ES" sz="1800" dirty="0"/>
              <a:t> a medida que se procesan las consultas de planificación.</a:t>
            </a:r>
          </a:p>
        </p:txBody>
      </p:sp>
      <p:pic>
        <p:nvPicPr>
          <p:cNvPr id="6" name="Imagen 5">
            <a:extLst>
              <a:ext uri="{FF2B5EF4-FFF2-40B4-BE49-F238E27FC236}">
                <a16:creationId xmlns:a16="http://schemas.microsoft.com/office/drawing/2014/main" id="{35849BD3-AE3C-4F08-8F8F-6FDAE2B4B93D}"/>
              </a:ext>
            </a:extLst>
          </p:cNvPr>
          <p:cNvPicPr>
            <a:picLocks noChangeAspect="1"/>
          </p:cNvPicPr>
          <p:nvPr/>
        </p:nvPicPr>
        <p:blipFill rotWithShape="1">
          <a:blip r:embed="rId2"/>
          <a:srcRect l="48647" t="1446" r="6720" b="29420"/>
          <a:stretch/>
        </p:blipFill>
        <p:spPr>
          <a:xfrm>
            <a:off x="4979588" y="3753284"/>
            <a:ext cx="2632225" cy="2637866"/>
          </a:xfrm>
          <a:prstGeom prst="rect">
            <a:avLst/>
          </a:prstGeom>
        </p:spPr>
      </p:pic>
    </p:spTree>
    <p:extLst>
      <p:ext uri="{BB962C8B-B14F-4D97-AF65-F5344CB8AC3E}">
        <p14:creationId xmlns:p14="http://schemas.microsoft.com/office/powerpoint/2010/main" val="4174272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4A4EFE0-864E-4CE6-B61B-7FBF8A8D29F3}"/>
              </a:ext>
            </a:extLst>
          </p:cNvPr>
          <p:cNvSpPr txBox="1"/>
          <p:nvPr/>
        </p:nvSpPr>
        <p:spPr>
          <a:xfrm>
            <a:off x="877078" y="72737"/>
            <a:ext cx="8668775" cy="577850"/>
          </a:xfrm>
          <a:prstGeom prst="rect">
            <a:avLst/>
          </a:prstGeom>
          <a:noFill/>
        </p:spPr>
        <p:txBody>
          <a:bodyPr wrap="square">
            <a:spAutoFit/>
          </a:bodyPr>
          <a:lstStyle/>
          <a:p>
            <a:pPr algn="just">
              <a:lnSpc>
                <a:spcPct val="150000"/>
              </a:lnSpc>
            </a:pPr>
            <a:r>
              <a:rPr lang="en-US" sz="2400" dirty="0" err="1">
                <a:ln w="0"/>
                <a:solidFill>
                  <a:schemeClr val="accent1"/>
                </a:solidFill>
                <a:effectLst>
                  <a:outerShdw blurRad="38100" dist="25400" dir="5400000" algn="ctr" rotWithShape="0">
                    <a:srgbClr val="6E747A">
                      <a:alpha val="43000"/>
                    </a:srgbClr>
                  </a:outerShdw>
                </a:effectLst>
              </a:rPr>
              <a:t>RRTConnect</a:t>
            </a:r>
            <a:r>
              <a:rPr lang="en-US" sz="2400" dirty="0">
                <a:ln w="0"/>
                <a:solidFill>
                  <a:schemeClr val="accent1"/>
                </a:solidFill>
                <a:effectLst>
                  <a:outerShdw blurRad="38100" dist="25400" dir="5400000" algn="ctr" rotWithShape="0">
                    <a:srgbClr val="6E747A">
                      <a:alpha val="43000"/>
                    </a:srgbClr>
                  </a:outerShdw>
                </a:effectLst>
              </a:rPr>
              <a:t>: Rapidly-exploring Random Trees Connect</a:t>
            </a:r>
            <a:endParaRPr lang="es-ES" sz="2400" dirty="0">
              <a:ln w="0"/>
              <a:solidFill>
                <a:schemeClr val="accent1"/>
              </a:solidFill>
              <a:effectLst>
                <a:outerShdw blurRad="38100" dist="25400" dir="5400000" algn="ctr" rotWithShape="0">
                  <a:srgbClr val="6E747A">
                    <a:alpha val="43000"/>
                  </a:srgbClr>
                </a:outerShdw>
              </a:effectLst>
            </a:endParaRPr>
          </a:p>
        </p:txBody>
      </p:sp>
      <p:sp>
        <p:nvSpPr>
          <p:cNvPr id="8" name="CuadroTexto 7">
            <a:extLst>
              <a:ext uri="{FF2B5EF4-FFF2-40B4-BE49-F238E27FC236}">
                <a16:creationId xmlns:a16="http://schemas.microsoft.com/office/drawing/2014/main" id="{6CB04642-7F3D-444A-901B-0C10E7A51321}"/>
              </a:ext>
            </a:extLst>
          </p:cNvPr>
          <p:cNvSpPr txBox="1"/>
          <p:nvPr/>
        </p:nvSpPr>
        <p:spPr>
          <a:xfrm>
            <a:off x="877078" y="650587"/>
            <a:ext cx="10618235" cy="2534027"/>
          </a:xfrm>
          <a:prstGeom prst="rect">
            <a:avLst/>
          </a:prstGeom>
          <a:noFill/>
        </p:spPr>
        <p:txBody>
          <a:bodyPr wrap="square">
            <a:spAutoFit/>
          </a:bodyPr>
          <a:lstStyle/>
          <a:p>
            <a:pPr algn="just">
              <a:lnSpc>
                <a:spcPct val="150000"/>
              </a:lnSpc>
            </a:pPr>
            <a:r>
              <a:rPr lang="es-ES" dirty="0"/>
              <a:t>Dos árboles </a:t>
            </a:r>
            <a:r>
              <a:rPr lang="es-ES" dirty="0" err="1"/>
              <a:t>Τa</a:t>
            </a:r>
            <a:r>
              <a:rPr lang="es-ES" dirty="0"/>
              <a:t> y </a:t>
            </a:r>
            <a:r>
              <a:rPr lang="es-ES" dirty="0" err="1"/>
              <a:t>Τb</a:t>
            </a:r>
            <a:r>
              <a:rPr lang="es-ES" dirty="0"/>
              <a:t> (desde </a:t>
            </a:r>
            <a:r>
              <a:rPr lang="es-ES" dirty="0" err="1"/>
              <a:t>qinit</a:t>
            </a:r>
            <a:r>
              <a:rPr lang="es-ES" dirty="0"/>
              <a:t> y </a:t>
            </a:r>
            <a:r>
              <a:rPr lang="es-ES" dirty="0" err="1"/>
              <a:t>qgoal</a:t>
            </a:r>
            <a:r>
              <a:rPr lang="es-ES" dirty="0"/>
              <a:t>) se mantienen en todo momento hasta que se conectan y se encuentra una solución. En cada iteración, se extiende un árbol y se intenta conectar el vértice más cercano del otro árbol al nuevo vértice. A continuación, los papeles se invierten intercambiando los dos árboles. Esto hace que ambos árboles exploren </a:t>
            </a:r>
            <a:r>
              <a:rPr lang="es-ES" dirty="0" err="1"/>
              <a:t>Cfree</a:t>
            </a:r>
            <a:r>
              <a:rPr lang="es-ES" dirty="0"/>
              <a:t>, mientras intentan establecer una conexión entre ellos. Se intenta que los árboles también crezcan uno hacia el otro, lo que produce un rendimiento mucho mejor.</a:t>
            </a:r>
          </a:p>
        </p:txBody>
      </p:sp>
      <p:pic>
        <p:nvPicPr>
          <p:cNvPr id="12" name="Imagen 11">
            <a:extLst>
              <a:ext uri="{FF2B5EF4-FFF2-40B4-BE49-F238E27FC236}">
                <a16:creationId xmlns:a16="http://schemas.microsoft.com/office/drawing/2014/main" id="{612515BE-E664-4A1E-86C1-2D3FE5C68330}"/>
              </a:ext>
            </a:extLst>
          </p:cNvPr>
          <p:cNvPicPr>
            <a:picLocks noChangeAspect="1"/>
          </p:cNvPicPr>
          <p:nvPr/>
        </p:nvPicPr>
        <p:blipFill>
          <a:blip r:embed="rId2"/>
          <a:stretch>
            <a:fillRect/>
          </a:stretch>
        </p:blipFill>
        <p:spPr>
          <a:xfrm>
            <a:off x="3885244" y="3356263"/>
            <a:ext cx="3542757" cy="3429000"/>
          </a:xfrm>
          <a:prstGeom prst="rect">
            <a:avLst/>
          </a:prstGeom>
        </p:spPr>
      </p:pic>
    </p:spTree>
    <p:extLst>
      <p:ext uri="{BB962C8B-B14F-4D97-AF65-F5344CB8AC3E}">
        <p14:creationId xmlns:p14="http://schemas.microsoft.com/office/powerpoint/2010/main" val="3257063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776EFA2-8F1F-4BC7-B4F3-D0ECFAA7987E}"/>
              </a:ext>
            </a:extLst>
          </p:cNvPr>
          <p:cNvSpPr txBox="1"/>
          <p:nvPr/>
        </p:nvSpPr>
        <p:spPr>
          <a:xfrm>
            <a:off x="712979" y="307463"/>
            <a:ext cx="10766042" cy="577850"/>
          </a:xfrm>
          <a:prstGeom prst="rect">
            <a:avLst/>
          </a:prstGeom>
          <a:noFill/>
        </p:spPr>
        <p:txBody>
          <a:bodyPr wrap="square">
            <a:spAutoFit/>
          </a:bodyPr>
          <a:lstStyle/>
          <a:p>
            <a:pPr algn="just">
              <a:lnSpc>
                <a:spcPct val="150000"/>
              </a:lnSpc>
            </a:pPr>
            <a:r>
              <a:rPr lang="es-ES" sz="2400" dirty="0">
                <a:ln w="0"/>
                <a:solidFill>
                  <a:schemeClr val="accent1"/>
                </a:solidFill>
                <a:effectLst>
                  <a:outerShdw blurRad="38100" dist="25400" dir="5400000" algn="ctr" rotWithShape="0">
                    <a:srgbClr val="6E747A">
                      <a:alpha val="43000"/>
                    </a:srgbClr>
                  </a:outerShdw>
                </a:effectLst>
              </a:rPr>
              <a:t>KPIECE1: </a:t>
            </a:r>
            <a:r>
              <a:rPr lang="en-US" sz="2400" dirty="0" err="1">
                <a:ln w="0"/>
                <a:solidFill>
                  <a:schemeClr val="accent1"/>
                </a:solidFill>
                <a:effectLst>
                  <a:outerShdw blurRad="38100" dist="25400" dir="5400000" algn="ctr" rotWithShape="0">
                    <a:srgbClr val="6E747A">
                      <a:alpha val="43000"/>
                    </a:srgbClr>
                  </a:outerShdw>
                </a:effectLst>
              </a:rPr>
              <a:t>Kinodynamic</a:t>
            </a:r>
            <a:r>
              <a:rPr lang="en-US" sz="2400" dirty="0">
                <a:ln w="0"/>
                <a:solidFill>
                  <a:schemeClr val="accent1"/>
                </a:solidFill>
                <a:effectLst>
                  <a:outerShdw blurRad="38100" dist="25400" dir="5400000" algn="ctr" rotWithShape="0">
                    <a:srgbClr val="6E747A">
                      <a:alpha val="43000"/>
                    </a:srgbClr>
                  </a:outerShdw>
                </a:effectLst>
              </a:rPr>
              <a:t> Motion Planning by Interior-Exterior Cell Exploration</a:t>
            </a:r>
          </a:p>
        </p:txBody>
      </p:sp>
      <p:sp>
        <p:nvSpPr>
          <p:cNvPr id="5" name="CuadroTexto 4">
            <a:extLst>
              <a:ext uri="{FF2B5EF4-FFF2-40B4-BE49-F238E27FC236}">
                <a16:creationId xmlns:a16="http://schemas.microsoft.com/office/drawing/2014/main" id="{A63A76B7-3825-42E5-9BAB-0CF728AD7E67}"/>
              </a:ext>
            </a:extLst>
          </p:cNvPr>
          <p:cNvSpPr txBox="1"/>
          <p:nvPr/>
        </p:nvSpPr>
        <p:spPr>
          <a:xfrm>
            <a:off x="737118" y="1683695"/>
            <a:ext cx="10527689" cy="2118529"/>
          </a:xfrm>
          <a:prstGeom prst="rect">
            <a:avLst/>
          </a:prstGeom>
          <a:noFill/>
        </p:spPr>
        <p:txBody>
          <a:bodyPr wrap="square">
            <a:spAutoFit/>
          </a:bodyPr>
          <a:lstStyle/>
          <a:p>
            <a:pPr algn="just">
              <a:lnSpc>
                <a:spcPct val="150000"/>
              </a:lnSpc>
            </a:pPr>
            <a:r>
              <a:rPr lang="es-ES" dirty="0"/>
              <a:t>Planificador con estructura de  árbol que usa una discretización basada en celdas a múltiples niveles para estimar la cobertura del espacio de estado. La estimación de la cobertura ayuda al planificador a detectar  áreas menos exploradas del espacio de estados. Esta específicamente diseñado para sistemas con dinámicas complejas, donde es necesario una simulación basada en la física.</a:t>
            </a:r>
          </a:p>
        </p:txBody>
      </p:sp>
    </p:spTree>
    <p:extLst>
      <p:ext uri="{BB962C8B-B14F-4D97-AF65-F5344CB8AC3E}">
        <p14:creationId xmlns:p14="http://schemas.microsoft.com/office/powerpoint/2010/main" val="3141722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2221D3B-B606-4D82-9450-30BDC56BF469}"/>
              </a:ext>
            </a:extLst>
          </p:cNvPr>
          <p:cNvPicPr>
            <a:picLocks noChangeAspect="1"/>
          </p:cNvPicPr>
          <p:nvPr/>
        </p:nvPicPr>
        <p:blipFill>
          <a:blip r:embed="rId2"/>
          <a:stretch>
            <a:fillRect/>
          </a:stretch>
        </p:blipFill>
        <p:spPr>
          <a:xfrm>
            <a:off x="806221" y="1161417"/>
            <a:ext cx="10097291" cy="5091016"/>
          </a:xfrm>
          <a:prstGeom prst="rect">
            <a:avLst/>
          </a:prstGeom>
        </p:spPr>
      </p:pic>
      <p:sp>
        <p:nvSpPr>
          <p:cNvPr id="4" name="CuadroTexto 3">
            <a:extLst>
              <a:ext uri="{FF2B5EF4-FFF2-40B4-BE49-F238E27FC236}">
                <a16:creationId xmlns:a16="http://schemas.microsoft.com/office/drawing/2014/main" id="{E564F38C-3217-479B-8A9F-29D18FFD4ADA}"/>
              </a:ext>
            </a:extLst>
          </p:cNvPr>
          <p:cNvSpPr txBox="1"/>
          <p:nvPr/>
        </p:nvSpPr>
        <p:spPr>
          <a:xfrm>
            <a:off x="806221" y="231494"/>
            <a:ext cx="4844291" cy="461665"/>
          </a:xfrm>
          <a:prstGeom prst="rect">
            <a:avLst/>
          </a:prstGeom>
          <a:noFill/>
        </p:spPr>
        <p:txBody>
          <a:bodyPr wrap="square" rtlCol="0">
            <a:spAutoFit/>
          </a:bodyPr>
          <a:lstStyle/>
          <a:p>
            <a:r>
              <a:rPr lang="es-ES" sz="2400" u="sng" dirty="0">
                <a:ln w="0"/>
                <a:solidFill>
                  <a:schemeClr val="accent1"/>
                </a:solidFill>
                <a:effectLst>
                  <a:outerShdw blurRad="38100" dist="25400" dir="5400000" algn="ctr" rotWithShape="0">
                    <a:srgbClr val="6E747A">
                      <a:alpha val="43000"/>
                    </a:srgbClr>
                  </a:outerShdw>
                </a:effectLst>
              </a:rPr>
              <a:t>Escenario diseñado</a:t>
            </a:r>
          </a:p>
        </p:txBody>
      </p:sp>
    </p:spTree>
    <p:extLst>
      <p:ext uri="{BB962C8B-B14F-4D97-AF65-F5344CB8AC3E}">
        <p14:creationId xmlns:p14="http://schemas.microsoft.com/office/powerpoint/2010/main" val="2078839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0DBB7E6-5C38-4BD1-8833-DF5AE466368E}"/>
              </a:ext>
            </a:extLst>
          </p:cNvPr>
          <p:cNvPicPr>
            <a:picLocks noChangeAspect="1"/>
          </p:cNvPicPr>
          <p:nvPr/>
        </p:nvPicPr>
        <p:blipFill>
          <a:blip r:embed="rId2"/>
          <a:stretch>
            <a:fillRect/>
          </a:stretch>
        </p:blipFill>
        <p:spPr>
          <a:xfrm>
            <a:off x="980836" y="1197742"/>
            <a:ext cx="9963589" cy="5085312"/>
          </a:xfrm>
          <a:prstGeom prst="rect">
            <a:avLst/>
          </a:prstGeom>
        </p:spPr>
      </p:pic>
    </p:spTree>
    <p:extLst>
      <p:ext uri="{BB962C8B-B14F-4D97-AF65-F5344CB8AC3E}">
        <p14:creationId xmlns:p14="http://schemas.microsoft.com/office/powerpoint/2010/main" val="1699466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E02F29A-B63C-4C35-91F8-B7B2931B89F8}"/>
              </a:ext>
            </a:extLst>
          </p:cNvPr>
          <p:cNvSpPr txBox="1"/>
          <p:nvPr/>
        </p:nvSpPr>
        <p:spPr>
          <a:xfrm>
            <a:off x="786245" y="1433946"/>
            <a:ext cx="10619509" cy="2532681"/>
          </a:xfrm>
          <a:prstGeom prst="rect">
            <a:avLst/>
          </a:prstGeom>
          <a:noFill/>
        </p:spPr>
        <p:txBody>
          <a:bodyPr wrap="square" rtlCol="0">
            <a:spAutoFit/>
          </a:bodyPr>
          <a:lstStyle/>
          <a:p>
            <a:pPr algn="just">
              <a:lnSpc>
                <a:spcPct val="150000"/>
              </a:lnSpc>
            </a:pPr>
            <a:r>
              <a:rPr lang="es-ES" dirty="0"/>
              <a:t>Es importante destacar que el escenario utilizado, así como el robot, no son los mejores para probar las diferencias más notables entre los algoritmos a comparar. No vale para poner a prueba los puntos fuertes de dichos algoritmos, como puede ser el caso de LazyPRM y su empleo para robots con muchos </a:t>
            </a:r>
            <a:r>
              <a:rPr lang="es-ES" dirty="0" err="1"/>
              <a:t>dof</a:t>
            </a:r>
            <a:r>
              <a:rPr lang="es-ES" dirty="0"/>
              <a:t> y en entornos cambiantes. </a:t>
            </a:r>
          </a:p>
          <a:p>
            <a:pPr algn="just">
              <a:lnSpc>
                <a:spcPct val="150000"/>
              </a:lnSpc>
            </a:pPr>
            <a:r>
              <a:rPr lang="es-ES" dirty="0"/>
              <a:t>Las limitaciones del escenario y del robot radican básicamente en mi falta de experticia trabajando con herramientas de modelado en 3D. </a:t>
            </a:r>
          </a:p>
        </p:txBody>
      </p:sp>
    </p:spTree>
    <p:extLst>
      <p:ext uri="{BB962C8B-B14F-4D97-AF65-F5344CB8AC3E}">
        <p14:creationId xmlns:p14="http://schemas.microsoft.com/office/powerpoint/2010/main" val="1445549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89BA423-058C-4A14-8B7A-B4ECFD617BBA}"/>
              </a:ext>
            </a:extLst>
          </p:cNvPr>
          <p:cNvSpPr txBox="1"/>
          <p:nvPr/>
        </p:nvSpPr>
        <p:spPr>
          <a:xfrm>
            <a:off x="561109" y="488262"/>
            <a:ext cx="7065818" cy="461665"/>
          </a:xfrm>
          <a:prstGeom prst="rect">
            <a:avLst/>
          </a:prstGeom>
          <a:noFill/>
        </p:spPr>
        <p:txBody>
          <a:bodyPr wrap="square" rtlCol="0">
            <a:spAutoFit/>
          </a:bodyPr>
          <a:lstStyle/>
          <a:p>
            <a:r>
              <a:rPr lang="es-ES" sz="2400" u="sng" dirty="0">
                <a:ln w="0"/>
                <a:solidFill>
                  <a:schemeClr val="accent1"/>
                </a:solidFill>
                <a:effectLst>
                  <a:outerShdw blurRad="38100" dist="25400" dir="5400000" algn="ctr" rotWithShape="0">
                    <a:srgbClr val="6E747A">
                      <a:alpha val="43000"/>
                    </a:srgbClr>
                  </a:outerShdw>
                </a:effectLst>
              </a:rPr>
              <a:t>Configuración del benchmarking</a:t>
            </a:r>
          </a:p>
        </p:txBody>
      </p:sp>
      <p:sp>
        <p:nvSpPr>
          <p:cNvPr id="4" name="CuadroTexto 3">
            <a:extLst>
              <a:ext uri="{FF2B5EF4-FFF2-40B4-BE49-F238E27FC236}">
                <a16:creationId xmlns:a16="http://schemas.microsoft.com/office/drawing/2014/main" id="{B17EECAF-FA2D-4016-BAC4-EFE1B2F0BAAB}"/>
              </a:ext>
            </a:extLst>
          </p:cNvPr>
          <p:cNvSpPr txBox="1"/>
          <p:nvPr/>
        </p:nvSpPr>
        <p:spPr>
          <a:xfrm>
            <a:off x="561109" y="1137103"/>
            <a:ext cx="6094268" cy="923330"/>
          </a:xfrm>
          <a:prstGeom prst="rect">
            <a:avLst/>
          </a:prstGeom>
          <a:noFill/>
        </p:spPr>
        <p:txBody>
          <a:bodyPr wrap="square">
            <a:spAutoFit/>
          </a:bodyPr>
          <a:lstStyle/>
          <a:p>
            <a:r>
              <a:rPr lang="es-ES"/>
              <a:t>Límite de tiempo = 15
Límite de memoria = 10000
Recuento de ejecuciones = 5</a:t>
            </a:r>
            <a:endParaRPr lang="es-ES" dirty="0"/>
          </a:p>
        </p:txBody>
      </p:sp>
      <p:graphicFrame>
        <p:nvGraphicFramePr>
          <p:cNvPr id="5" name="Diagrama 4">
            <a:extLst>
              <a:ext uri="{FF2B5EF4-FFF2-40B4-BE49-F238E27FC236}">
                <a16:creationId xmlns:a16="http://schemas.microsoft.com/office/drawing/2014/main" id="{BA49EB50-CF12-469B-B8E5-8B69C57E687A}"/>
              </a:ext>
            </a:extLst>
          </p:cNvPr>
          <p:cNvGraphicFramePr/>
          <p:nvPr>
            <p:extLst>
              <p:ext uri="{D42A27DB-BD31-4B8C-83A1-F6EECF244321}">
                <p14:modId xmlns:p14="http://schemas.microsoft.com/office/powerpoint/2010/main" val="1137302421"/>
              </p:ext>
            </p:extLst>
          </p:nvPr>
        </p:nvGraphicFramePr>
        <p:xfrm>
          <a:off x="561109" y="3235601"/>
          <a:ext cx="9870893" cy="29033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uadroTexto 5">
            <a:extLst>
              <a:ext uri="{FF2B5EF4-FFF2-40B4-BE49-F238E27FC236}">
                <a16:creationId xmlns:a16="http://schemas.microsoft.com/office/drawing/2014/main" id="{79B67366-1BAE-49F5-B905-32250A9A02DC}"/>
              </a:ext>
            </a:extLst>
          </p:cNvPr>
          <p:cNvSpPr txBox="1"/>
          <p:nvPr/>
        </p:nvSpPr>
        <p:spPr>
          <a:xfrm>
            <a:off x="561109" y="2664766"/>
            <a:ext cx="7065818" cy="461665"/>
          </a:xfrm>
          <a:prstGeom prst="rect">
            <a:avLst/>
          </a:prstGeom>
          <a:noFill/>
        </p:spPr>
        <p:txBody>
          <a:bodyPr wrap="square" rtlCol="0">
            <a:spAutoFit/>
          </a:bodyPr>
          <a:lstStyle/>
          <a:p>
            <a:r>
              <a:rPr lang="es-ES" sz="2400" u="sng" dirty="0">
                <a:ln w="0"/>
                <a:solidFill>
                  <a:schemeClr val="accent1"/>
                </a:solidFill>
                <a:effectLst>
                  <a:outerShdw blurRad="38100" dist="25400" dir="5400000" algn="ctr" rotWithShape="0">
                    <a:srgbClr val="6E747A">
                      <a:alpha val="43000"/>
                    </a:srgbClr>
                  </a:outerShdw>
                </a:effectLst>
              </a:rPr>
              <a:t>Configuración de los algoritmos a comparar</a:t>
            </a:r>
          </a:p>
        </p:txBody>
      </p:sp>
    </p:spTree>
    <p:extLst>
      <p:ext uri="{BB962C8B-B14F-4D97-AF65-F5344CB8AC3E}">
        <p14:creationId xmlns:p14="http://schemas.microsoft.com/office/powerpoint/2010/main" val="1799912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1FAFCB7-B4BB-4AA1-A4AB-60F13ECE0A68}"/>
              </a:ext>
            </a:extLst>
          </p:cNvPr>
          <p:cNvSpPr txBox="1"/>
          <p:nvPr/>
        </p:nvSpPr>
        <p:spPr>
          <a:xfrm>
            <a:off x="333781" y="312575"/>
            <a:ext cx="9599927" cy="461665"/>
          </a:xfrm>
          <a:prstGeom prst="rect">
            <a:avLst/>
          </a:prstGeom>
          <a:noFill/>
        </p:spPr>
        <p:txBody>
          <a:bodyPr wrap="square">
            <a:spAutoFit/>
          </a:bodyPr>
          <a:lstStyle/>
          <a:p>
            <a:r>
              <a:rPr lang="es-ES" sz="2400" u="sng" dirty="0">
                <a:ln w="0"/>
                <a:solidFill>
                  <a:schemeClr val="accent1"/>
                </a:solidFill>
                <a:effectLst>
                  <a:outerShdw blurRad="38100" dist="25400" dir="5400000" algn="ctr" rotWithShape="0">
                    <a:srgbClr val="6E747A">
                      <a:alpha val="43000"/>
                    </a:srgbClr>
                  </a:outerShdw>
                </a:effectLst>
                <a:latin typeface="Lucida Grande"/>
              </a:rPr>
              <a:t>La cantidad de tiempo dedicado a la planificación, en segundos</a:t>
            </a:r>
            <a:endParaRPr lang="es-ES" sz="2400" u="sng" dirty="0">
              <a:ln w="0"/>
              <a:solidFill>
                <a:schemeClr val="accent1"/>
              </a:solidFill>
              <a:effectLst>
                <a:outerShdw blurRad="38100" dist="25400" dir="5400000" algn="ctr" rotWithShape="0">
                  <a:srgbClr val="6E747A">
                    <a:alpha val="43000"/>
                  </a:srgbClr>
                </a:outerShdw>
              </a:effectLst>
            </a:endParaRPr>
          </a:p>
        </p:txBody>
      </p:sp>
      <p:pic>
        <p:nvPicPr>
          <p:cNvPr id="4" name="Imagen 3">
            <a:extLst>
              <a:ext uri="{FF2B5EF4-FFF2-40B4-BE49-F238E27FC236}">
                <a16:creationId xmlns:a16="http://schemas.microsoft.com/office/drawing/2014/main" id="{0A629CD9-E2CD-4AA9-82F3-46150BAD6E34}"/>
              </a:ext>
            </a:extLst>
          </p:cNvPr>
          <p:cNvPicPr>
            <a:picLocks noChangeAspect="1"/>
          </p:cNvPicPr>
          <p:nvPr/>
        </p:nvPicPr>
        <p:blipFill>
          <a:blip r:embed="rId2"/>
          <a:stretch>
            <a:fillRect/>
          </a:stretch>
        </p:blipFill>
        <p:spPr>
          <a:xfrm>
            <a:off x="333781" y="1411146"/>
            <a:ext cx="4805478" cy="4783160"/>
          </a:xfrm>
          <a:prstGeom prst="rect">
            <a:avLst/>
          </a:prstGeom>
        </p:spPr>
      </p:pic>
      <p:sp>
        <p:nvSpPr>
          <p:cNvPr id="2" name="CuadroTexto 1">
            <a:extLst>
              <a:ext uri="{FF2B5EF4-FFF2-40B4-BE49-F238E27FC236}">
                <a16:creationId xmlns:a16="http://schemas.microsoft.com/office/drawing/2014/main" id="{DA0B72FC-3DB2-4660-B6A4-EB0F70904A35}"/>
              </a:ext>
            </a:extLst>
          </p:cNvPr>
          <p:cNvSpPr txBox="1"/>
          <p:nvPr/>
        </p:nvSpPr>
        <p:spPr>
          <a:xfrm>
            <a:off x="5424054" y="1270045"/>
            <a:ext cx="6340645" cy="2532681"/>
          </a:xfrm>
          <a:prstGeom prst="rect">
            <a:avLst/>
          </a:prstGeom>
          <a:noFill/>
        </p:spPr>
        <p:txBody>
          <a:bodyPr wrap="square" rtlCol="0">
            <a:spAutoFit/>
          </a:bodyPr>
          <a:lstStyle/>
          <a:p>
            <a:pPr>
              <a:lnSpc>
                <a:spcPct val="150000"/>
              </a:lnSpc>
            </a:pPr>
            <a:r>
              <a:rPr lang="es-ES" dirty="0"/>
              <a:t>El tiempo de planificación es el tiempo que tarda el algoritmo en encontrar una solución válida. Este parámetro puede ser in indicativo de la eficiencia del algoritmo, aunque en ocasiones, tiempos de ejecución más cortos pueden sacrificar la suavidad de la solución</a:t>
            </a:r>
          </a:p>
        </p:txBody>
      </p:sp>
      <p:sp>
        <p:nvSpPr>
          <p:cNvPr id="3" name="CuadroTexto 2">
            <a:extLst>
              <a:ext uri="{FF2B5EF4-FFF2-40B4-BE49-F238E27FC236}">
                <a16:creationId xmlns:a16="http://schemas.microsoft.com/office/drawing/2014/main" id="{EDF9D1D0-4941-40A4-8FF4-5EA03FF10780}"/>
              </a:ext>
            </a:extLst>
          </p:cNvPr>
          <p:cNvSpPr txBox="1"/>
          <p:nvPr/>
        </p:nvSpPr>
        <p:spPr>
          <a:xfrm>
            <a:off x="5507181" y="3872785"/>
            <a:ext cx="6174390" cy="25326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dirty="0"/>
              <a:t>PRM es el algoritmo que más tarda en la planificación</a:t>
            </a:r>
          </a:p>
          <a:p>
            <a:pPr marL="285750" indent="-285750">
              <a:lnSpc>
                <a:spcPct val="150000"/>
              </a:lnSpc>
              <a:buFont typeface="Arial" panose="020B0604020202020204" pitchFamily="34" charset="0"/>
              <a:buChar char="•"/>
            </a:pPr>
            <a:r>
              <a:rPr lang="es-ES" dirty="0"/>
              <a:t>KPIECE es el que menos tarda</a:t>
            </a:r>
          </a:p>
          <a:p>
            <a:pPr marL="285750" indent="-285750">
              <a:lnSpc>
                <a:spcPct val="150000"/>
              </a:lnSpc>
              <a:buFont typeface="Arial" panose="020B0604020202020204" pitchFamily="34" charset="0"/>
              <a:buChar char="•"/>
            </a:pPr>
            <a:r>
              <a:rPr lang="es-ES" dirty="0"/>
              <a:t>Los rangos de tiempo de LazyPRM y RRTConnect son bastante similares, a diferencia de la mediana, que en RRTConnect es menor</a:t>
            </a:r>
          </a:p>
        </p:txBody>
      </p:sp>
    </p:spTree>
    <p:extLst>
      <p:ext uri="{BB962C8B-B14F-4D97-AF65-F5344CB8AC3E}">
        <p14:creationId xmlns:p14="http://schemas.microsoft.com/office/powerpoint/2010/main" val="262887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01E0B34-6973-4790-B161-477AA99A9461}"/>
              </a:ext>
            </a:extLst>
          </p:cNvPr>
          <p:cNvSpPr txBox="1"/>
          <p:nvPr/>
        </p:nvSpPr>
        <p:spPr>
          <a:xfrm>
            <a:off x="112289" y="209878"/>
            <a:ext cx="11967422" cy="461665"/>
          </a:xfrm>
          <a:prstGeom prst="rect">
            <a:avLst/>
          </a:prstGeom>
          <a:noFill/>
        </p:spPr>
        <p:txBody>
          <a:bodyPr wrap="square">
            <a:spAutoFit/>
          </a:bodyPr>
          <a:lstStyle/>
          <a:p>
            <a:r>
              <a:rPr lang="es-ES" sz="2400" u="sng" dirty="0">
                <a:ln w="0"/>
                <a:solidFill>
                  <a:schemeClr val="accent1"/>
                </a:solidFill>
                <a:effectLst>
                  <a:outerShdw blurRad="38100" dist="25400" dir="5400000" algn="ctr" rotWithShape="0">
                    <a:srgbClr val="6E747A">
                      <a:alpha val="43000"/>
                    </a:srgbClr>
                  </a:outerShdw>
                </a:effectLst>
                <a:latin typeface="Lucida Grande"/>
              </a:rPr>
              <a:t>Suavidad de la solución encontrada (cuanto más cerca de 0, más suave es la ruta)</a:t>
            </a:r>
          </a:p>
        </p:txBody>
      </p:sp>
      <p:pic>
        <p:nvPicPr>
          <p:cNvPr id="4" name="Imagen 3">
            <a:extLst>
              <a:ext uri="{FF2B5EF4-FFF2-40B4-BE49-F238E27FC236}">
                <a16:creationId xmlns:a16="http://schemas.microsoft.com/office/drawing/2014/main" id="{1920C55A-716F-4C40-A5DA-92B64BF73BDB}"/>
              </a:ext>
            </a:extLst>
          </p:cNvPr>
          <p:cNvPicPr>
            <a:picLocks noChangeAspect="1"/>
          </p:cNvPicPr>
          <p:nvPr/>
        </p:nvPicPr>
        <p:blipFill>
          <a:blip r:embed="rId2"/>
          <a:stretch>
            <a:fillRect/>
          </a:stretch>
        </p:blipFill>
        <p:spPr>
          <a:xfrm>
            <a:off x="408844" y="1168073"/>
            <a:ext cx="4942474" cy="4927005"/>
          </a:xfrm>
          <a:prstGeom prst="rect">
            <a:avLst/>
          </a:prstGeom>
        </p:spPr>
      </p:pic>
      <p:sp>
        <p:nvSpPr>
          <p:cNvPr id="6" name="CuadroTexto 5">
            <a:extLst>
              <a:ext uri="{FF2B5EF4-FFF2-40B4-BE49-F238E27FC236}">
                <a16:creationId xmlns:a16="http://schemas.microsoft.com/office/drawing/2014/main" id="{3EF21FC1-C781-4732-94B6-230DEF1050AF}"/>
              </a:ext>
            </a:extLst>
          </p:cNvPr>
          <p:cNvSpPr txBox="1"/>
          <p:nvPr/>
        </p:nvSpPr>
        <p:spPr>
          <a:xfrm>
            <a:off x="5439505" y="1000089"/>
            <a:ext cx="6432387" cy="2117183"/>
          </a:xfrm>
          <a:prstGeom prst="rect">
            <a:avLst/>
          </a:prstGeom>
          <a:noFill/>
        </p:spPr>
        <p:txBody>
          <a:bodyPr wrap="square">
            <a:spAutoFit/>
          </a:bodyPr>
          <a:lstStyle/>
          <a:p>
            <a:pPr>
              <a:lnSpc>
                <a:spcPct val="150000"/>
              </a:lnSpc>
            </a:pPr>
            <a:r>
              <a:rPr lang="es-ES" sz="1800" dirty="0">
                <a:effectLst/>
                <a:ea typeface="Times New Roman" panose="02020603050405020304" pitchFamily="18" charset="0"/>
                <a:cs typeface="Times New Roman" panose="02020603050405020304" pitchFamily="18" charset="0"/>
              </a:rPr>
              <a:t>La suavidad de la solución se refiere a la continuidad y suavidad de la trayectoria generada por el algoritmo. Una solución más suave es mejor, ya que puede reducir el desgaste mecánico del robot y mejorar la estabilidad de la trayectoria.</a:t>
            </a:r>
            <a:endParaRPr lang="es-ES" dirty="0"/>
          </a:p>
        </p:txBody>
      </p:sp>
      <p:sp>
        <p:nvSpPr>
          <p:cNvPr id="3" name="CuadroTexto 2">
            <a:extLst>
              <a:ext uri="{FF2B5EF4-FFF2-40B4-BE49-F238E27FC236}">
                <a16:creationId xmlns:a16="http://schemas.microsoft.com/office/drawing/2014/main" id="{ACB6C770-79DB-4613-998F-CADF1126CC0E}"/>
              </a:ext>
            </a:extLst>
          </p:cNvPr>
          <p:cNvSpPr txBox="1"/>
          <p:nvPr/>
        </p:nvSpPr>
        <p:spPr>
          <a:xfrm>
            <a:off x="5579918" y="3283527"/>
            <a:ext cx="6203238" cy="128618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dirty="0"/>
              <a:t>LazyPRM y PRM logran soluciones igual de suaves y las que más.</a:t>
            </a:r>
          </a:p>
          <a:p>
            <a:pPr marL="285750" indent="-285750">
              <a:lnSpc>
                <a:spcPct val="150000"/>
              </a:lnSpc>
              <a:buFont typeface="Arial" panose="020B0604020202020204" pitchFamily="34" charset="0"/>
              <a:buChar char="•"/>
            </a:pPr>
            <a:r>
              <a:rPr lang="es-ES" dirty="0"/>
              <a:t>KPIECE genera las soluciones menos suaves</a:t>
            </a:r>
          </a:p>
        </p:txBody>
      </p:sp>
    </p:spTree>
    <p:extLst>
      <p:ext uri="{BB962C8B-B14F-4D97-AF65-F5344CB8AC3E}">
        <p14:creationId xmlns:p14="http://schemas.microsoft.com/office/powerpoint/2010/main" val="705779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E0CDFD-38F6-4908-9205-BBB6A8CD98E0}"/>
              </a:ext>
            </a:extLst>
          </p:cNvPr>
          <p:cNvSpPr txBox="1"/>
          <p:nvPr/>
        </p:nvSpPr>
        <p:spPr>
          <a:xfrm>
            <a:off x="198256" y="351169"/>
            <a:ext cx="5766126" cy="461665"/>
          </a:xfrm>
          <a:prstGeom prst="rect">
            <a:avLst/>
          </a:prstGeom>
          <a:noFill/>
        </p:spPr>
        <p:txBody>
          <a:bodyPr wrap="square">
            <a:spAutoFit/>
          </a:bodyPr>
          <a:lstStyle/>
          <a:p>
            <a:r>
              <a:rPr lang="es-ES" sz="2400" u="sng" dirty="0">
                <a:ln w="0"/>
                <a:solidFill>
                  <a:schemeClr val="accent1"/>
                </a:solidFill>
                <a:effectLst>
                  <a:outerShdw blurRad="38100" dist="25400" dir="5400000" algn="ctr" rotWithShape="0">
                    <a:srgbClr val="6E747A">
                      <a:alpha val="43000"/>
                    </a:srgbClr>
                  </a:outerShdw>
                </a:effectLst>
                <a:latin typeface="Lucida Grande"/>
              </a:rPr>
              <a:t>Longitud de la solución encontrada</a:t>
            </a:r>
          </a:p>
        </p:txBody>
      </p:sp>
      <p:pic>
        <p:nvPicPr>
          <p:cNvPr id="4" name="Imagen 3">
            <a:extLst>
              <a:ext uri="{FF2B5EF4-FFF2-40B4-BE49-F238E27FC236}">
                <a16:creationId xmlns:a16="http://schemas.microsoft.com/office/drawing/2014/main" id="{4C9EBF09-EAF9-4C0E-8061-1E1FE3CA3D06}"/>
              </a:ext>
            </a:extLst>
          </p:cNvPr>
          <p:cNvPicPr>
            <a:picLocks noChangeAspect="1"/>
          </p:cNvPicPr>
          <p:nvPr/>
        </p:nvPicPr>
        <p:blipFill>
          <a:blip r:embed="rId2"/>
          <a:stretch>
            <a:fillRect/>
          </a:stretch>
        </p:blipFill>
        <p:spPr>
          <a:xfrm>
            <a:off x="333338" y="1479801"/>
            <a:ext cx="4854361" cy="4854361"/>
          </a:xfrm>
          <a:prstGeom prst="rect">
            <a:avLst/>
          </a:prstGeom>
        </p:spPr>
      </p:pic>
      <p:sp>
        <p:nvSpPr>
          <p:cNvPr id="6" name="CuadroTexto 5">
            <a:extLst>
              <a:ext uri="{FF2B5EF4-FFF2-40B4-BE49-F238E27FC236}">
                <a16:creationId xmlns:a16="http://schemas.microsoft.com/office/drawing/2014/main" id="{2D36D2EF-A4B9-4D4D-9475-0DC41A4C7964}"/>
              </a:ext>
            </a:extLst>
          </p:cNvPr>
          <p:cNvSpPr txBox="1"/>
          <p:nvPr/>
        </p:nvSpPr>
        <p:spPr>
          <a:xfrm>
            <a:off x="5478606" y="1373337"/>
            <a:ext cx="6094268" cy="2117183"/>
          </a:xfrm>
          <a:prstGeom prst="rect">
            <a:avLst/>
          </a:prstGeom>
          <a:noFill/>
        </p:spPr>
        <p:txBody>
          <a:bodyPr wrap="square">
            <a:spAutoFit/>
          </a:bodyPr>
          <a:lstStyle/>
          <a:p>
            <a:pPr algn="l">
              <a:lnSpc>
                <a:spcPct val="150000"/>
              </a:lnSpc>
            </a:pPr>
            <a:r>
              <a:rPr lang="es-ES" b="0" i="0" dirty="0">
                <a:effectLst/>
              </a:rPr>
              <a:t>El largo de la solución es la distancia total recorrida por el robot a lo largo de la trayectoria generada por el algoritmo. En general, una solución más corta indica que el robot puede llegar a su destino de manera más eficiente.</a:t>
            </a:r>
          </a:p>
        </p:txBody>
      </p:sp>
      <p:sp>
        <p:nvSpPr>
          <p:cNvPr id="3" name="CuadroTexto 2">
            <a:extLst>
              <a:ext uri="{FF2B5EF4-FFF2-40B4-BE49-F238E27FC236}">
                <a16:creationId xmlns:a16="http://schemas.microsoft.com/office/drawing/2014/main" id="{AA632BB4-2C8F-48C7-88A3-202A811874CD}"/>
              </a:ext>
            </a:extLst>
          </p:cNvPr>
          <p:cNvSpPr txBox="1"/>
          <p:nvPr/>
        </p:nvSpPr>
        <p:spPr>
          <a:xfrm>
            <a:off x="5631873" y="3678382"/>
            <a:ext cx="5941001" cy="646331"/>
          </a:xfrm>
          <a:prstGeom prst="rect">
            <a:avLst/>
          </a:prstGeom>
          <a:noFill/>
        </p:spPr>
        <p:txBody>
          <a:bodyPr wrap="square" rtlCol="0">
            <a:spAutoFit/>
          </a:bodyPr>
          <a:lstStyle/>
          <a:p>
            <a:r>
              <a:rPr lang="es-ES" dirty="0"/>
              <a:t>Los resultados en este caso, son muy similares a los obtenidos para la suavidad de la solución.</a:t>
            </a:r>
          </a:p>
        </p:txBody>
      </p:sp>
    </p:spTree>
    <p:extLst>
      <p:ext uri="{BB962C8B-B14F-4D97-AF65-F5344CB8AC3E}">
        <p14:creationId xmlns:p14="http://schemas.microsoft.com/office/powerpoint/2010/main" val="2749347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C0D2CCD-5EEB-48C1-9937-5CD28D80D9F2}"/>
              </a:ext>
            </a:extLst>
          </p:cNvPr>
          <p:cNvSpPr txBox="1"/>
          <p:nvPr/>
        </p:nvSpPr>
        <p:spPr>
          <a:xfrm>
            <a:off x="351986" y="449393"/>
            <a:ext cx="8708887" cy="461665"/>
          </a:xfrm>
          <a:prstGeom prst="rect">
            <a:avLst/>
          </a:prstGeom>
          <a:noFill/>
        </p:spPr>
        <p:txBody>
          <a:bodyPr wrap="square">
            <a:spAutoFit/>
          </a:bodyPr>
          <a:lstStyle/>
          <a:p>
            <a:r>
              <a:rPr lang="es-ES" sz="2400" u="sng" dirty="0">
                <a:ln w="0"/>
                <a:solidFill>
                  <a:schemeClr val="accent1"/>
                </a:solidFill>
                <a:effectLst>
                  <a:outerShdw blurRad="38100" dist="25400" dir="5400000" algn="ctr" rotWithShape="0">
                    <a:srgbClr val="6E747A">
                      <a:alpha val="43000"/>
                    </a:srgbClr>
                  </a:outerShdw>
                </a:effectLst>
                <a:latin typeface="Lucida Grande"/>
              </a:rPr>
              <a:t>Cantidad de memoria gastada en la planificación, en MB</a:t>
            </a:r>
            <a:r>
              <a:rPr lang="en-US" i="0" u="sng" dirty="0">
                <a:ln w="0"/>
                <a:solidFill>
                  <a:schemeClr val="accent1"/>
                </a:solidFill>
                <a:effectLst>
                  <a:outerShdw blurRad="38100" dist="25400" dir="5400000" algn="ctr" rotWithShape="0">
                    <a:srgbClr val="6E747A">
                      <a:alpha val="43000"/>
                    </a:srgbClr>
                  </a:outerShdw>
                </a:effectLst>
                <a:latin typeface="Lucida Grande"/>
              </a:rPr>
              <a:t>.</a:t>
            </a:r>
            <a:endParaRPr lang="es-ES" u="sng" dirty="0">
              <a:ln w="0"/>
              <a:solidFill>
                <a:schemeClr val="accent1"/>
              </a:solidFill>
              <a:effectLst>
                <a:outerShdw blurRad="38100" dist="25400" dir="5400000" algn="ctr" rotWithShape="0">
                  <a:srgbClr val="6E747A">
                    <a:alpha val="43000"/>
                  </a:srgbClr>
                </a:outerShdw>
              </a:effectLst>
            </a:endParaRPr>
          </a:p>
        </p:txBody>
      </p:sp>
      <p:pic>
        <p:nvPicPr>
          <p:cNvPr id="4" name="Imagen 3">
            <a:extLst>
              <a:ext uri="{FF2B5EF4-FFF2-40B4-BE49-F238E27FC236}">
                <a16:creationId xmlns:a16="http://schemas.microsoft.com/office/drawing/2014/main" id="{02CBD01A-8022-42FA-89B6-D05D074181DC}"/>
              </a:ext>
            </a:extLst>
          </p:cNvPr>
          <p:cNvPicPr>
            <a:picLocks noChangeAspect="1"/>
          </p:cNvPicPr>
          <p:nvPr/>
        </p:nvPicPr>
        <p:blipFill>
          <a:blip r:embed="rId2"/>
          <a:stretch>
            <a:fillRect/>
          </a:stretch>
        </p:blipFill>
        <p:spPr>
          <a:xfrm>
            <a:off x="351986" y="1385890"/>
            <a:ext cx="4839119" cy="4854361"/>
          </a:xfrm>
          <a:prstGeom prst="rect">
            <a:avLst/>
          </a:prstGeom>
        </p:spPr>
      </p:pic>
      <p:sp>
        <p:nvSpPr>
          <p:cNvPr id="6" name="CuadroTexto 5">
            <a:extLst>
              <a:ext uri="{FF2B5EF4-FFF2-40B4-BE49-F238E27FC236}">
                <a16:creationId xmlns:a16="http://schemas.microsoft.com/office/drawing/2014/main" id="{BC9AC351-F854-420C-BC93-F9F67AEFBA62}"/>
              </a:ext>
            </a:extLst>
          </p:cNvPr>
          <p:cNvSpPr txBox="1"/>
          <p:nvPr/>
        </p:nvSpPr>
        <p:spPr>
          <a:xfrm>
            <a:off x="5587711" y="1095723"/>
            <a:ext cx="6094268" cy="2532681"/>
          </a:xfrm>
          <a:prstGeom prst="rect">
            <a:avLst/>
          </a:prstGeom>
          <a:noFill/>
        </p:spPr>
        <p:txBody>
          <a:bodyPr wrap="square">
            <a:spAutoFit/>
          </a:bodyPr>
          <a:lstStyle/>
          <a:p>
            <a:pPr>
              <a:lnSpc>
                <a:spcPct val="150000"/>
              </a:lnSpc>
            </a:pPr>
            <a:r>
              <a:rPr lang="es-ES" b="0" i="0" dirty="0">
                <a:effectLst/>
              </a:rPr>
              <a:t>El uso de memoria se refiere a la cantidad de memoria necesaria para almacenar el grafo de planificación y otros datos relevantes. Un menor uso de memoria es mejor, ya que indica que el algoritmo es más eficiente en términos de recursos computacionales.</a:t>
            </a:r>
            <a:endParaRPr lang="es-ES" dirty="0"/>
          </a:p>
        </p:txBody>
      </p:sp>
      <p:sp>
        <p:nvSpPr>
          <p:cNvPr id="3" name="CuadroTexto 2">
            <a:extLst>
              <a:ext uri="{FF2B5EF4-FFF2-40B4-BE49-F238E27FC236}">
                <a16:creationId xmlns:a16="http://schemas.microsoft.com/office/drawing/2014/main" id="{3CC9EBFB-1CFE-4DDA-9CDB-11811915A0B2}"/>
              </a:ext>
            </a:extLst>
          </p:cNvPr>
          <p:cNvSpPr txBox="1"/>
          <p:nvPr/>
        </p:nvSpPr>
        <p:spPr>
          <a:xfrm>
            <a:off x="5587711" y="3628009"/>
            <a:ext cx="5839691" cy="21171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dirty="0"/>
              <a:t>PRM y RRTConnect son los que mayor cantidad de memoria demandan</a:t>
            </a:r>
          </a:p>
          <a:p>
            <a:pPr marL="285750" indent="-285750">
              <a:lnSpc>
                <a:spcPct val="150000"/>
              </a:lnSpc>
              <a:buFont typeface="Arial" panose="020B0604020202020204" pitchFamily="34" charset="0"/>
              <a:buChar char="•"/>
            </a:pPr>
            <a:r>
              <a:rPr lang="es-ES" dirty="0"/>
              <a:t>Esta es una de las principales diferencias entre LazyPRM y PRM.</a:t>
            </a:r>
          </a:p>
          <a:p>
            <a:pPr marL="285750" indent="-285750">
              <a:lnSpc>
                <a:spcPct val="150000"/>
              </a:lnSpc>
              <a:buFont typeface="Arial" panose="020B0604020202020204" pitchFamily="34" charset="0"/>
              <a:buChar char="•"/>
            </a:pPr>
            <a:r>
              <a:rPr lang="es-ES" dirty="0"/>
              <a:t>KPIECE es el que menos memoria consume</a:t>
            </a:r>
          </a:p>
        </p:txBody>
      </p:sp>
    </p:spTree>
    <p:extLst>
      <p:ext uri="{BB962C8B-B14F-4D97-AF65-F5344CB8AC3E}">
        <p14:creationId xmlns:p14="http://schemas.microsoft.com/office/powerpoint/2010/main" val="3340393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2DCFFB6-92C0-4E30-B0F7-6D417DB17F27}"/>
              </a:ext>
            </a:extLst>
          </p:cNvPr>
          <p:cNvSpPr txBox="1"/>
          <p:nvPr/>
        </p:nvSpPr>
        <p:spPr>
          <a:xfrm>
            <a:off x="295584" y="362635"/>
            <a:ext cx="9617343" cy="461665"/>
          </a:xfrm>
          <a:prstGeom prst="rect">
            <a:avLst/>
          </a:prstGeom>
          <a:noFill/>
        </p:spPr>
        <p:txBody>
          <a:bodyPr wrap="square">
            <a:spAutoFit/>
          </a:bodyPr>
          <a:lstStyle/>
          <a:p>
            <a:r>
              <a:rPr lang="es-ES" sz="2400" u="sng" dirty="0">
                <a:ln w="0"/>
                <a:solidFill>
                  <a:schemeClr val="accent1"/>
                </a:solidFill>
                <a:effectLst>
                  <a:outerShdw blurRad="38100" dist="25400" dir="5400000" algn="ctr" rotWithShape="0">
                    <a:srgbClr val="6E747A">
                      <a:alpha val="43000"/>
                    </a:srgbClr>
                  </a:outerShdw>
                </a:effectLst>
                <a:latin typeface="Lucida Grande"/>
              </a:rPr>
              <a:t>Estados del grafo: el número de estados en el gráfico construido</a:t>
            </a:r>
            <a:endParaRPr lang="en-US" sz="2400" i="0" u="sng" dirty="0">
              <a:ln w="0"/>
              <a:solidFill>
                <a:schemeClr val="accent1"/>
              </a:solidFill>
              <a:effectLst>
                <a:outerShdw blurRad="38100" dist="25400" dir="5400000" algn="ctr" rotWithShape="0">
                  <a:srgbClr val="6E747A">
                    <a:alpha val="43000"/>
                  </a:srgbClr>
                </a:outerShdw>
              </a:effectLst>
              <a:latin typeface="Lucida Grande"/>
            </a:endParaRPr>
          </a:p>
        </p:txBody>
      </p:sp>
      <p:pic>
        <p:nvPicPr>
          <p:cNvPr id="4" name="Imagen 3">
            <a:extLst>
              <a:ext uri="{FF2B5EF4-FFF2-40B4-BE49-F238E27FC236}">
                <a16:creationId xmlns:a16="http://schemas.microsoft.com/office/drawing/2014/main" id="{5A88138A-B45E-4EBA-848B-048D56C1BBEF}"/>
              </a:ext>
            </a:extLst>
          </p:cNvPr>
          <p:cNvPicPr>
            <a:picLocks noChangeAspect="1"/>
          </p:cNvPicPr>
          <p:nvPr/>
        </p:nvPicPr>
        <p:blipFill>
          <a:blip r:embed="rId2"/>
          <a:stretch>
            <a:fillRect/>
          </a:stretch>
        </p:blipFill>
        <p:spPr>
          <a:xfrm>
            <a:off x="295584" y="1357679"/>
            <a:ext cx="4846740" cy="4846740"/>
          </a:xfrm>
          <a:prstGeom prst="rect">
            <a:avLst/>
          </a:prstGeom>
        </p:spPr>
      </p:pic>
      <p:sp>
        <p:nvSpPr>
          <p:cNvPr id="6" name="CuadroTexto 5">
            <a:extLst>
              <a:ext uri="{FF2B5EF4-FFF2-40B4-BE49-F238E27FC236}">
                <a16:creationId xmlns:a16="http://schemas.microsoft.com/office/drawing/2014/main" id="{1804FAD1-8CF4-476A-8A18-B77D10E12C79}"/>
              </a:ext>
            </a:extLst>
          </p:cNvPr>
          <p:cNvSpPr txBox="1"/>
          <p:nvPr/>
        </p:nvSpPr>
        <p:spPr>
          <a:xfrm>
            <a:off x="5530561" y="1152482"/>
            <a:ext cx="6272336" cy="2117183"/>
          </a:xfrm>
          <a:prstGeom prst="rect">
            <a:avLst/>
          </a:prstGeom>
          <a:noFill/>
        </p:spPr>
        <p:txBody>
          <a:bodyPr wrap="square">
            <a:spAutoFit/>
          </a:bodyPr>
          <a:lstStyle/>
          <a:p>
            <a:pPr>
              <a:lnSpc>
                <a:spcPct val="150000"/>
              </a:lnSpc>
            </a:pPr>
            <a:r>
              <a:rPr lang="es-ES" b="0" i="0" dirty="0">
                <a:effectLst/>
              </a:rPr>
              <a:t>Este parámetro se refiere al número de estados o nodos en el grafo de planificación. Un mayor número de estados puede dar como resultado una solución más óptima, pero también puede aumentar el tiempo de planificación y el uso de memoria.</a:t>
            </a:r>
            <a:endParaRPr lang="es-ES" dirty="0"/>
          </a:p>
        </p:txBody>
      </p:sp>
      <p:sp>
        <p:nvSpPr>
          <p:cNvPr id="3" name="CuadroTexto 2">
            <a:extLst>
              <a:ext uri="{FF2B5EF4-FFF2-40B4-BE49-F238E27FC236}">
                <a16:creationId xmlns:a16="http://schemas.microsoft.com/office/drawing/2014/main" id="{DEFADA73-36A6-4DF3-BC9E-8C3EB646C39A}"/>
              </a:ext>
            </a:extLst>
          </p:cNvPr>
          <p:cNvSpPr txBox="1"/>
          <p:nvPr/>
        </p:nvSpPr>
        <p:spPr>
          <a:xfrm>
            <a:off x="5530561" y="3429000"/>
            <a:ext cx="6272336" cy="21171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dirty="0"/>
              <a:t>PRM es el que más estados genera en su planificación</a:t>
            </a:r>
          </a:p>
          <a:p>
            <a:pPr marL="285750" indent="-285750">
              <a:lnSpc>
                <a:spcPct val="150000"/>
              </a:lnSpc>
              <a:buFont typeface="Arial" panose="020B0604020202020204" pitchFamily="34" charset="0"/>
              <a:buChar char="•"/>
            </a:pPr>
            <a:r>
              <a:rPr lang="es-ES" dirty="0"/>
              <a:t>LazyPRM, por otra parte, resalta por ser el que menos estado genera. Esta es precisamente un de las principales diferencias con PRM.</a:t>
            </a:r>
          </a:p>
        </p:txBody>
      </p:sp>
    </p:spTree>
    <p:extLst>
      <p:ext uri="{BB962C8B-B14F-4D97-AF65-F5344CB8AC3E}">
        <p14:creationId xmlns:p14="http://schemas.microsoft.com/office/powerpoint/2010/main" val="1933816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4B3C333-43EA-4BF7-B422-DA22DAC704F4}"/>
              </a:ext>
            </a:extLst>
          </p:cNvPr>
          <p:cNvSpPr txBox="1"/>
          <p:nvPr/>
        </p:nvSpPr>
        <p:spPr>
          <a:xfrm>
            <a:off x="232063" y="414589"/>
            <a:ext cx="10533785" cy="461665"/>
          </a:xfrm>
          <a:prstGeom prst="rect">
            <a:avLst/>
          </a:prstGeom>
          <a:noFill/>
        </p:spPr>
        <p:txBody>
          <a:bodyPr wrap="square">
            <a:spAutoFit/>
          </a:bodyPr>
          <a:lstStyle/>
          <a:p>
            <a:r>
              <a:rPr lang="es-ES" sz="2400" u="sng" dirty="0">
                <a:ln w="0"/>
                <a:solidFill>
                  <a:schemeClr val="accent1"/>
                </a:solidFill>
                <a:effectLst>
                  <a:outerShdw blurRad="38100" dist="25400" dir="5400000" algn="ctr" rotWithShape="0">
                    <a:srgbClr val="6E747A">
                      <a:alpha val="43000"/>
                    </a:srgbClr>
                  </a:outerShdw>
                </a:effectLst>
                <a:latin typeface="Lucida Grande"/>
              </a:rPr>
              <a:t>Movimientos del grafo: el número de aristas en el grafo construido</a:t>
            </a:r>
          </a:p>
        </p:txBody>
      </p:sp>
      <p:pic>
        <p:nvPicPr>
          <p:cNvPr id="4" name="Imagen 3">
            <a:extLst>
              <a:ext uri="{FF2B5EF4-FFF2-40B4-BE49-F238E27FC236}">
                <a16:creationId xmlns:a16="http://schemas.microsoft.com/office/drawing/2014/main" id="{76BE39FF-731F-4543-B48C-00CCACD8C4BD}"/>
              </a:ext>
            </a:extLst>
          </p:cNvPr>
          <p:cNvPicPr>
            <a:picLocks noChangeAspect="1"/>
          </p:cNvPicPr>
          <p:nvPr/>
        </p:nvPicPr>
        <p:blipFill>
          <a:blip r:embed="rId2"/>
          <a:stretch>
            <a:fillRect/>
          </a:stretch>
        </p:blipFill>
        <p:spPr>
          <a:xfrm>
            <a:off x="309786" y="1433945"/>
            <a:ext cx="5001589" cy="5009466"/>
          </a:xfrm>
          <a:prstGeom prst="rect">
            <a:avLst/>
          </a:prstGeom>
        </p:spPr>
      </p:pic>
      <p:sp>
        <p:nvSpPr>
          <p:cNvPr id="5" name="CuadroTexto 4">
            <a:extLst>
              <a:ext uri="{FF2B5EF4-FFF2-40B4-BE49-F238E27FC236}">
                <a16:creationId xmlns:a16="http://schemas.microsoft.com/office/drawing/2014/main" id="{BDC3A1D4-F382-4F89-AA15-258B95A2B18D}"/>
              </a:ext>
            </a:extLst>
          </p:cNvPr>
          <p:cNvSpPr txBox="1"/>
          <p:nvPr/>
        </p:nvSpPr>
        <p:spPr>
          <a:xfrm>
            <a:off x="5569527" y="1225218"/>
            <a:ext cx="6312687" cy="2532681"/>
          </a:xfrm>
          <a:prstGeom prst="rect">
            <a:avLst/>
          </a:prstGeom>
          <a:noFill/>
        </p:spPr>
        <p:txBody>
          <a:bodyPr wrap="square">
            <a:spAutoFit/>
          </a:bodyPr>
          <a:lstStyle/>
          <a:p>
            <a:pPr>
              <a:lnSpc>
                <a:spcPct val="150000"/>
              </a:lnSpc>
            </a:pPr>
            <a:r>
              <a:rPr lang="es-ES" b="0" i="0" dirty="0">
                <a:effectLst/>
              </a:rPr>
              <a:t>Este parámetro se refiere al número de movimientos o acciones que el algoritmo considera en su grafo de planificación. En general, un mayor número de movimientos puede dar como resultado una solución más óptima, pero también puede aumentar el tiempo de planificación.</a:t>
            </a:r>
            <a:endParaRPr lang="es-ES" dirty="0"/>
          </a:p>
        </p:txBody>
      </p:sp>
      <p:sp>
        <p:nvSpPr>
          <p:cNvPr id="6" name="CuadroTexto 5">
            <a:extLst>
              <a:ext uri="{FF2B5EF4-FFF2-40B4-BE49-F238E27FC236}">
                <a16:creationId xmlns:a16="http://schemas.microsoft.com/office/drawing/2014/main" id="{CA38C353-1980-4BD5-B474-149386D67367}"/>
              </a:ext>
            </a:extLst>
          </p:cNvPr>
          <p:cNvSpPr txBox="1"/>
          <p:nvPr/>
        </p:nvSpPr>
        <p:spPr>
          <a:xfrm>
            <a:off x="5683827" y="3896592"/>
            <a:ext cx="6312687" cy="128618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dirty="0"/>
              <a:t>PRM destaca como el que más arcos genera</a:t>
            </a:r>
          </a:p>
          <a:p>
            <a:pPr marL="285750" indent="-285750">
              <a:lnSpc>
                <a:spcPct val="150000"/>
              </a:lnSpc>
              <a:buFont typeface="Arial" panose="020B0604020202020204" pitchFamily="34" charset="0"/>
              <a:buChar char="•"/>
            </a:pPr>
            <a:r>
              <a:rPr lang="es-ES" dirty="0"/>
              <a:t>Los demás algoritmos exhiben un número similar de arcos generados</a:t>
            </a:r>
          </a:p>
        </p:txBody>
      </p:sp>
    </p:spTree>
    <p:extLst>
      <p:ext uri="{BB962C8B-B14F-4D97-AF65-F5344CB8AC3E}">
        <p14:creationId xmlns:p14="http://schemas.microsoft.com/office/powerpoint/2010/main" val="1459712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0B743FE-FE22-48C2-B02C-CC6DE5C7B8B8}"/>
              </a:ext>
            </a:extLst>
          </p:cNvPr>
          <p:cNvSpPr txBox="1"/>
          <p:nvPr/>
        </p:nvSpPr>
        <p:spPr>
          <a:xfrm>
            <a:off x="435113" y="314634"/>
            <a:ext cx="6094428" cy="461665"/>
          </a:xfrm>
          <a:prstGeom prst="rect">
            <a:avLst/>
          </a:prstGeom>
          <a:noFill/>
        </p:spPr>
        <p:txBody>
          <a:bodyPr wrap="square">
            <a:spAutoFit/>
          </a:bodyPr>
          <a:lstStyle/>
          <a:p>
            <a:r>
              <a:rPr lang="es-ES" sz="2400" u="sng">
                <a:ln w="0"/>
                <a:solidFill>
                  <a:schemeClr val="accent1"/>
                </a:solidFill>
                <a:effectLst>
                  <a:outerShdw blurRad="38100" dist="25400" dir="5400000" algn="ctr" rotWithShape="0">
                    <a:srgbClr val="6E747A">
                      <a:alpha val="43000"/>
                    </a:srgbClr>
                  </a:outerShdw>
                </a:effectLst>
                <a:latin typeface="Lucida Grande"/>
              </a:rPr>
              <a:t>Solución correcta</a:t>
            </a:r>
            <a:endParaRPr lang="es-ES" sz="2400" u="sng">
              <a:ln w="0"/>
              <a:solidFill>
                <a:schemeClr val="accent1"/>
              </a:solidFill>
              <a:effectLst>
                <a:outerShdw blurRad="38100" dist="25400" dir="5400000" algn="ctr" rotWithShape="0">
                  <a:srgbClr val="6E747A">
                    <a:alpha val="43000"/>
                  </a:srgbClr>
                </a:outerShdw>
              </a:effectLst>
            </a:endParaRPr>
          </a:p>
        </p:txBody>
      </p:sp>
      <p:pic>
        <p:nvPicPr>
          <p:cNvPr id="4" name="Imagen 3">
            <a:extLst>
              <a:ext uri="{FF2B5EF4-FFF2-40B4-BE49-F238E27FC236}">
                <a16:creationId xmlns:a16="http://schemas.microsoft.com/office/drawing/2014/main" id="{F84EF478-1026-481F-B0A3-486CCF5E15E0}"/>
              </a:ext>
            </a:extLst>
          </p:cNvPr>
          <p:cNvPicPr>
            <a:picLocks noChangeAspect="1"/>
          </p:cNvPicPr>
          <p:nvPr/>
        </p:nvPicPr>
        <p:blipFill>
          <a:blip r:embed="rId2"/>
          <a:stretch>
            <a:fillRect/>
          </a:stretch>
        </p:blipFill>
        <p:spPr>
          <a:xfrm>
            <a:off x="435113" y="1458172"/>
            <a:ext cx="4839119" cy="4854361"/>
          </a:xfrm>
          <a:prstGeom prst="rect">
            <a:avLst/>
          </a:prstGeom>
        </p:spPr>
      </p:pic>
      <p:sp>
        <p:nvSpPr>
          <p:cNvPr id="2" name="CuadroTexto 1">
            <a:extLst>
              <a:ext uri="{FF2B5EF4-FFF2-40B4-BE49-F238E27FC236}">
                <a16:creationId xmlns:a16="http://schemas.microsoft.com/office/drawing/2014/main" id="{C3935ABE-C306-4B18-9F2A-071A2EA95D76}"/>
              </a:ext>
            </a:extLst>
          </p:cNvPr>
          <p:cNvSpPr txBox="1"/>
          <p:nvPr/>
        </p:nvSpPr>
        <p:spPr>
          <a:xfrm>
            <a:off x="5833351" y="1458172"/>
            <a:ext cx="5336876" cy="2532681"/>
          </a:xfrm>
          <a:prstGeom prst="rect">
            <a:avLst/>
          </a:prstGeom>
          <a:noFill/>
        </p:spPr>
        <p:txBody>
          <a:bodyPr wrap="square" rtlCol="0">
            <a:spAutoFit/>
          </a:bodyPr>
          <a:lstStyle/>
          <a:p>
            <a:pPr>
              <a:lnSpc>
                <a:spcPct val="150000"/>
              </a:lnSpc>
            </a:pPr>
            <a:r>
              <a:rPr lang="es-ES" dirty="0"/>
              <a:t>Este parámetro se refiere a la probabilidad de que el algoritmo encuentre la solución correcta.</a:t>
            </a:r>
          </a:p>
          <a:p>
            <a:pPr>
              <a:lnSpc>
                <a:spcPct val="150000"/>
              </a:lnSpc>
            </a:pPr>
            <a:r>
              <a:rPr lang="es-ES" dirty="0"/>
              <a:t>En el gráfico se distingue que para las simulaciones realizadas, todos los algoritmos fueron capaces de hallar la solución correcta.  </a:t>
            </a:r>
          </a:p>
        </p:txBody>
      </p:sp>
    </p:spTree>
    <p:extLst>
      <p:ext uri="{BB962C8B-B14F-4D97-AF65-F5344CB8AC3E}">
        <p14:creationId xmlns:p14="http://schemas.microsoft.com/office/powerpoint/2010/main" val="3199380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66962BD-F607-40FD-996F-D2153B4DC87E}"/>
              </a:ext>
            </a:extLst>
          </p:cNvPr>
          <p:cNvSpPr txBox="1"/>
          <p:nvPr/>
        </p:nvSpPr>
        <p:spPr>
          <a:xfrm>
            <a:off x="464127" y="120916"/>
            <a:ext cx="8447809" cy="461665"/>
          </a:xfrm>
          <a:prstGeom prst="rect">
            <a:avLst/>
          </a:prstGeom>
          <a:noFill/>
        </p:spPr>
        <p:txBody>
          <a:bodyPr wrap="square" rtlCol="0">
            <a:spAutoFit/>
          </a:bodyPr>
          <a:lstStyle/>
          <a:p>
            <a:r>
              <a:rPr lang="es-ES" sz="2400" u="sng" dirty="0">
                <a:ln w="0"/>
                <a:solidFill>
                  <a:schemeClr val="accent1"/>
                </a:solidFill>
              </a:rPr>
              <a:t>Resultados</a:t>
            </a:r>
          </a:p>
        </p:txBody>
      </p:sp>
      <p:graphicFrame>
        <p:nvGraphicFramePr>
          <p:cNvPr id="3" name="Tabla 3">
            <a:extLst>
              <a:ext uri="{FF2B5EF4-FFF2-40B4-BE49-F238E27FC236}">
                <a16:creationId xmlns:a16="http://schemas.microsoft.com/office/drawing/2014/main" id="{541917F6-38AB-48ED-A735-53F3A392D46B}"/>
              </a:ext>
            </a:extLst>
          </p:cNvPr>
          <p:cNvGraphicFramePr>
            <a:graphicFrameLocks noGrp="1"/>
          </p:cNvGraphicFramePr>
          <p:nvPr>
            <p:extLst>
              <p:ext uri="{D42A27DB-BD31-4B8C-83A1-F6EECF244321}">
                <p14:modId xmlns:p14="http://schemas.microsoft.com/office/powerpoint/2010/main" val="2614737030"/>
              </p:ext>
            </p:extLst>
          </p:nvPr>
        </p:nvGraphicFramePr>
        <p:xfrm>
          <a:off x="464126" y="754918"/>
          <a:ext cx="10820400" cy="2590800"/>
        </p:xfrm>
        <a:graphic>
          <a:graphicData uri="http://schemas.openxmlformats.org/drawingml/2006/table">
            <a:tbl>
              <a:tblPr firstRow="1" bandRow="1">
                <a:tableStyleId>{5C22544A-7EE6-4342-B048-85BDC9FD1C3A}</a:tableStyleId>
              </a:tblPr>
              <a:tblGrid>
                <a:gridCol w="3546909">
                  <a:extLst>
                    <a:ext uri="{9D8B030D-6E8A-4147-A177-3AD203B41FA5}">
                      <a16:colId xmlns:a16="http://schemas.microsoft.com/office/drawing/2014/main" val="3221231193"/>
                    </a:ext>
                  </a:extLst>
                </a:gridCol>
                <a:gridCol w="1853309">
                  <a:extLst>
                    <a:ext uri="{9D8B030D-6E8A-4147-A177-3AD203B41FA5}">
                      <a16:colId xmlns:a16="http://schemas.microsoft.com/office/drawing/2014/main" val="208258323"/>
                    </a:ext>
                  </a:extLst>
                </a:gridCol>
                <a:gridCol w="1796746">
                  <a:extLst>
                    <a:ext uri="{9D8B030D-6E8A-4147-A177-3AD203B41FA5}">
                      <a16:colId xmlns:a16="http://schemas.microsoft.com/office/drawing/2014/main" val="8558697"/>
                    </a:ext>
                  </a:extLst>
                </a:gridCol>
                <a:gridCol w="1878210">
                  <a:extLst>
                    <a:ext uri="{9D8B030D-6E8A-4147-A177-3AD203B41FA5}">
                      <a16:colId xmlns:a16="http://schemas.microsoft.com/office/drawing/2014/main" val="1268830368"/>
                    </a:ext>
                  </a:extLst>
                </a:gridCol>
                <a:gridCol w="1745226">
                  <a:extLst>
                    <a:ext uri="{9D8B030D-6E8A-4147-A177-3AD203B41FA5}">
                      <a16:colId xmlns:a16="http://schemas.microsoft.com/office/drawing/2014/main" val="1512023421"/>
                    </a:ext>
                  </a:extLst>
                </a:gridCol>
              </a:tblGrid>
              <a:tr h="568939">
                <a:tc>
                  <a:txBody>
                    <a:bodyPr/>
                    <a:lstStyle/>
                    <a:p>
                      <a:r>
                        <a:rPr lang="es-ES" sz="1600" dirty="0"/>
                        <a:t>Parámetro / Orden de mejor a peor</a:t>
                      </a:r>
                    </a:p>
                  </a:txBody>
                  <a:tcPr/>
                </a:tc>
                <a:tc>
                  <a:txBody>
                    <a:bodyPr/>
                    <a:lstStyle/>
                    <a:p>
                      <a:r>
                        <a:rPr lang="es-ES" sz="1600" dirty="0"/>
                        <a:t>1</a:t>
                      </a:r>
                    </a:p>
                  </a:txBody>
                  <a:tcPr/>
                </a:tc>
                <a:tc>
                  <a:txBody>
                    <a:bodyPr/>
                    <a:lstStyle/>
                    <a:p>
                      <a:r>
                        <a:rPr lang="es-ES" sz="1600" dirty="0"/>
                        <a:t>2</a:t>
                      </a:r>
                    </a:p>
                  </a:txBody>
                  <a:tcPr/>
                </a:tc>
                <a:tc>
                  <a:txBody>
                    <a:bodyPr/>
                    <a:lstStyle/>
                    <a:p>
                      <a:r>
                        <a:rPr lang="es-ES" sz="1600" dirty="0"/>
                        <a:t>3</a:t>
                      </a:r>
                    </a:p>
                  </a:txBody>
                  <a:tcPr/>
                </a:tc>
                <a:tc>
                  <a:txBody>
                    <a:bodyPr/>
                    <a:lstStyle/>
                    <a:p>
                      <a:r>
                        <a:rPr lang="es-ES" sz="1600" dirty="0"/>
                        <a:t>4</a:t>
                      </a:r>
                    </a:p>
                  </a:txBody>
                  <a:tcPr/>
                </a:tc>
                <a:extLst>
                  <a:ext uri="{0D108BD9-81ED-4DB2-BD59-A6C34878D82A}">
                    <a16:rowId xmlns:a16="http://schemas.microsoft.com/office/drawing/2014/main" val="2181468829"/>
                  </a:ext>
                </a:extLst>
              </a:tr>
              <a:tr h="335271">
                <a:tc>
                  <a:txBody>
                    <a:bodyPr/>
                    <a:lstStyle/>
                    <a:p>
                      <a:r>
                        <a:rPr lang="es-ES" sz="1600" dirty="0"/>
                        <a:t>Tiempo de planificación</a:t>
                      </a:r>
                    </a:p>
                  </a:txBody>
                  <a:tcPr/>
                </a:tc>
                <a:tc>
                  <a:txBody>
                    <a:bodyPr/>
                    <a:lstStyle/>
                    <a:p>
                      <a:r>
                        <a:rPr lang="es-ES" sz="1600" dirty="0"/>
                        <a:t>KPIECE</a:t>
                      </a:r>
                    </a:p>
                  </a:txBody>
                  <a:tcPr/>
                </a:tc>
                <a:tc>
                  <a:txBody>
                    <a:bodyPr/>
                    <a:lstStyle/>
                    <a:p>
                      <a:r>
                        <a:rPr lang="es-ES" sz="1600" dirty="0"/>
                        <a:t>RRTConnect</a:t>
                      </a:r>
                    </a:p>
                  </a:txBody>
                  <a:tcPr/>
                </a:tc>
                <a:tc>
                  <a:txBody>
                    <a:bodyPr/>
                    <a:lstStyle/>
                    <a:p>
                      <a:r>
                        <a:rPr lang="es-ES" sz="1600" dirty="0"/>
                        <a:t>LazyPRM</a:t>
                      </a:r>
                    </a:p>
                  </a:txBody>
                  <a:tcPr/>
                </a:tc>
                <a:tc>
                  <a:txBody>
                    <a:bodyPr/>
                    <a:lstStyle/>
                    <a:p>
                      <a:r>
                        <a:rPr lang="es-ES" sz="1600" dirty="0"/>
                        <a:t>PRM</a:t>
                      </a:r>
                    </a:p>
                  </a:txBody>
                  <a:tcPr/>
                </a:tc>
                <a:extLst>
                  <a:ext uri="{0D108BD9-81ED-4DB2-BD59-A6C34878D82A}">
                    <a16:rowId xmlns:a16="http://schemas.microsoft.com/office/drawing/2014/main" val="4290262057"/>
                  </a:ext>
                </a:extLst>
              </a:tr>
              <a:tr h="335271">
                <a:tc>
                  <a:txBody>
                    <a:bodyPr/>
                    <a:lstStyle/>
                    <a:p>
                      <a:r>
                        <a:rPr lang="es-ES" sz="1600" dirty="0"/>
                        <a:t>Suavidad de la solución</a:t>
                      </a:r>
                    </a:p>
                  </a:txBody>
                  <a:tcPr/>
                </a:tc>
                <a:tc>
                  <a:txBody>
                    <a:bodyPr/>
                    <a:lstStyle/>
                    <a:p>
                      <a:r>
                        <a:rPr lang="es-ES" sz="1600" dirty="0"/>
                        <a:t>LazyPRM</a:t>
                      </a:r>
                    </a:p>
                  </a:txBody>
                  <a:tcPr/>
                </a:tc>
                <a:tc>
                  <a:txBody>
                    <a:bodyPr/>
                    <a:lstStyle/>
                    <a:p>
                      <a:r>
                        <a:rPr lang="es-ES" sz="1600" dirty="0"/>
                        <a:t>PRM</a:t>
                      </a:r>
                    </a:p>
                  </a:txBody>
                  <a:tcPr/>
                </a:tc>
                <a:tc>
                  <a:txBody>
                    <a:bodyPr/>
                    <a:lstStyle/>
                    <a:p>
                      <a:r>
                        <a:rPr lang="es-ES" sz="1600" dirty="0"/>
                        <a:t>RRTConnect</a:t>
                      </a:r>
                    </a:p>
                  </a:txBody>
                  <a:tcPr/>
                </a:tc>
                <a:tc>
                  <a:txBody>
                    <a:bodyPr/>
                    <a:lstStyle/>
                    <a:p>
                      <a:r>
                        <a:rPr lang="es-ES" sz="1600" dirty="0"/>
                        <a:t>KPIECE</a:t>
                      </a:r>
                    </a:p>
                  </a:txBody>
                  <a:tcPr/>
                </a:tc>
                <a:extLst>
                  <a:ext uri="{0D108BD9-81ED-4DB2-BD59-A6C34878D82A}">
                    <a16:rowId xmlns:a16="http://schemas.microsoft.com/office/drawing/2014/main" val="159493413"/>
                  </a:ext>
                </a:extLst>
              </a:tr>
              <a:tr h="335271">
                <a:tc>
                  <a:txBody>
                    <a:bodyPr/>
                    <a:lstStyle/>
                    <a:p>
                      <a:r>
                        <a:rPr lang="es-ES" sz="1600" dirty="0"/>
                        <a:t>Longitud de la solución</a:t>
                      </a:r>
                    </a:p>
                  </a:txBody>
                  <a:tcPr/>
                </a:tc>
                <a:tc>
                  <a:txBody>
                    <a:bodyPr/>
                    <a:lstStyle/>
                    <a:p>
                      <a:r>
                        <a:rPr lang="es-ES" sz="1600" dirty="0"/>
                        <a:t>LazyPRM</a:t>
                      </a:r>
                    </a:p>
                  </a:txBody>
                  <a:tcPr/>
                </a:tc>
                <a:tc>
                  <a:txBody>
                    <a:bodyPr/>
                    <a:lstStyle/>
                    <a:p>
                      <a:r>
                        <a:rPr lang="es-ES" sz="1600" dirty="0"/>
                        <a:t>PRM</a:t>
                      </a:r>
                    </a:p>
                  </a:txBody>
                  <a:tcPr/>
                </a:tc>
                <a:tc>
                  <a:txBody>
                    <a:bodyPr/>
                    <a:lstStyle/>
                    <a:p>
                      <a:r>
                        <a:rPr lang="es-ES" sz="1600" dirty="0"/>
                        <a:t>RRTConnect</a:t>
                      </a:r>
                    </a:p>
                  </a:txBody>
                  <a:tcPr/>
                </a:tc>
                <a:tc>
                  <a:txBody>
                    <a:bodyPr/>
                    <a:lstStyle/>
                    <a:p>
                      <a:r>
                        <a:rPr lang="es-ES" sz="1600" dirty="0"/>
                        <a:t>KPIECE</a:t>
                      </a:r>
                    </a:p>
                  </a:txBody>
                  <a:tcPr/>
                </a:tc>
                <a:extLst>
                  <a:ext uri="{0D108BD9-81ED-4DB2-BD59-A6C34878D82A}">
                    <a16:rowId xmlns:a16="http://schemas.microsoft.com/office/drawing/2014/main" val="4263586441"/>
                  </a:ext>
                </a:extLst>
              </a:tr>
              <a:tr h="335271">
                <a:tc>
                  <a:txBody>
                    <a:bodyPr/>
                    <a:lstStyle/>
                    <a:p>
                      <a:r>
                        <a:rPr lang="es-ES" sz="1600" dirty="0"/>
                        <a:t>Cantidad de memoria utilizada</a:t>
                      </a:r>
                    </a:p>
                  </a:txBody>
                  <a:tcPr/>
                </a:tc>
                <a:tc>
                  <a:txBody>
                    <a:bodyPr/>
                    <a:lstStyle/>
                    <a:p>
                      <a:r>
                        <a:rPr lang="es-ES" sz="1600" dirty="0"/>
                        <a:t>KPIECE</a:t>
                      </a:r>
                    </a:p>
                  </a:txBody>
                  <a:tcPr/>
                </a:tc>
                <a:tc>
                  <a:txBody>
                    <a:bodyPr/>
                    <a:lstStyle/>
                    <a:p>
                      <a:r>
                        <a:rPr lang="es-ES" sz="1600" dirty="0"/>
                        <a:t>LazyPRM</a:t>
                      </a:r>
                    </a:p>
                  </a:txBody>
                  <a:tcPr/>
                </a:tc>
                <a:tc>
                  <a:txBody>
                    <a:bodyPr/>
                    <a:lstStyle/>
                    <a:p>
                      <a:r>
                        <a:rPr lang="es-ES" sz="1600" dirty="0"/>
                        <a:t>PRM</a:t>
                      </a:r>
                    </a:p>
                  </a:txBody>
                  <a:tcPr/>
                </a:tc>
                <a:tc>
                  <a:txBody>
                    <a:bodyPr/>
                    <a:lstStyle/>
                    <a:p>
                      <a:r>
                        <a:rPr lang="es-ES" sz="1600" dirty="0"/>
                        <a:t>RRTConnect</a:t>
                      </a:r>
                    </a:p>
                  </a:txBody>
                  <a:tcPr/>
                </a:tc>
                <a:extLst>
                  <a:ext uri="{0D108BD9-81ED-4DB2-BD59-A6C34878D82A}">
                    <a16:rowId xmlns:a16="http://schemas.microsoft.com/office/drawing/2014/main" val="4100128336"/>
                  </a:ext>
                </a:extLst>
              </a:tr>
              <a:tr h="335271">
                <a:tc>
                  <a:txBody>
                    <a:bodyPr/>
                    <a:lstStyle/>
                    <a:p>
                      <a:r>
                        <a:rPr lang="es-ES" sz="1600" dirty="0"/>
                        <a:t>Cantidad de estados o nodos</a:t>
                      </a:r>
                    </a:p>
                  </a:txBody>
                  <a:tcPr/>
                </a:tc>
                <a:tc>
                  <a:txBody>
                    <a:bodyPr/>
                    <a:lstStyle/>
                    <a:p>
                      <a:r>
                        <a:rPr lang="es-ES" sz="1600" dirty="0"/>
                        <a:t>PRM</a:t>
                      </a:r>
                    </a:p>
                  </a:txBody>
                  <a:tcPr/>
                </a:tc>
                <a:tc>
                  <a:txBody>
                    <a:bodyPr/>
                    <a:lstStyle/>
                    <a:p>
                      <a:r>
                        <a:rPr lang="es-ES" sz="1600" dirty="0"/>
                        <a:t>KPIECE</a:t>
                      </a:r>
                    </a:p>
                  </a:txBody>
                  <a:tcPr/>
                </a:tc>
                <a:tc>
                  <a:txBody>
                    <a:bodyPr/>
                    <a:lstStyle/>
                    <a:p>
                      <a:r>
                        <a:rPr lang="es-ES" sz="1600" dirty="0"/>
                        <a:t>RRTConnect</a:t>
                      </a:r>
                    </a:p>
                  </a:txBody>
                  <a:tcPr/>
                </a:tc>
                <a:tc>
                  <a:txBody>
                    <a:bodyPr/>
                    <a:lstStyle/>
                    <a:p>
                      <a:r>
                        <a:rPr lang="es-ES" sz="1600" dirty="0"/>
                        <a:t>LazyPRM</a:t>
                      </a:r>
                    </a:p>
                  </a:txBody>
                  <a:tcPr/>
                </a:tc>
                <a:extLst>
                  <a:ext uri="{0D108BD9-81ED-4DB2-BD59-A6C34878D82A}">
                    <a16:rowId xmlns:a16="http://schemas.microsoft.com/office/drawing/2014/main" val="4142219233"/>
                  </a:ext>
                </a:extLst>
              </a:tr>
              <a:tr h="335271">
                <a:tc>
                  <a:txBody>
                    <a:bodyPr/>
                    <a:lstStyle/>
                    <a:p>
                      <a:r>
                        <a:rPr lang="es-ES" sz="1600" dirty="0"/>
                        <a:t>Cantidad de arcos o aristas</a:t>
                      </a:r>
                    </a:p>
                  </a:txBody>
                  <a:tcPr/>
                </a:tc>
                <a:tc>
                  <a:txBody>
                    <a:bodyPr/>
                    <a:lstStyle/>
                    <a:p>
                      <a:r>
                        <a:rPr lang="es-ES" sz="1600" dirty="0"/>
                        <a:t>PRM</a:t>
                      </a:r>
                    </a:p>
                  </a:txBody>
                  <a:tcPr/>
                </a:tc>
                <a:tc>
                  <a:txBody>
                    <a:bodyPr/>
                    <a:lstStyle/>
                    <a:p>
                      <a:r>
                        <a:rPr lang="es-ES" sz="1600" dirty="0"/>
                        <a:t>KPIECE</a:t>
                      </a:r>
                    </a:p>
                  </a:txBody>
                  <a:tcPr/>
                </a:tc>
                <a:tc>
                  <a:txBody>
                    <a:bodyPr/>
                    <a:lstStyle/>
                    <a:p>
                      <a:r>
                        <a:rPr lang="es-ES" sz="1600" dirty="0"/>
                        <a:t>LazyPRM</a:t>
                      </a:r>
                    </a:p>
                  </a:txBody>
                  <a:tcPr/>
                </a:tc>
                <a:tc>
                  <a:txBody>
                    <a:bodyPr/>
                    <a:lstStyle/>
                    <a:p>
                      <a:r>
                        <a:rPr lang="es-ES" sz="1600" dirty="0"/>
                        <a:t>RRTConnect</a:t>
                      </a:r>
                    </a:p>
                  </a:txBody>
                  <a:tcPr/>
                </a:tc>
                <a:extLst>
                  <a:ext uri="{0D108BD9-81ED-4DB2-BD59-A6C34878D82A}">
                    <a16:rowId xmlns:a16="http://schemas.microsoft.com/office/drawing/2014/main" val="466676702"/>
                  </a:ext>
                </a:extLst>
              </a:tr>
            </a:tbl>
          </a:graphicData>
        </a:graphic>
      </p:graphicFrame>
      <p:sp>
        <p:nvSpPr>
          <p:cNvPr id="4" name="CuadroTexto 3">
            <a:extLst>
              <a:ext uri="{FF2B5EF4-FFF2-40B4-BE49-F238E27FC236}">
                <a16:creationId xmlns:a16="http://schemas.microsoft.com/office/drawing/2014/main" id="{2E68D55D-4C09-4D12-B340-2A0730293E46}"/>
              </a:ext>
            </a:extLst>
          </p:cNvPr>
          <p:cNvSpPr txBox="1"/>
          <p:nvPr/>
        </p:nvSpPr>
        <p:spPr>
          <a:xfrm>
            <a:off x="242453" y="3363015"/>
            <a:ext cx="11727874" cy="3363678"/>
          </a:xfrm>
          <a:prstGeom prst="rect">
            <a:avLst/>
          </a:prstGeom>
          <a:noFill/>
        </p:spPr>
        <p:txBody>
          <a:bodyPr wrap="square" rtlCol="0">
            <a:spAutoFit/>
          </a:bodyPr>
          <a:lstStyle/>
          <a:p>
            <a:pPr>
              <a:lnSpc>
                <a:spcPct val="150000"/>
              </a:lnSpc>
            </a:pPr>
            <a:r>
              <a:rPr lang="es-ES" dirty="0"/>
              <a:t>Se puede concluir que para el par escenario-robot empleados en el estudio, el mejor planificador se encuentra entre LazyPRM y KPIECE. </a:t>
            </a:r>
          </a:p>
          <a:p>
            <a:pPr>
              <a:lnSpc>
                <a:spcPct val="150000"/>
              </a:lnSpc>
            </a:pPr>
            <a:r>
              <a:rPr lang="es-ES" dirty="0"/>
              <a:t>LazyPRM: Aunque es más lento y utiliza más memoria que KPIECE, no es muy grande la diferencia. Por otra parte, la consideración para los puntos de cantidad de nodos y arcos se tiene en cuenta para la suavidad  de la solución, punto en el que supera a KPIECE con notable diferencia. </a:t>
            </a:r>
          </a:p>
          <a:p>
            <a:pPr>
              <a:lnSpc>
                <a:spcPct val="150000"/>
              </a:lnSpc>
            </a:pPr>
            <a:r>
              <a:rPr lang="es-ES" dirty="0"/>
              <a:t>Cabe destacar que la elección de uno u otro algoritmo va a depender de otros elementos como pueden ser la potencia de cómputo disponible, la necesidad de la suavidad de la solución para determinada solución en que no sean deseables cambios bruscos entre un estado y el siguiente, etc.</a:t>
            </a:r>
          </a:p>
        </p:txBody>
      </p:sp>
    </p:spTree>
    <p:extLst>
      <p:ext uri="{BB962C8B-B14F-4D97-AF65-F5344CB8AC3E}">
        <p14:creationId xmlns:p14="http://schemas.microsoft.com/office/powerpoint/2010/main" val="2895113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D4ED639-1645-4796-8F52-CE19226BE71D}"/>
              </a:ext>
            </a:extLst>
          </p:cNvPr>
          <p:cNvSpPr/>
          <p:nvPr/>
        </p:nvSpPr>
        <p:spPr>
          <a:xfrm>
            <a:off x="995776" y="318403"/>
            <a:ext cx="9974205" cy="2123658"/>
          </a:xfrm>
          <a:prstGeom prst="rect">
            <a:avLst/>
          </a:prstGeom>
          <a:noFill/>
        </p:spPr>
        <p:txBody>
          <a:bodyPr wrap="none" lIns="91440" tIns="45720" rIns="91440" bIns="45720">
            <a:spAutoFit/>
          </a:bodyPr>
          <a:lstStyle/>
          <a:p>
            <a:pPr algn="ctr"/>
            <a:r>
              <a:rPr lang="es-ES" sz="4400" b="1" cap="none" spc="0" dirty="0">
                <a:ln w="22225">
                  <a:solidFill>
                    <a:schemeClr val="accent2"/>
                  </a:solidFill>
                  <a:prstDash val="solid"/>
                </a:ln>
                <a:solidFill>
                  <a:schemeClr val="accent2">
                    <a:lumMod val="40000"/>
                    <a:lumOff val="60000"/>
                  </a:schemeClr>
                </a:solidFill>
                <a:effectLst/>
              </a:rPr>
              <a:t>Trabajo Final </a:t>
            </a:r>
          </a:p>
          <a:p>
            <a:pPr algn="ctr"/>
            <a:r>
              <a:rPr lang="es-ES" sz="4400" b="1" dirty="0">
                <a:ln w="22225">
                  <a:solidFill>
                    <a:schemeClr val="accent2"/>
                  </a:solidFill>
                  <a:prstDash val="solid"/>
                </a:ln>
                <a:solidFill>
                  <a:schemeClr val="accent2">
                    <a:lumMod val="40000"/>
                    <a:lumOff val="60000"/>
                  </a:schemeClr>
                </a:solidFill>
              </a:rPr>
              <a:t>De</a:t>
            </a:r>
          </a:p>
          <a:p>
            <a:pPr algn="ctr"/>
            <a:r>
              <a:rPr lang="es-ES" sz="4400" b="1" cap="none" spc="0" dirty="0">
                <a:ln w="22225">
                  <a:solidFill>
                    <a:schemeClr val="accent2"/>
                  </a:solidFill>
                  <a:prstDash val="solid"/>
                </a:ln>
                <a:solidFill>
                  <a:schemeClr val="accent2">
                    <a:lumMod val="40000"/>
                    <a:lumOff val="60000"/>
                  </a:schemeClr>
                </a:solidFill>
                <a:effectLst/>
              </a:rPr>
              <a:t>Técnicas de Planificación de Robots</a:t>
            </a:r>
          </a:p>
        </p:txBody>
      </p:sp>
      <p:sp>
        <p:nvSpPr>
          <p:cNvPr id="4" name="Rectángulo 3">
            <a:extLst>
              <a:ext uri="{FF2B5EF4-FFF2-40B4-BE49-F238E27FC236}">
                <a16:creationId xmlns:a16="http://schemas.microsoft.com/office/drawing/2014/main" id="{1DAFABC9-B73A-4D64-83B4-195AA589CE97}"/>
              </a:ext>
            </a:extLst>
          </p:cNvPr>
          <p:cNvSpPr/>
          <p:nvPr/>
        </p:nvSpPr>
        <p:spPr>
          <a:xfrm>
            <a:off x="414934" y="5791018"/>
            <a:ext cx="2454583" cy="369332"/>
          </a:xfrm>
          <a:prstGeom prst="rect">
            <a:avLst/>
          </a:prstGeom>
          <a:noFill/>
        </p:spPr>
        <p:txBody>
          <a:bodyPr wrap="none" lIns="91440" tIns="45720" rIns="91440" bIns="45720">
            <a:spAutoFit/>
          </a:bodyPr>
          <a:lstStyle/>
          <a:p>
            <a:pPr algn="ctr"/>
            <a:r>
              <a:rPr lang="es-ES" dirty="0">
                <a:ln w="0"/>
                <a:effectLst>
                  <a:outerShdw blurRad="38100" dist="19050" dir="2700000" algn="tl" rotWithShape="0">
                    <a:schemeClr val="dk1">
                      <a:alpha val="40000"/>
                    </a:schemeClr>
                  </a:outerShdw>
                </a:effectLst>
              </a:rPr>
              <a:t>Arlet Acosta González</a:t>
            </a:r>
          </a:p>
        </p:txBody>
      </p:sp>
      <p:pic>
        <p:nvPicPr>
          <p:cNvPr id="6" name="Imagen 5">
            <a:extLst>
              <a:ext uri="{FF2B5EF4-FFF2-40B4-BE49-F238E27FC236}">
                <a16:creationId xmlns:a16="http://schemas.microsoft.com/office/drawing/2014/main" id="{6A2A9F50-A8B6-41FE-A9EC-B5393D54EEEB}"/>
              </a:ext>
            </a:extLst>
          </p:cNvPr>
          <p:cNvPicPr>
            <a:picLocks noChangeAspect="1"/>
          </p:cNvPicPr>
          <p:nvPr/>
        </p:nvPicPr>
        <p:blipFill>
          <a:blip r:embed="rId2">
            <a:alphaModFix amt="85000"/>
          </a:blip>
          <a:stretch>
            <a:fillRect/>
          </a:stretch>
        </p:blipFill>
        <p:spPr>
          <a:xfrm>
            <a:off x="2869517" y="2809002"/>
            <a:ext cx="6076520" cy="2541835"/>
          </a:xfrm>
          <a:prstGeom prst="rect">
            <a:avLst/>
          </a:prstGeom>
        </p:spPr>
      </p:pic>
      <p:sp>
        <p:nvSpPr>
          <p:cNvPr id="5" name="Rectángulo 4">
            <a:extLst>
              <a:ext uri="{FF2B5EF4-FFF2-40B4-BE49-F238E27FC236}">
                <a16:creationId xmlns:a16="http://schemas.microsoft.com/office/drawing/2014/main" id="{C3111C42-35FE-43D4-BE03-8AE6534769BE}"/>
              </a:ext>
            </a:extLst>
          </p:cNvPr>
          <p:cNvSpPr/>
          <p:nvPr/>
        </p:nvSpPr>
        <p:spPr>
          <a:xfrm>
            <a:off x="258485" y="6231199"/>
            <a:ext cx="3651962" cy="369332"/>
          </a:xfrm>
          <a:prstGeom prst="rect">
            <a:avLst/>
          </a:prstGeom>
          <a:noFill/>
        </p:spPr>
        <p:txBody>
          <a:bodyPr wrap="none" lIns="91440" tIns="45720" rIns="91440" bIns="45720">
            <a:spAutoFit/>
          </a:bodyPr>
          <a:lstStyle/>
          <a:p>
            <a:pPr algn="ctr"/>
            <a:r>
              <a:rPr lang="es-ES" dirty="0">
                <a:ln w="0"/>
                <a:effectLst>
                  <a:outerShdw blurRad="38100" dist="19050" dir="2700000" algn="tl" rotWithShape="0">
                    <a:schemeClr val="dk1">
                      <a:alpha val="40000"/>
                    </a:schemeClr>
                  </a:outerShdw>
                </a:effectLst>
              </a:rPr>
              <a:t>Máster en Sistemas Inteligentes</a:t>
            </a:r>
          </a:p>
        </p:txBody>
      </p:sp>
      <p:pic>
        <p:nvPicPr>
          <p:cNvPr id="8" name="Imagen 7">
            <a:extLst>
              <a:ext uri="{FF2B5EF4-FFF2-40B4-BE49-F238E27FC236}">
                <a16:creationId xmlns:a16="http://schemas.microsoft.com/office/drawing/2014/main" id="{21871F8D-92C2-482F-BEC3-1D325E163155}"/>
              </a:ext>
            </a:extLst>
          </p:cNvPr>
          <p:cNvPicPr>
            <a:picLocks noChangeAspect="1"/>
          </p:cNvPicPr>
          <p:nvPr/>
        </p:nvPicPr>
        <p:blipFill>
          <a:blip r:embed="rId3"/>
          <a:stretch>
            <a:fillRect/>
          </a:stretch>
        </p:blipFill>
        <p:spPr>
          <a:xfrm>
            <a:off x="8946037" y="5705780"/>
            <a:ext cx="3013797" cy="833817"/>
          </a:xfrm>
          <a:prstGeom prst="rect">
            <a:avLst/>
          </a:prstGeom>
        </p:spPr>
      </p:pic>
    </p:spTree>
    <p:extLst>
      <p:ext uri="{BB962C8B-B14F-4D97-AF65-F5344CB8AC3E}">
        <p14:creationId xmlns:p14="http://schemas.microsoft.com/office/powerpoint/2010/main" val="38088189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tabl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i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Citable</Template>
  <TotalTime>3108</TotalTime>
  <Words>1351</Words>
  <Application>Microsoft Office PowerPoint</Application>
  <PresentationFormat>Panorámica</PresentationFormat>
  <Paragraphs>116</Paragraphs>
  <Slides>19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Century Gothic</vt:lpstr>
      <vt:lpstr>Lucida Grande</vt:lpstr>
      <vt:lpstr>Wingdings 2</vt:lpstr>
      <vt:lpstr>Citable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Arlet Acosta González</dc:creator>
  <cp:lastModifiedBy>Arlet Acosta González</cp:lastModifiedBy>
  <cp:revision>103</cp:revision>
  <dcterms:created xsi:type="dcterms:W3CDTF">2024-02-02T12:33:20Z</dcterms:created>
  <dcterms:modified xsi:type="dcterms:W3CDTF">2024-04-22T10:43:03Z</dcterms:modified>
</cp:coreProperties>
</file>