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AFF166-4524-40F3-8F04-B61CC0EBCE2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CAF0F85B-64E0-4E9F-80F7-5DE557402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C88C2980-4483-4B47-9931-24F5E1AFC8D0}"/>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5" name="Marcador de pie de página 4">
            <a:extLst>
              <a:ext uri="{FF2B5EF4-FFF2-40B4-BE49-F238E27FC236}">
                <a16:creationId xmlns:a16="http://schemas.microsoft.com/office/drawing/2014/main" id="{8403011A-2C73-4606-B52A-692AB269F2B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19A1F2C-37D3-4AE6-B7FE-05BD4ADCCEFA}"/>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2767507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0E557A-37A2-49DA-B978-822A4BE218F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2BAA014-D30B-4657-8579-2E89E74F271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DE2D002-5A9A-41F7-927F-AB900E6C99F7}"/>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5" name="Marcador de pie de página 4">
            <a:extLst>
              <a:ext uri="{FF2B5EF4-FFF2-40B4-BE49-F238E27FC236}">
                <a16:creationId xmlns:a16="http://schemas.microsoft.com/office/drawing/2014/main" id="{B48F5BD6-FA96-4795-9D57-0CD6E6802B8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6E543F8-BA86-4E50-9913-58A92BB3393A}"/>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173634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251746-D8E0-4E1E-BD4E-3EDA4ADB543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C66A3822-CB73-464B-88A3-13765AFA43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6AAC2BC-CB5E-4539-85BB-E8C7997F7FF0}"/>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5" name="Marcador de pie de página 4">
            <a:extLst>
              <a:ext uri="{FF2B5EF4-FFF2-40B4-BE49-F238E27FC236}">
                <a16:creationId xmlns:a16="http://schemas.microsoft.com/office/drawing/2014/main" id="{760EF1A6-57E5-459D-A967-33E2DF75C68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E11792-C12C-499D-A612-C59D5AA407BC}"/>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168191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15F382-128C-429C-B36E-AAD52059EDF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2E5FF91-30D6-4B91-9471-6459A110E23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51DCB723-5A8F-474E-BD67-9A7ABD41B3D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266320A-52BF-4F0A-84AC-EF6811FBEB91}"/>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6" name="Marcador de pie de página 5">
            <a:extLst>
              <a:ext uri="{FF2B5EF4-FFF2-40B4-BE49-F238E27FC236}">
                <a16:creationId xmlns:a16="http://schemas.microsoft.com/office/drawing/2014/main" id="{E504A181-1754-4F37-BC30-AEBE906D05C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7317D5D-6DC4-4BDB-8AFF-6DFCBFBE8770}"/>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2223429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825281-A017-4495-81ED-838BD0964D3C}"/>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08945D6-30B6-4720-9442-66A6F23EB7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F514ACD-56E1-4EFD-AAFD-AFDF6BFE12F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6354FD9-9710-4E1E-BD95-F971DD9783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FDB6988-D4CD-4E7B-A428-26AD92933D8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22F7753-42D8-48E3-9414-515E5DCF2662}"/>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8" name="Marcador de pie de página 7">
            <a:extLst>
              <a:ext uri="{FF2B5EF4-FFF2-40B4-BE49-F238E27FC236}">
                <a16:creationId xmlns:a16="http://schemas.microsoft.com/office/drawing/2014/main" id="{B5336532-4A8B-4417-B21E-A18B0EB10C12}"/>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9EF00D4E-B7EB-4CB9-A8BC-815DA168841D}"/>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105603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A98F71-4ECB-4BB7-84E3-4DA8237E979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0A8D633-36A4-4A0D-8D88-9695082EB2F4}"/>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4" name="Marcador de pie de página 3">
            <a:extLst>
              <a:ext uri="{FF2B5EF4-FFF2-40B4-BE49-F238E27FC236}">
                <a16:creationId xmlns:a16="http://schemas.microsoft.com/office/drawing/2014/main" id="{5712B0DF-6CD6-423C-B40E-A9EB41C7A38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7086F67E-512F-43BA-8A60-F070C38A5E51}"/>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3222107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87E23E3-41B5-4F71-8F9C-59BBD275AF47}"/>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3" name="Marcador de pie de página 2">
            <a:extLst>
              <a:ext uri="{FF2B5EF4-FFF2-40B4-BE49-F238E27FC236}">
                <a16:creationId xmlns:a16="http://schemas.microsoft.com/office/drawing/2014/main" id="{D88FEAB1-0ADB-4798-BE6B-CDB04394784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124501DA-D616-4592-BEC5-0AECDA5544A8}"/>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847833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425F92-E861-4C89-953A-9E0F0A187E0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19AD3A4-42FB-4EF1-B7F9-89EBD2BAED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D5376F56-A96A-4655-BEB6-A2964EDC3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3A08B2A-F3FB-421B-AD7A-1FFCF5C03957}"/>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6" name="Marcador de pie de página 5">
            <a:extLst>
              <a:ext uri="{FF2B5EF4-FFF2-40B4-BE49-F238E27FC236}">
                <a16:creationId xmlns:a16="http://schemas.microsoft.com/office/drawing/2014/main" id="{0DF3BD96-3120-4B04-BF3E-C54AC8C7197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2D6E6EF-A455-4C22-B2ED-34E7874071F8}"/>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3316923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CDC109-F150-4035-B51D-84A4E0C565E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8667FE92-E096-4963-84A1-64C1C79E83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7EAA6824-A772-4651-8A30-D2B1EDC2AB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B467825-5226-4AD2-A4DB-00A82D56D9A2}"/>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6" name="Marcador de pie de página 5">
            <a:extLst>
              <a:ext uri="{FF2B5EF4-FFF2-40B4-BE49-F238E27FC236}">
                <a16:creationId xmlns:a16="http://schemas.microsoft.com/office/drawing/2014/main" id="{F64B57EE-1B18-46E9-A8D1-0B41BA63C0E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8B99BE9-9F22-4BEE-82CC-A42B7F624F9E}"/>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399257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5451BE-91D7-4C20-A57B-B1F938932732}"/>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51A76C8-2B57-4F3E-A81A-6FCABED7310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FD9EC27-7CAB-4E5F-80EE-3697127407A9}"/>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5" name="Marcador de pie de página 4">
            <a:extLst>
              <a:ext uri="{FF2B5EF4-FFF2-40B4-BE49-F238E27FC236}">
                <a16:creationId xmlns:a16="http://schemas.microsoft.com/office/drawing/2014/main" id="{26686F46-D556-46E5-83D9-B477D0B22A4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9540D51-E49F-42CC-BD47-29D6A5952948}"/>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2857765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B9915D-65EB-4BC6-89BB-66F5052149F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2E7AB2B8-551F-4F9F-847C-E2362ACF395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E0F5C75-275A-48FF-B3BB-0E19FF0A71B9}"/>
              </a:ext>
            </a:extLst>
          </p:cNvPr>
          <p:cNvSpPr>
            <a:spLocks noGrp="1"/>
          </p:cNvSpPr>
          <p:nvPr>
            <p:ph type="dt" sz="half" idx="10"/>
          </p:nvPr>
        </p:nvSpPr>
        <p:spPr/>
        <p:txBody>
          <a:bodyPr/>
          <a:lstStyle/>
          <a:p>
            <a:fld id="{C9B6164E-A6FA-4500-8D0C-91E6D78A2A07}" type="datetimeFigureOut">
              <a:rPr lang="es-ES" smtClean="0"/>
              <a:t>05/12/2023</a:t>
            </a:fld>
            <a:endParaRPr lang="es-ES"/>
          </a:p>
        </p:txBody>
      </p:sp>
      <p:sp>
        <p:nvSpPr>
          <p:cNvPr id="5" name="Marcador de pie de página 4">
            <a:extLst>
              <a:ext uri="{FF2B5EF4-FFF2-40B4-BE49-F238E27FC236}">
                <a16:creationId xmlns:a16="http://schemas.microsoft.com/office/drawing/2014/main" id="{C46A798D-7C2D-466C-A0A8-BD4894BC1FC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7238C63-2E2E-4F1F-B78A-CAAF51E28745}"/>
              </a:ext>
            </a:extLst>
          </p:cNvPr>
          <p:cNvSpPr>
            <a:spLocks noGrp="1"/>
          </p:cNvSpPr>
          <p:nvPr>
            <p:ph type="sldNum" sz="quarter" idx="12"/>
          </p:nvPr>
        </p:nvSpPr>
        <p:spPr/>
        <p:txBody>
          <a:bodyPr/>
          <a:lstStyle/>
          <a:p>
            <a:fld id="{CB0DBD91-FDD5-4EEF-BAC2-89242A71FB2E}" type="slidenum">
              <a:rPr lang="es-ES" smtClean="0"/>
              <a:t>‹Nº›</a:t>
            </a:fld>
            <a:endParaRPr lang="es-ES"/>
          </a:p>
        </p:txBody>
      </p:sp>
    </p:spTree>
    <p:extLst>
      <p:ext uri="{BB962C8B-B14F-4D97-AF65-F5344CB8AC3E}">
        <p14:creationId xmlns:p14="http://schemas.microsoft.com/office/powerpoint/2010/main" val="3982280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1208ABF-B487-45AB-BC4A-52D7B1CCEE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FA13DD2-7F69-47DB-B958-62A079B9A7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1B6CF53-8542-4E99-A029-1960CBF5E4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B6164E-A6FA-4500-8D0C-91E6D78A2A07}" type="datetimeFigureOut">
              <a:rPr lang="es-ES" smtClean="0"/>
              <a:t>05/12/2023</a:t>
            </a:fld>
            <a:endParaRPr lang="es-ES"/>
          </a:p>
        </p:txBody>
      </p:sp>
      <p:sp>
        <p:nvSpPr>
          <p:cNvPr id="5" name="Marcador de pie de página 4">
            <a:extLst>
              <a:ext uri="{FF2B5EF4-FFF2-40B4-BE49-F238E27FC236}">
                <a16:creationId xmlns:a16="http://schemas.microsoft.com/office/drawing/2014/main" id="{2D21AF91-6B09-4A93-A12C-133D43CE2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D8B856E3-D2D2-4887-80B7-28BFFFB642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0DBD91-FDD5-4EEF-BAC2-89242A71FB2E}" type="slidenum">
              <a:rPr lang="es-ES" smtClean="0"/>
              <a:t>‹Nº›</a:t>
            </a:fld>
            <a:endParaRPr lang="es-ES"/>
          </a:p>
        </p:txBody>
      </p:sp>
    </p:spTree>
    <p:extLst>
      <p:ext uri="{BB962C8B-B14F-4D97-AF65-F5344CB8AC3E}">
        <p14:creationId xmlns:p14="http://schemas.microsoft.com/office/powerpoint/2010/main" val="1316473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7">
            <a:extLst>
              <a:ext uri="{FF2B5EF4-FFF2-40B4-BE49-F238E27FC236}">
                <a16:creationId xmlns:a16="http://schemas.microsoft.com/office/drawing/2014/main" id="{49EAEC5F-D0FD-4686-A43D-BFD5B35FA1B5}"/>
              </a:ext>
            </a:extLst>
          </p:cNvPr>
          <p:cNvSpPr/>
          <p:nvPr/>
        </p:nvSpPr>
        <p:spPr>
          <a:xfrm>
            <a:off x="3048" y="6400799"/>
            <a:ext cx="12188952" cy="457199"/>
          </a:xfrm>
          <a:custGeom>
            <a:avLst/>
            <a:gdLst/>
            <a:ahLst/>
            <a:cxnLst/>
            <a:rect l="l" t="t" r="r" b="b"/>
            <a:pathLst>
              <a:path w="12188952" h="457199">
                <a:moveTo>
                  <a:pt x="12188952" y="457199"/>
                </a:moveTo>
                <a:lnTo>
                  <a:pt x="12188952" y="0"/>
                </a:lnTo>
                <a:lnTo>
                  <a:pt x="0" y="0"/>
                </a:lnTo>
                <a:lnTo>
                  <a:pt x="0" y="457199"/>
                </a:lnTo>
                <a:lnTo>
                  <a:pt x="12188952" y="457199"/>
                </a:lnTo>
                <a:close/>
              </a:path>
            </a:pathLst>
          </a:custGeom>
          <a:solidFill>
            <a:srgbClr val="009DD9"/>
          </a:solidFill>
        </p:spPr>
        <p:txBody>
          <a:bodyPr wrap="square" lIns="0" tIns="0" rIns="0" bIns="0" rtlCol="0">
            <a:noAutofit/>
          </a:bodyPr>
          <a:lstStyle/>
          <a:p>
            <a:endParaRPr/>
          </a:p>
        </p:txBody>
      </p:sp>
      <p:sp>
        <p:nvSpPr>
          <p:cNvPr id="5" name="object 8">
            <a:extLst>
              <a:ext uri="{FF2B5EF4-FFF2-40B4-BE49-F238E27FC236}">
                <a16:creationId xmlns:a16="http://schemas.microsoft.com/office/drawing/2014/main" id="{AAC9CF74-F459-4233-9111-C7E4A2C2A977}"/>
              </a:ext>
            </a:extLst>
          </p:cNvPr>
          <p:cNvSpPr/>
          <p:nvPr/>
        </p:nvSpPr>
        <p:spPr>
          <a:xfrm>
            <a:off x="0" y="6333744"/>
            <a:ext cx="12188952" cy="64007"/>
          </a:xfrm>
          <a:custGeom>
            <a:avLst/>
            <a:gdLst/>
            <a:ahLst/>
            <a:cxnLst/>
            <a:rect l="l" t="t" r="r" b="b"/>
            <a:pathLst>
              <a:path w="12188952" h="64008">
                <a:moveTo>
                  <a:pt x="0" y="64007"/>
                </a:moveTo>
                <a:lnTo>
                  <a:pt x="12188952" y="64007"/>
                </a:lnTo>
                <a:lnTo>
                  <a:pt x="12188952" y="0"/>
                </a:lnTo>
                <a:lnTo>
                  <a:pt x="0" y="0"/>
                </a:lnTo>
                <a:lnTo>
                  <a:pt x="0" y="64007"/>
                </a:lnTo>
                <a:close/>
              </a:path>
            </a:pathLst>
          </a:custGeom>
          <a:solidFill>
            <a:srgbClr val="0E6EC5"/>
          </a:solidFill>
        </p:spPr>
        <p:txBody>
          <a:bodyPr wrap="square" lIns="0" tIns="0" rIns="0" bIns="0" rtlCol="0">
            <a:noAutofit/>
          </a:bodyPr>
          <a:lstStyle/>
          <a:p>
            <a:endParaRPr/>
          </a:p>
        </p:txBody>
      </p:sp>
      <p:sp>
        <p:nvSpPr>
          <p:cNvPr id="6" name="object 4">
            <a:extLst>
              <a:ext uri="{FF2B5EF4-FFF2-40B4-BE49-F238E27FC236}">
                <a16:creationId xmlns:a16="http://schemas.microsoft.com/office/drawing/2014/main" id="{4F6663F2-1F66-4C3F-98C1-C1CBE2B76694}"/>
              </a:ext>
            </a:extLst>
          </p:cNvPr>
          <p:cNvSpPr txBox="1"/>
          <p:nvPr/>
        </p:nvSpPr>
        <p:spPr>
          <a:xfrm>
            <a:off x="584809" y="583690"/>
            <a:ext cx="11019334" cy="832665"/>
          </a:xfrm>
          <a:prstGeom prst="rect">
            <a:avLst/>
          </a:prstGeom>
        </p:spPr>
        <p:txBody>
          <a:bodyPr wrap="square" lIns="0" tIns="12065" rIns="0" bIns="0" rtlCol="0">
            <a:noAutofit/>
          </a:bodyPr>
          <a:lstStyle/>
          <a:p>
            <a:pPr marL="12700">
              <a:lnSpc>
                <a:spcPts val="1900"/>
              </a:lnSpc>
            </a:pPr>
            <a:r>
              <a:rPr sz="1800" spc="-1" dirty="0">
                <a:latin typeface="Calibri"/>
                <a:cs typeface="Calibri"/>
              </a:rPr>
              <a:t>En las imágenes siguientes, se aprecian las salidas del sistema y de la RN para un conjunto de datos de entrenamiento.</a:t>
            </a:r>
            <a:endParaRPr sz="1800" dirty="0">
              <a:latin typeface="Calibri"/>
              <a:cs typeface="Calibri"/>
            </a:endParaRPr>
          </a:p>
          <a:p>
            <a:pPr marL="12700" marR="34290">
              <a:lnSpc>
                <a:spcPts val="2160"/>
              </a:lnSpc>
              <a:spcBef>
                <a:spcPts val="13"/>
              </a:spcBef>
            </a:pPr>
            <a:r>
              <a:rPr sz="1800" spc="-2" dirty="0">
                <a:latin typeface="Calibri"/>
                <a:cs typeface="Calibri"/>
              </a:rPr>
              <a:t>El </a:t>
            </a:r>
            <a:r>
              <a:rPr lang="es-ES" sz="1800" spc="-2" dirty="0">
                <a:latin typeface="Calibri"/>
                <a:cs typeface="Calibri"/>
              </a:rPr>
              <a:t>menor error </a:t>
            </a:r>
            <a:r>
              <a:rPr sz="1800" spc="-2" dirty="0">
                <a:latin typeface="Calibri"/>
                <a:cs typeface="Calibri"/>
              </a:rPr>
              <a:t>se obtiene con una </a:t>
            </a:r>
            <a:r>
              <a:rPr sz="1800" b="1" spc="-2" dirty="0">
                <a:latin typeface="Calibri"/>
                <a:cs typeface="Calibri"/>
              </a:rPr>
              <a:t>Cantidad de entradas y salidas retardadas de la planta </a:t>
            </a:r>
            <a:r>
              <a:rPr sz="1800" spc="-2" dirty="0">
                <a:latin typeface="Calibri"/>
                <a:cs typeface="Calibri"/>
              </a:rPr>
              <a:t>igual a </a:t>
            </a:r>
            <a:r>
              <a:rPr lang="es-ES" sz="1800" spc="-2" dirty="0">
                <a:latin typeface="Calibri"/>
                <a:cs typeface="Calibri"/>
              </a:rPr>
              <a:t>10 (es cinco veces menor)</a:t>
            </a:r>
            <a:r>
              <a:rPr sz="1800" spc="-2" dirty="0">
                <a:latin typeface="Calibri"/>
                <a:cs typeface="Calibri"/>
              </a:rPr>
              <a:t>.</a:t>
            </a:r>
            <a:endParaRPr sz="1800" dirty="0">
              <a:latin typeface="Calibri"/>
              <a:cs typeface="Calibri"/>
            </a:endParaRPr>
          </a:p>
        </p:txBody>
      </p:sp>
      <p:sp>
        <p:nvSpPr>
          <p:cNvPr id="7" name="object 3">
            <a:extLst>
              <a:ext uri="{FF2B5EF4-FFF2-40B4-BE49-F238E27FC236}">
                <a16:creationId xmlns:a16="http://schemas.microsoft.com/office/drawing/2014/main" id="{08E831B8-2BF3-40E4-8D0B-BB2F8DC5BF5F}"/>
              </a:ext>
            </a:extLst>
          </p:cNvPr>
          <p:cNvSpPr txBox="1"/>
          <p:nvPr/>
        </p:nvSpPr>
        <p:spPr>
          <a:xfrm>
            <a:off x="6629400" y="1456111"/>
            <a:ext cx="2922750" cy="802639"/>
          </a:xfrm>
          <a:prstGeom prst="rect">
            <a:avLst/>
          </a:prstGeom>
        </p:spPr>
        <p:txBody>
          <a:bodyPr wrap="square" lIns="0" tIns="12065" rIns="0" bIns="0" rtlCol="0">
            <a:noAutofit/>
          </a:bodyPr>
          <a:lstStyle/>
          <a:p>
            <a:pPr marL="12700" marR="34290">
              <a:lnSpc>
                <a:spcPts val="1900"/>
              </a:lnSpc>
            </a:pPr>
            <a:r>
              <a:rPr sz="1800" spc="0" dirty="0">
                <a:latin typeface="Calibri"/>
                <a:cs typeface="Calibri"/>
              </a:rPr>
              <a:t>Cant. de neuronas = </a:t>
            </a:r>
            <a:r>
              <a:rPr lang="es-ES" sz="1800" spc="0" dirty="0">
                <a:latin typeface="Calibri"/>
                <a:cs typeface="Calibri"/>
              </a:rPr>
              <a:t>7</a:t>
            </a:r>
            <a:endParaRPr sz="1800" dirty="0">
              <a:latin typeface="Calibri"/>
              <a:cs typeface="Calibri"/>
            </a:endParaRPr>
          </a:p>
          <a:p>
            <a:pPr marL="12700" marR="34290">
              <a:lnSpc>
                <a:spcPts val="2160"/>
              </a:lnSpc>
              <a:spcBef>
                <a:spcPts val="13"/>
              </a:spcBef>
            </a:pPr>
            <a:r>
              <a:rPr sz="1800" b="1" spc="-2" dirty="0">
                <a:latin typeface="Calibri"/>
                <a:cs typeface="Calibri"/>
              </a:rPr>
              <a:t>No. Delayed Plant Inputs=10</a:t>
            </a:r>
            <a:endParaRPr sz="1800" dirty="0">
              <a:latin typeface="Calibri"/>
              <a:cs typeface="Calibri"/>
            </a:endParaRPr>
          </a:p>
          <a:p>
            <a:pPr marL="12700">
              <a:lnSpc>
                <a:spcPts val="2160"/>
              </a:lnSpc>
            </a:pPr>
            <a:r>
              <a:rPr sz="1800" b="1" spc="-3" dirty="0">
                <a:latin typeface="Calibri"/>
                <a:cs typeface="Calibri"/>
              </a:rPr>
              <a:t>No. Delayed Plant Outputs=10</a:t>
            </a:r>
            <a:endParaRPr sz="1800" dirty="0">
              <a:latin typeface="Calibri"/>
              <a:cs typeface="Calibri"/>
            </a:endParaRPr>
          </a:p>
        </p:txBody>
      </p:sp>
      <p:sp>
        <p:nvSpPr>
          <p:cNvPr id="8" name="object 2">
            <a:extLst>
              <a:ext uri="{FF2B5EF4-FFF2-40B4-BE49-F238E27FC236}">
                <a16:creationId xmlns:a16="http://schemas.microsoft.com/office/drawing/2014/main" id="{0FB38094-057F-4E4F-B5CC-615D19385D21}"/>
              </a:ext>
            </a:extLst>
          </p:cNvPr>
          <p:cNvSpPr txBox="1"/>
          <p:nvPr/>
        </p:nvSpPr>
        <p:spPr>
          <a:xfrm>
            <a:off x="914400" y="1495712"/>
            <a:ext cx="2807700" cy="802716"/>
          </a:xfrm>
          <a:prstGeom prst="rect">
            <a:avLst/>
          </a:prstGeom>
        </p:spPr>
        <p:txBody>
          <a:bodyPr wrap="square" lIns="0" tIns="12065" rIns="0" bIns="0" rtlCol="0">
            <a:noAutofit/>
          </a:bodyPr>
          <a:lstStyle/>
          <a:p>
            <a:pPr marL="12700" marR="34335">
              <a:lnSpc>
                <a:spcPts val="1900"/>
              </a:lnSpc>
            </a:pPr>
            <a:r>
              <a:rPr sz="1800" spc="0" dirty="0">
                <a:latin typeface="Calibri"/>
                <a:cs typeface="Calibri"/>
              </a:rPr>
              <a:t>Cant. de neuronas = </a:t>
            </a:r>
            <a:r>
              <a:rPr lang="es-ES" sz="1800" spc="0" dirty="0">
                <a:latin typeface="Calibri"/>
                <a:cs typeface="Calibri"/>
              </a:rPr>
              <a:t>7</a:t>
            </a:r>
            <a:endParaRPr sz="1800" dirty="0">
              <a:latin typeface="Calibri"/>
              <a:cs typeface="Calibri"/>
            </a:endParaRPr>
          </a:p>
          <a:p>
            <a:pPr marL="12700" marR="34335">
              <a:lnSpc>
                <a:spcPts val="2160"/>
              </a:lnSpc>
              <a:spcBef>
                <a:spcPts val="13"/>
              </a:spcBef>
            </a:pPr>
            <a:r>
              <a:rPr sz="1800" b="1" spc="-3" dirty="0">
                <a:latin typeface="Calibri"/>
                <a:cs typeface="Calibri"/>
              </a:rPr>
              <a:t>No. Delayed Plant Inputs=2</a:t>
            </a:r>
            <a:endParaRPr sz="1800" dirty="0">
              <a:latin typeface="Calibri"/>
              <a:cs typeface="Calibri"/>
            </a:endParaRPr>
          </a:p>
          <a:p>
            <a:pPr marL="12700">
              <a:lnSpc>
                <a:spcPts val="2160"/>
              </a:lnSpc>
            </a:pPr>
            <a:r>
              <a:rPr sz="1800" b="1" spc="-4" dirty="0">
                <a:latin typeface="Calibri"/>
                <a:cs typeface="Calibri"/>
              </a:rPr>
              <a:t>No. Delayed Plant Outputs=2</a:t>
            </a:r>
            <a:endParaRPr sz="1800" dirty="0">
              <a:latin typeface="Calibri"/>
              <a:cs typeface="Calibri"/>
            </a:endParaRPr>
          </a:p>
        </p:txBody>
      </p:sp>
      <p:pic>
        <p:nvPicPr>
          <p:cNvPr id="9" name="Imagen 8">
            <a:extLst>
              <a:ext uri="{FF2B5EF4-FFF2-40B4-BE49-F238E27FC236}">
                <a16:creationId xmlns:a16="http://schemas.microsoft.com/office/drawing/2014/main" id="{216E7A82-9D76-4EDF-A6CC-4B2E3033CC5C}"/>
              </a:ext>
            </a:extLst>
          </p:cNvPr>
          <p:cNvPicPr>
            <a:picLocks noChangeAspect="1"/>
          </p:cNvPicPr>
          <p:nvPr/>
        </p:nvPicPr>
        <p:blipFill>
          <a:blip r:embed="rId2"/>
          <a:stretch>
            <a:fillRect/>
          </a:stretch>
        </p:blipFill>
        <p:spPr>
          <a:xfrm>
            <a:off x="6629400" y="2298428"/>
            <a:ext cx="3505200" cy="4036098"/>
          </a:xfrm>
          <a:prstGeom prst="rect">
            <a:avLst/>
          </a:prstGeom>
        </p:spPr>
      </p:pic>
      <p:sp>
        <p:nvSpPr>
          <p:cNvPr id="10" name="CuadroTexto 9">
            <a:extLst>
              <a:ext uri="{FF2B5EF4-FFF2-40B4-BE49-F238E27FC236}">
                <a16:creationId xmlns:a16="http://schemas.microsoft.com/office/drawing/2014/main" id="{E9A94181-F3F6-4535-8F77-257CFCA097C0}"/>
              </a:ext>
            </a:extLst>
          </p:cNvPr>
          <p:cNvSpPr txBox="1"/>
          <p:nvPr/>
        </p:nvSpPr>
        <p:spPr>
          <a:xfrm>
            <a:off x="453594" y="78259"/>
            <a:ext cx="11186262" cy="361637"/>
          </a:xfrm>
          <a:prstGeom prst="rect">
            <a:avLst/>
          </a:prstGeom>
          <a:noFill/>
        </p:spPr>
        <p:txBody>
          <a:bodyPr wrap="square">
            <a:spAutoFit/>
          </a:bodyPr>
          <a:lstStyle/>
          <a:p>
            <a:pPr marL="12700">
              <a:lnSpc>
                <a:spcPts val="2105"/>
              </a:lnSpc>
            </a:pPr>
            <a:r>
              <a:rPr lang="es-ES" sz="1800" b="1" spc="37" dirty="0">
                <a:solidFill>
                  <a:srgbClr val="0A5294"/>
                </a:solidFill>
                <a:latin typeface="Calibri"/>
                <a:cs typeface="Calibri"/>
              </a:rPr>
              <a:t>Variación de Numero de Entradas y Salidas Retardadas (</a:t>
            </a:r>
            <a:r>
              <a:rPr lang="es-ES" sz="1800" b="1" i="1" spc="37" dirty="0">
                <a:solidFill>
                  <a:srgbClr val="0A5294"/>
                </a:solidFill>
                <a:latin typeface="Calibri"/>
                <a:cs typeface="Calibri"/>
              </a:rPr>
              <a:t>No. Delayed Plant Inputs y No. Delayed Plant </a:t>
            </a:r>
            <a:r>
              <a:rPr lang="es-ES" sz="1800" b="1" i="1" spc="0" dirty="0">
                <a:solidFill>
                  <a:srgbClr val="0A5294"/>
                </a:solidFill>
                <a:latin typeface="Calibri"/>
                <a:cs typeface="Calibri"/>
              </a:rPr>
              <a:t>Outputs</a:t>
            </a:r>
            <a:r>
              <a:rPr lang="es-ES" sz="1800" b="1" spc="0" dirty="0">
                <a:solidFill>
                  <a:srgbClr val="0A5294"/>
                </a:solidFill>
                <a:latin typeface="Calibri"/>
                <a:cs typeface="Calibri"/>
              </a:rPr>
              <a:t>)</a:t>
            </a:r>
            <a:endParaRPr lang="es-ES" sz="1800" dirty="0">
              <a:latin typeface="Calibri"/>
              <a:cs typeface="Calibri"/>
            </a:endParaRPr>
          </a:p>
        </p:txBody>
      </p:sp>
      <p:pic>
        <p:nvPicPr>
          <p:cNvPr id="11" name="Imagen 10">
            <a:extLst>
              <a:ext uri="{FF2B5EF4-FFF2-40B4-BE49-F238E27FC236}">
                <a16:creationId xmlns:a16="http://schemas.microsoft.com/office/drawing/2014/main" id="{BB901A76-77D0-432B-9533-AAF06409A65F}"/>
              </a:ext>
            </a:extLst>
          </p:cNvPr>
          <p:cNvPicPr>
            <a:picLocks noChangeAspect="1"/>
          </p:cNvPicPr>
          <p:nvPr/>
        </p:nvPicPr>
        <p:blipFill>
          <a:blip r:embed="rId3"/>
          <a:stretch>
            <a:fillRect/>
          </a:stretch>
        </p:blipFill>
        <p:spPr>
          <a:xfrm>
            <a:off x="914400" y="2445836"/>
            <a:ext cx="3321202" cy="3808552"/>
          </a:xfrm>
          <a:prstGeom prst="rect">
            <a:avLst/>
          </a:prstGeom>
        </p:spPr>
      </p:pic>
    </p:spTree>
    <p:extLst>
      <p:ext uri="{BB962C8B-B14F-4D97-AF65-F5344CB8AC3E}">
        <p14:creationId xmlns:p14="http://schemas.microsoft.com/office/powerpoint/2010/main" val="4024906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D6EF20FF-B607-43B3-A48B-B665B870B197}"/>
              </a:ext>
            </a:extLst>
          </p:cNvPr>
          <p:cNvSpPr/>
          <p:nvPr/>
        </p:nvSpPr>
        <p:spPr>
          <a:xfrm>
            <a:off x="3048" y="6400799"/>
            <a:ext cx="12188952" cy="457199"/>
          </a:xfrm>
          <a:custGeom>
            <a:avLst/>
            <a:gdLst/>
            <a:ahLst/>
            <a:cxnLst/>
            <a:rect l="l" t="t" r="r" b="b"/>
            <a:pathLst>
              <a:path w="12188952" h="457199">
                <a:moveTo>
                  <a:pt x="12188952" y="457199"/>
                </a:moveTo>
                <a:lnTo>
                  <a:pt x="12188952" y="0"/>
                </a:lnTo>
                <a:lnTo>
                  <a:pt x="0" y="0"/>
                </a:lnTo>
                <a:lnTo>
                  <a:pt x="0" y="457199"/>
                </a:lnTo>
                <a:lnTo>
                  <a:pt x="12188952" y="457199"/>
                </a:lnTo>
                <a:close/>
              </a:path>
            </a:pathLst>
          </a:custGeom>
          <a:solidFill>
            <a:srgbClr val="009DD9"/>
          </a:solidFill>
        </p:spPr>
        <p:txBody>
          <a:bodyPr wrap="square" lIns="0" tIns="0" rIns="0" bIns="0" rtlCol="0">
            <a:noAutofit/>
          </a:bodyPr>
          <a:lstStyle/>
          <a:p>
            <a:endParaRPr/>
          </a:p>
        </p:txBody>
      </p:sp>
      <p:sp>
        <p:nvSpPr>
          <p:cNvPr id="3" name="object 6">
            <a:extLst>
              <a:ext uri="{FF2B5EF4-FFF2-40B4-BE49-F238E27FC236}">
                <a16:creationId xmlns:a16="http://schemas.microsoft.com/office/drawing/2014/main" id="{C00FA61B-23ED-4553-B996-CB389D04CE76}"/>
              </a:ext>
            </a:extLst>
          </p:cNvPr>
          <p:cNvSpPr/>
          <p:nvPr/>
        </p:nvSpPr>
        <p:spPr>
          <a:xfrm>
            <a:off x="0" y="6333744"/>
            <a:ext cx="12188952" cy="64007"/>
          </a:xfrm>
          <a:custGeom>
            <a:avLst/>
            <a:gdLst/>
            <a:ahLst/>
            <a:cxnLst/>
            <a:rect l="l" t="t" r="r" b="b"/>
            <a:pathLst>
              <a:path w="12188952" h="64008">
                <a:moveTo>
                  <a:pt x="0" y="64007"/>
                </a:moveTo>
                <a:lnTo>
                  <a:pt x="12188952" y="64007"/>
                </a:lnTo>
                <a:lnTo>
                  <a:pt x="12188952" y="0"/>
                </a:lnTo>
                <a:lnTo>
                  <a:pt x="0" y="0"/>
                </a:lnTo>
                <a:lnTo>
                  <a:pt x="0" y="64007"/>
                </a:lnTo>
                <a:close/>
              </a:path>
            </a:pathLst>
          </a:custGeom>
          <a:solidFill>
            <a:srgbClr val="0E6EC5"/>
          </a:solidFill>
        </p:spPr>
        <p:txBody>
          <a:bodyPr wrap="square" lIns="0" tIns="0" rIns="0" bIns="0" rtlCol="0">
            <a:noAutofit/>
          </a:bodyPr>
          <a:lstStyle/>
          <a:p>
            <a:endParaRPr/>
          </a:p>
        </p:txBody>
      </p:sp>
      <p:sp>
        <p:nvSpPr>
          <p:cNvPr id="4" name="object 4">
            <a:extLst>
              <a:ext uri="{FF2B5EF4-FFF2-40B4-BE49-F238E27FC236}">
                <a16:creationId xmlns:a16="http://schemas.microsoft.com/office/drawing/2014/main" id="{18DC32BB-756F-4BB3-86E1-A3B761BCE878}"/>
              </a:ext>
            </a:extLst>
          </p:cNvPr>
          <p:cNvSpPr txBox="1"/>
          <p:nvPr/>
        </p:nvSpPr>
        <p:spPr>
          <a:xfrm>
            <a:off x="601472" y="416077"/>
            <a:ext cx="11204757" cy="803122"/>
          </a:xfrm>
          <a:prstGeom prst="rect">
            <a:avLst/>
          </a:prstGeom>
        </p:spPr>
        <p:txBody>
          <a:bodyPr wrap="square" lIns="0" tIns="12065" rIns="0" bIns="0" rtlCol="0">
            <a:noAutofit/>
          </a:bodyPr>
          <a:lstStyle/>
          <a:p>
            <a:pPr marL="12700">
              <a:lnSpc>
                <a:spcPts val="1900"/>
              </a:lnSpc>
            </a:pPr>
            <a:r>
              <a:rPr sz="1800" spc="-2" dirty="0">
                <a:latin typeface="Calibri"/>
                <a:cs typeface="Calibri"/>
              </a:rPr>
              <a:t>A continuación, se muestran las salidas del sistema y de la RN para un conjunto de datos de validación. Para un conjunto</a:t>
            </a:r>
            <a:endParaRPr sz="1800" dirty="0">
              <a:latin typeface="Calibri"/>
              <a:cs typeface="Calibri"/>
            </a:endParaRPr>
          </a:p>
          <a:p>
            <a:pPr marL="12700" marR="4448">
              <a:lnSpc>
                <a:spcPts val="2160"/>
              </a:lnSpc>
              <a:spcBef>
                <a:spcPts val="13"/>
              </a:spcBef>
            </a:pPr>
            <a:r>
              <a:rPr sz="1800" spc="-1" dirty="0">
                <a:latin typeface="Calibri"/>
                <a:cs typeface="Calibri"/>
              </a:rPr>
              <a:t>de datos nuevos, </a:t>
            </a:r>
            <a:r>
              <a:rPr lang="es-ES" sz="1800" spc="-1" dirty="0">
                <a:latin typeface="Calibri"/>
                <a:cs typeface="Calibri"/>
              </a:rPr>
              <a:t>el error entre </a:t>
            </a:r>
            <a:r>
              <a:rPr sz="1800" spc="-1" dirty="0">
                <a:latin typeface="Calibri"/>
                <a:cs typeface="Calibri"/>
              </a:rPr>
              <a:t>la salida de la RN y la del </a:t>
            </a:r>
            <a:r>
              <a:rPr sz="1800" spc="-1" dirty="0" err="1">
                <a:latin typeface="Calibri"/>
                <a:cs typeface="Calibri"/>
              </a:rPr>
              <a:t>sistema</a:t>
            </a:r>
            <a:r>
              <a:rPr sz="1800" spc="-1" dirty="0">
                <a:latin typeface="Calibri"/>
                <a:cs typeface="Calibri"/>
              </a:rPr>
              <a:t> </a:t>
            </a:r>
            <a:r>
              <a:rPr lang="es-ES" sz="1800" spc="-1" dirty="0">
                <a:latin typeface="Calibri"/>
                <a:cs typeface="Calibri"/>
              </a:rPr>
              <a:t>es menor </a:t>
            </a:r>
            <a:r>
              <a:rPr sz="1800" spc="-1" dirty="0" err="1">
                <a:latin typeface="Calibri"/>
                <a:cs typeface="Calibri"/>
              </a:rPr>
              <a:t>cuando</a:t>
            </a:r>
            <a:r>
              <a:rPr sz="1800" spc="-1" dirty="0">
                <a:latin typeface="Calibri"/>
                <a:cs typeface="Calibri"/>
              </a:rPr>
              <a:t> la cantidad de entradas y </a:t>
            </a:r>
            <a:r>
              <a:rPr sz="1800" spc="-1" dirty="0" err="1">
                <a:latin typeface="Calibri"/>
                <a:cs typeface="Calibri"/>
              </a:rPr>
              <a:t>salidas</a:t>
            </a:r>
            <a:r>
              <a:rPr sz="1800" spc="-1" dirty="0">
                <a:latin typeface="Calibri"/>
                <a:cs typeface="Calibri"/>
              </a:rPr>
              <a:t> </a:t>
            </a:r>
            <a:r>
              <a:rPr sz="1800" spc="-1" dirty="0" err="1">
                <a:latin typeface="Calibri"/>
                <a:cs typeface="Calibri"/>
              </a:rPr>
              <a:t>retardadas</a:t>
            </a:r>
            <a:r>
              <a:rPr lang="es-ES" sz="1800" spc="-1" dirty="0">
                <a:latin typeface="Calibri"/>
                <a:cs typeface="Calibri"/>
              </a:rPr>
              <a:t> </a:t>
            </a:r>
            <a:r>
              <a:rPr sz="1800" dirty="0">
                <a:latin typeface="Calibri"/>
                <a:cs typeface="Calibri"/>
              </a:rPr>
              <a:t>de la planta son igual a </a:t>
            </a:r>
            <a:r>
              <a:rPr lang="es-ES" sz="1800" dirty="0">
                <a:latin typeface="Calibri"/>
                <a:cs typeface="Calibri"/>
              </a:rPr>
              <a:t>10</a:t>
            </a:r>
            <a:r>
              <a:rPr sz="1800" dirty="0">
                <a:latin typeface="Calibri"/>
                <a:cs typeface="Calibri"/>
              </a:rPr>
              <a:t>.</a:t>
            </a:r>
          </a:p>
        </p:txBody>
      </p:sp>
      <p:sp>
        <p:nvSpPr>
          <p:cNvPr id="5" name="object 3">
            <a:extLst>
              <a:ext uri="{FF2B5EF4-FFF2-40B4-BE49-F238E27FC236}">
                <a16:creationId xmlns:a16="http://schemas.microsoft.com/office/drawing/2014/main" id="{C9185B22-D52C-4097-81E2-DFE9AB4AC76C}"/>
              </a:ext>
            </a:extLst>
          </p:cNvPr>
          <p:cNvSpPr txBox="1"/>
          <p:nvPr/>
        </p:nvSpPr>
        <p:spPr>
          <a:xfrm>
            <a:off x="1044041" y="1339621"/>
            <a:ext cx="2806887" cy="803122"/>
          </a:xfrm>
          <a:prstGeom prst="rect">
            <a:avLst/>
          </a:prstGeom>
        </p:spPr>
        <p:txBody>
          <a:bodyPr wrap="square" lIns="0" tIns="12065" rIns="0" bIns="0" rtlCol="0">
            <a:noAutofit/>
          </a:bodyPr>
          <a:lstStyle/>
          <a:p>
            <a:pPr marL="12700" marR="34289">
              <a:lnSpc>
                <a:spcPts val="1900"/>
              </a:lnSpc>
            </a:pPr>
            <a:r>
              <a:rPr sz="1800" spc="0" dirty="0">
                <a:latin typeface="Calibri"/>
                <a:cs typeface="Calibri"/>
              </a:rPr>
              <a:t>Cant de neuronas = </a:t>
            </a:r>
            <a:r>
              <a:rPr lang="es-ES" sz="1800" spc="0" dirty="0">
                <a:latin typeface="Calibri"/>
                <a:cs typeface="Calibri"/>
              </a:rPr>
              <a:t>7</a:t>
            </a:r>
            <a:endParaRPr sz="1800" dirty="0">
              <a:latin typeface="Calibri"/>
              <a:cs typeface="Calibri"/>
            </a:endParaRPr>
          </a:p>
          <a:p>
            <a:pPr marL="12700" marR="34289">
              <a:lnSpc>
                <a:spcPts val="2160"/>
              </a:lnSpc>
              <a:spcBef>
                <a:spcPts val="13"/>
              </a:spcBef>
            </a:pPr>
            <a:r>
              <a:rPr sz="1800" b="1" spc="-3" dirty="0">
                <a:latin typeface="Calibri"/>
                <a:cs typeface="Calibri"/>
              </a:rPr>
              <a:t>No. Delayed Plant Inputs=2</a:t>
            </a:r>
            <a:endParaRPr sz="1800" dirty="0">
              <a:latin typeface="Calibri"/>
              <a:cs typeface="Calibri"/>
            </a:endParaRPr>
          </a:p>
          <a:p>
            <a:pPr marL="12700">
              <a:lnSpc>
                <a:spcPts val="2160"/>
              </a:lnSpc>
            </a:pPr>
            <a:r>
              <a:rPr sz="1800" b="1" spc="-3" dirty="0">
                <a:latin typeface="Calibri"/>
                <a:cs typeface="Calibri"/>
              </a:rPr>
              <a:t>No. Delayed Plant Outputs=2</a:t>
            </a:r>
            <a:endParaRPr sz="1800" dirty="0">
              <a:latin typeface="Calibri"/>
              <a:cs typeface="Calibri"/>
            </a:endParaRPr>
          </a:p>
        </p:txBody>
      </p:sp>
      <p:sp>
        <p:nvSpPr>
          <p:cNvPr id="6" name="object 2">
            <a:extLst>
              <a:ext uri="{FF2B5EF4-FFF2-40B4-BE49-F238E27FC236}">
                <a16:creationId xmlns:a16="http://schemas.microsoft.com/office/drawing/2014/main" id="{B5524539-9B0D-4396-A3A0-969A2759786E}"/>
              </a:ext>
            </a:extLst>
          </p:cNvPr>
          <p:cNvSpPr txBox="1"/>
          <p:nvPr/>
        </p:nvSpPr>
        <p:spPr>
          <a:xfrm>
            <a:off x="7214997" y="1339621"/>
            <a:ext cx="2922750" cy="803122"/>
          </a:xfrm>
          <a:prstGeom prst="rect">
            <a:avLst/>
          </a:prstGeom>
        </p:spPr>
        <p:txBody>
          <a:bodyPr wrap="square" lIns="0" tIns="12065" rIns="0" bIns="0" rtlCol="0">
            <a:noAutofit/>
          </a:bodyPr>
          <a:lstStyle/>
          <a:p>
            <a:pPr marL="12700" marR="34290">
              <a:lnSpc>
                <a:spcPts val="1900"/>
              </a:lnSpc>
            </a:pPr>
            <a:r>
              <a:rPr sz="1800" spc="0" dirty="0">
                <a:latin typeface="Calibri"/>
                <a:cs typeface="Calibri"/>
              </a:rPr>
              <a:t>Cant de neuronas = </a:t>
            </a:r>
            <a:r>
              <a:rPr lang="es-ES" sz="1800" spc="0" dirty="0">
                <a:latin typeface="Calibri"/>
                <a:cs typeface="Calibri"/>
              </a:rPr>
              <a:t>7</a:t>
            </a:r>
            <a:endParaRPr sz="1800" dirty="0">
              <a:latin typeface="Calibri"/>
              <a:cs typeface="Calibri"/>
            </a:endParaRPr>
          </a:p>
          <a:p>
            <a:pPr marL="12700" marR="34290">
              <a:lnSpc>
                <a:spcPts val="2160"/>
              </a:lnSpc>
              <a:spcBef>
                <a:spcPts val="13"/>
              </a:spcBef>
            </a:pPr>
            <a:r>
              <a:rPr sz="1800" b="1" spc="-2" dirty="0">
                <a:latin typeface="Calibri"/>
                <a:cs typeface="Calibri"/>
              </a:rPr>
              <a:t>No. Delayed Plant Inputs=10</a:t>
            </a:r>
            <a:endParaRPr sz="1800" dirty="0">
              <a:latin typeface="Calibri"/>
              <a:cs typeface="Calibri"/>
            </a:endParaRPr>
          </a:p>
          <a:p>
            <a:pPr marL="12700">
              <a:lnSpc>
                <a:spcPts val="2160"/>
              </a:lnSpc>
            </a:pPr>
            <a:r>
              <a:rPr sz="1800" b="1" spc="-3" dirty="0">
                <a:latin typeface="Calibri"/>
                <a:cs typeface="Calibri"/>
              </a:rPr>
              <a:t>No. Delayed Plant Outputs=10</a:t>
            </a:r>
            <a:endParaRPr sz="1800" dirty="0">
              <a:latin typeface="Calibri"/>
              <a:cs typeface="Calibri"/>
            </a:endParaRPr>
          </a:p>
        </p:txBody>
      </p:sp>
      <p:pic>
        <p:nvPicPr>
          <p:cNvPr id="7" name="Imagen 6">
            <a:extLst>
              <a:ext uri="{FF2B5EF4-FFF2-40B4-BE49-F238E27FC236}">
                <a16:creationId xmlns:a16="http://schemas.microsoft.com/office/drawing/2014/main" id="{CB487CAA-EC3E-4F46-9314-A2141C77466A}"/>
              </a:ext>
            </a:extLst>
          </p:cNvPr>
          <p:cNvPicPr>
            <a:picLocks noChangeAspect="1"/>
          </p:cNvPicPr>
          <p:nvPr/>
        </p:nvPicPr>
        <p:blipFill>
          <a:blip r:embed="rId2"/>
          <a:stretch>
            <a:fillRect/>
          </a:stretch>
        </p:blipFill>
        <p:spPr>
          <a:xfrm>
            <a:off x="6953561" y="2233476"/>
            <a:ext cx="3525709" cy="4052318"/>
          </a:xfrm>
          <a:prstGeom prst="rect">
            <a:avLst/>
          </a:prstGeom>
        </p:spPr>
      </p:pic>
      <p:pic>
        <p:nvPicPr>
          <p:cNvPr id="8" name="Imagen 7">
            <a:extLst>
              <a:ext uri="{FF2B5EF4-FFF2-40B4-BE49-F238E27FC236}">
                <a16:creationId xmlns:a16="http://schemas.microsoft.com/office/drawing/2014/main" id="{CDB1AAC8-1FED-4C3C-9367-8AFB12ED8818}"/>
              </a:ext>
            </a:extLst>
          </p:cNvPr>
          <p:cNvPicPr>
            <a:picLocks noChangeAspect="1"/>
          </p:cNvPicPr>
          <p:nvPr/>
        </p:nvPicPr>
        <p:blipFill>
          <a:blip r:embed="rId3"/>
          <a:stretch>
            <a:fillRect/>
          </a:stretch>
        </p:blipFill>
        <p:spPr>
          <a:xfrm>
            <a:off x="601472" y="2231003"/>
            <a:ext cx="3532632" cy="4054791"/>
          </a:xfrm>
          <a:prstGeom prst="rect">
            <a:avLst/>
          </a:prstGeom>
        </p:spPr>
      </p:pic>
    </p:spTree>
    <p:extLst>
      <p:ext uri="{BB962C8B-B14F-4D97-AF65-F5344CB8AC3E}">
        <p14:creationId xmlns:p14="http://schemas.microsoft.com/office/powerpoint/2010/main" val="2866734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9412E4B-D73D-4BE0-A111-EDFF0EADC81E}"/>
              </a:ext>
            </a:extLst>
          </p:cNvPr>
          <p:cNvPicPr>
            <a:picLocks noChangeAspect="1"/>
          </p:cNvPicPr>
          <p:nvPr/>
        </p:nvPicPr>
        <p:blipFill>
          <a:blip r:embed="rId2"/>
          <a:stretch>
            <a:fillRect/>
          </a:stretch>
        </p:blipFill>
        <p:spPr>
          <a:xfrm>
            <a:off x="6948602" y="1749457"/>
            <a:ext cx="3872168" cy="4715747"/>
          </a:xfrm>
          <a:prstGeom prst="rect">
            <a:avLst/>
          </a:prstGeom>
          <a:ln>
            <a:solidFill>
              <a:schemeClr val="bg1">
                <a:lumMod val="50000"/>
              </a:schemeClr>
            </a:solidFill>
          </a:ln>
        </p:spPr>
      </p:pic>
      <p:pic>
        <p:nvPicPr>
          <p:cNvPr id="3" name="Imagen 2">
            <a:extLst>
              <a:ext uri="{FF2B5EF4-FFF2-40B4-BE49-F238E27FC236}">
                <a16:creationId xmlns:a16="http://schemas.microsoft.com/office/drawing/2014/main" id="{9A4D55AA-5ABA-48B1-8C9A-5318E973D2A2}"/>
              </a:ext>
            </a:extLst>
          </p:cNvPr>
          <p:cNvPicPr>
            <a:picLocks noChangeAspect="1"/>
          </p:cNvPicPr>
          <p:nvPr/>
        </p:nvPicPr>
        <p:blipFill>
          <a:blip r:embed="rId3"/>
          <a:stretch>
            <a:fillRect/>
          </a:stretch>
        </p:blipFill>
        <p:spPr>
          <a:xfrm>
            <a:off x="1143000" y="1727660"/>
            <a:ext cx="3872168" cy="4688830"/>
          </a:xfrm>
          <a:prstGeom prst="rect">
            <a:avLst/>
          </a:prstGeom>
          <a:ln>
            <a:solidFill>
              <a:schemeClr val="bg1">
                <a:lumMod val="50000"/>
              </a:schemeClr>
            </a:solidFill>
          </a:ln>
        </p:spPr>
      </p:pic>
      <p:sp>
        <p:nvSpPr>
          <p:cNvPr id="4" name="CuadroTexto 3">
            <a:extLst>
              <a:ext uri="{FF2B5EF4-FFF2-40B4-BE49-F238E27FC236}">
                <a16:creationId xmlns:a16="http://schemas.microsoft.com/office/drawing/2014/main" id="{4AD85D38-35F7-4D24-A1CC-23B3B575A79C}"/>
              </a:ext>
            </a:extLst>
          </p:cNvPr>
          <p:cNvSpPr txBox="1"/>
          <p:nvPr/>
        </p:nvSpPr>
        <p:spPr>
          <a:xfrm>
            <a:off x="753035" y="358588"/>
            <a:ext cx="10434918" cy="1200329"/>
          </a:xfrm>
          <a:prstGeom prst="rect">
            <a:avLst/>
          </a:prstGeom>
          <a:noFill/>
        </p:spPr>
        <p:txBody>
          <a:bodyPr wrap="square" rtlCol="0">
            <a:spAutoFit/>
          </a:bodyPr>
          <a:lstStyle/>
          <a:p>
            <a:r>
              <a:rPr lang="es-ES" dirty="0"/>
              <a:t>Profe, en este caso tengo dudas, porque con 10 entradas y salidas retrasadas, el error entre la salida de la planta (sistema real) y la de la RN es mucho menor, pero sin embargo el </a:t>
            </a:r>
            <a:r>
              <a:rPr lang="es-ES" dirty="0" err="1"/>
              <a:t>gardiente</a:t>
            </a:r>
            <a:r>
              <a:rPr lang="es-ES" dirty="0"/>
              <a:t> es mejor con 2 entradas y salidas retrasadas. Entonces no sé por cuál valor decidirme, aunque si tuviera que hacerlo escogería el mejor valor de gradiente, porque me da la medida de lo entrenada que está la RN.</a:t>
            </a:r>
          </a:p>
        </p:txBody>
      </p:sp>
    </p:spTree>
    <p:extLst>
      <p:ext uri="{BB962C8B-B14F-4D97-AF65-F5344CB8AC3E}">
        <p14:creationId xmlns:p14="http://schemas.microsoft.com/office/powerpoint/2010/main" val="9620371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290</Words>
  <Application>Microsoft Office PowerPoint</Application>
  <PresentationFormat>Panorámica</PresentationFormat>
  <Paragraphs>18</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Arial</vt:lpstr>
      <vt:lpstr>Calibri</vt:lpstr>
      <vt:lpstr>Calibri Light</vt:lpstr>
      <vt:lpstr>Tema de Office</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Arlet Acosta González</dc:creator>
  <cp:lastModifiedBy>Arlet Acosta González</cp:lastModifiedBy>
  <cp:revision>1</cp:revision>
  <dcterms:created xsi:type="dcterms:W3CDTF">2023-12-05T11:17:08Z</dcterms:created>
  <dcterms:modified xsi:type="dcterms:W3CDTF">2023-12-05T11:21:34Z</dcterms:modified>
</cp:coreProperties>
</file>