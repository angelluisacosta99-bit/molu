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6" r:id="rId10"/>
    <p:sldId id="267" r:id="rId11"/>
    <p:sldId id="284" r:id="rId12"/>
    <p:sldId id="270" r:id="rId13"/>
    <p:sldId id="269" r:id="rId14"/>
    <p:sldId id="271" r:id="rId15"/>
    <p:sldId id="272" r:id="rId16"/>
    <p:sldId id="273" r:id="rId17"/>
    <p:sldId id="274" r:id="rId18"/>
    <p:sldId id="275" r:id="rId19"/>
    <p:sldId id="277" r:id="rId20"/>
    <p:sldId id="276" r:id="rId21"/>
    <p:sldId id="278" r:id="rId22"/>
    <p:sldId id="279" r:id="rId23"/>
    <p:sldId id="280" r:id="rId24"/>
    <p:sldId id="281" r:id="rId25"/>
    <p:sldId id="282" r:id="rId26"/>
    <p:sldId id="283" r:id="rId27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75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smtClean="0"/>
              <a:t>12/7/2023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9400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smtClean="0"/>
              <a:t>12/7/2023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242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smtClean="0"/>
              <a:t>12/7/2023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3951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smtClean="0"/>
              <a:t>12/7/2023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638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smtClean="0"/>
              <a:t>12/7/2023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110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smtClean="0"/>
              <a:t>12/7/2023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246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smtClean="0"/>
              <a:t>12/7/2023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725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smtClean="0"/>
              <a:t>12/7/2023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931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smtClean="0"/>
              <a:t>12/7/2023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533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smtClean="0"/>
              <a:t>12/7/2023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107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smtClean="0"/>
              <a:t>12/7/2023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144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smtClean="0"/>
              <a:t>12/7/2023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6560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/>
          <p:nvPr/>
        </p:nvSpPr>
        <p:spPr>
          <a:xfrm>
            <a:off x="3048" y="6400799"/>
            <a:ext cx="12188952" cy="457199"/>
          </a:xfrm>
          <a:custGeom>
            <a:avLst/>
            <a:gdLst/>
            <a:ahLst/>
            <a:cxnLst/>
            <a:rect l="l" t="t" r="r" b="b"/>
            <a:pathLst>
              <a:path w="12188952" h="457199">
                <a:moveTo>
                  <a:pt x="12188952" y="457199"/>
                </a:moveTo>
                <a:lnTo>
                  <a:pt x="12188952" y="0"/>
                </a:ln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close/>
              </a:path>
            </a:pathLst>
          </a:custGeom>
          <a:solidFill>
            <a:srgbClr val="009DD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0" y="6333744"/>
            <a:ext cx="12188952" cy="64007"/>
          </a:xfrm>
          <a:custGeom>
            <a:avLst/>
            <a:gdLst/>
            <a:ahLst/>
            <a:cxnLst/>
            <a:rect l="l" t="t" r="r" b="b"/>
            <a:pathLst>
              <a:path w="12188952" h="64008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999220" y="5471160"/>
            <a:ext cx="3073907" cy="8503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09243" y="3941699"/>
            <a:ext cx="3251509" cy="279907"/>
          </a:xfrm>
          <a:prstGeom prst="rect">
            <a:avLst/>
          </a:prstGeom>
        </p:spPr>
        <p:txBody>
          <a:bodyPr wrap="square" lIns="0" tIns="13366" rIns="0" bIns="0" rtlCol="0">
            <a:noAutofit/>
          </a:bodyPr>
          <a:lstStyle/>
          <a:p>
            <a:pPr marL="12700">
              <a:lnSpc>
                <a:spcPts val="2105"/>
              </a:lnSpc>
            </a:pPr>
            <a:r>
              <a:rPr sz="2000" b="1" spc="-7" dirty="0">
                <a:solidFill>
                  <a:srgbClr val="0A5294"/>
                </a:solidFill>
                <a:latin typeface="Calibri"/>
                <a:cs typeface="Calibri"/>
              </a:rPr>
              <a:t>Asignatura: </a:t>
            </a:r>
            <a:r>
              <a:rPr sz="2000" spc="-7" dirty="0">
                <a:solidFill>
                  <a:srgbClr val="0A5294"/>
                </a:solidFill>
                <a:latin typeface="Calibri"/>
                <a:cs typeface="Calibri"/>
              </a:rPr>
              <a:t>Control Inteligente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09243" y="4814697"/>
            <a:ext cx="2738129" cy="889457"/>
          </a:xfrm>
          <a:prstGeom prst="rect">
            <a:avLst/>
          </a:prstGeom>
        </p:spPr>
        <p:txBody>
          <a:bodyPr wrap="square" lIns="0" tIns="13366" rIns="0" bIns="0" rtlCol="0">
            <a:noAutofit/>
          </a:bodyPr>
          <a:lstStyle/>
          <a:p>
            <a:pPr marL="12700" marR="38176">
              <a:lnSpc>
                <a:spcPts val="2105"/>
              </a:lnSpc>
            </a:pPr>
            <a:r>
              <a:rPr sz="2000" b="1" u="heavy" spc="-12" dirty="0">
                <a:solidFill>
                  <a:srgbClr val="0A5294"/>
                </a:solidFill>
                <a:latin typeface="Calibri"/>
                <a:cs typeface="Calibri"/>
              </a:rPr>
              <a:t>Integrantes:</a:t>
            </a:r>
            <a:endParaRPr sz="2000">
              <a:latin typeface="Calibri"/>
              <a:cs typeface="Calibri"/>
            </a:endParaRPr>
          </a:p>
          <a:p>
            <a:pPr marL="12700" marR="38176">
              <a:lnSpc>
                <a:spcPts val="2400"/>
              </a:lnSpc>
              <a:spcBef>
                <a:spcPts val="14"/>
              </a:spcBef>
            </a:pPr>
            <a:r>
              <a:rPr sz="2000" spc="-5" dirty="0">
                <a:solidFill>
                  <a:srgbClr val="0A5294"/>
                </a:solidFill>
                <a:latin typeface="Calibri"/>
                <a:cs typeface="Calibri"/>
              </a:rPr>
              <a:t>Arlet Acosta González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400"/>
              </a:lnSpc>
            </a:pPr>
            <a:r>
              <a:rPr sz="2000" spc="-3" dirty="0">
                <a:solidFill>
                  <a:srgbClr val="0A5294"/>
                </a:solidFill>
                <a:latin typeface="Calibri"/>
                <a:cs typeface="Calibri"/>
              </a:rPr>
              <a:t>Liz Carolina Sánchez Rojas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207008" y="4203700"/>
            <a:ext cx="987552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593A9EB-E58B-4428-B613-B74E7CF95B06}"/>
              </a:ext>
            </a:extLst>
          </p:cNvPr>
          <p:cNvSpPr/>
          <p:nvPr/>
        </p:nvSpPr>
        <p:spPr>
          <a:xfrm>
            <a:off x="2815947" y="901625"/>
            <a:ext cx="5931111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Práctica de MATLAB </a:t>
            </a:r>
          </a:p>
          <a:p>
            <a:pPr algn="ctr"/>
            <a:r>
              <a:rPr lang="es-E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Brazo robótico</a:t>
            </a:r>
            <a:endParaRPr lang="es-E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3048" y="6400799"/>
            <a:ext cx="12188952" cy="457199"/>
          </a:xfrm>
          <a:custGeom>
            <a:avLst/>
            <a:gdLst/>
            <a:ahLst/>
            <a:cxnLst/>
            <a:rect l="l" t="t" r="r" b="b"/>
            <a:pathLst>
              <a:path w="12188952" h="457199">
                <a:moveTo>
                  <a:pt x="12188952" y="457199"/>
                </a:moveTo>
                <a:lnTo>
                  <a:pt x="12188952" y="0"/>
                </a:ln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close/>
              </a:path>
            </a:pathLst>
          </a:custGeom>
          <a:solidFill>
            <a:srgbClr val="009DD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0" y="6333744"/>
            <a:ext cx="12188952" cy="64007"/>
          </a:xfrm>
          <a:custGeom>
            <a:avLst/>
            <a:gdLst/>
            <a:ahLst/>
            <a:cxnLst/>
            <a:rect l="l" t="t" r="r" b="b"/>
            <a:pathLst>
              <a:path w="12188952" h="64008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66800" y="947294"/>
            <a:ext cx="7634692" cy="279298"/>
          </a:xfrm>
          <a:prstGeom prst="rect">
            <a:avLst/>
          </a:prstGeom>
        </p:spPr>
        <p:txBody>
          <a:bodyPr wrap="square" lIns="0" tIns="13366" rIns="0" bIns="0" rtlCol="0">
            <a:noAutofit/>
          </a:bodyPr>
          <a:lstStyle/>
          <a:p>
            <a:pPr marL="12700">
              <a:lnSpc>
                <a:spcPts val="2105"/>
              </a:lnSpc>
            </a:pPr>
            <a:r>
              <a:rPr sz="2000" b="1" spc="-8" dirty="0">
                <a:latin typeface="Calibri"/>
                <a:cs typeface="Calibri"/>
              </a:rPr>
              <a:t>TAREAS 1: Control predictivo neuronal del </a:t>
            </a:r>
            <a:r>
              <a:rPr lang="es-ES" sz="2000" b="1" spc="-8" dirty="0">
                <a:latin typeface="Calibri"/>
                <a:cs typeface="Calibri"/>
              </a:rPr>
              <a:t>brazo robótico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0122" y="1602460"/>
            <a:ext cx="6804207" cy="280212"/>
          </a:xfrm>
          <a:prstGeom prst="rect">
            <a:avLst/>
          </a:prstGeom>
        </p:spPr>
        <p:txBody>
          <a:bodyPr wrap="square" lIns="0" tIns="13366" rIns="0" bIns="0" rtlCol="0">
            <a:noAutofit/>
          </a:bodyPr>
          <a:lstStyle/>
          <a:p>
            <a:pPr marL="12700">
              <a:lnSpc>
                <a:spcPts val="2105"/>
              </a:lnSpc>
            </a:pPr>
            <a:r>
              <a:rPr sz="2000" spc="-5" dirty="0">
                <a:latin typeface="Calibri"/>
                <a:cs typeface="Calibri"/>
              </a:rPr>
              <a:t>Las aplicaciones prácticas se llevarán a cabo en diferentes etapas: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0122" y="2277591"/>
            <a:ext cx="10131756" cy="2587016"/>
          </a:xfrm>
          <a:prstGeom prst="rect">
            <a:avLst/>
          </a:prstGeom>
        </p:spPr>
        <p:txBody>
          <a:bodyPr wrap="square" lIns="0" tIns="13366" rIns="0" bIns="0" rtlCol="0">
            <a:noAutofit/>
          </a:bodyPr>
          <a:lstStyle/>
          <a:p>
            <a:pPr marL="12700">
              <a:lnSpc>
                <a:spcPct val="150000"/>
              </a:lnSpc>
            </a:pPr>
            <a:r>
              <a:rPr sz="2000" b="1" spc="-3" dirty="0">
                <a:latin typeface="Calibri"/>
                <a:cs typeface="Calibri"/>
              </a:rPr>
              <a:t>Paso 1. </a:t>
            </a:r>
            <a:r>
              <a:rPr sz="2000" spc="-3" dirty="0">
                <a:latin typeface="Calibri"/>
                <a:cs typeface="Calibri"/>
              </a:rPr>
              <a:t>Identificación del sistema (entrenamiento de la red neuronal)</a:t>
            </a:r>
            <a:endParaRPr lang="es-ES" sz="2000" spc="-3" dirty="0">
              <a:latin typeface="Calibri"/>
              <a:cs typeface="Calibri"/>
            </a:endParaRPr>
          </a:p>
          <a:p>
            <a:pPr marL="12700">
              <a:lnSpc>
                <a:spcPct val="150000"/>
              </a:lnSpc>
            </a:pPr>
            <a:r>
              <a:rPr lang="es-ES" sz="2000" b="1" spc="-3" dirty="0">
                <a:latin typeface="Calibri"/>
                <a:cs typeface="Calibri"/>
              </a:rPr>
              <a:t>Paso 2. </a:t>
            </a:r>
            <a:r>
              <a:rPr lang="es-ES" sz="2000" spc="-3" dirty="0">
                <a:latin typeface="Calibri"/>
                <a:cs typeface="Calibri"/>
              </a:rPr>
              <a:t>Diseño del sistema de control (selección de sus parámetros)</a:t>
            </a:r>
          </a:p>
          <a:p>
            <a:pPr marL="12700">
              <a:lnSpc>
                <a:spcPct val="150000"/>
              </a:lnSpc>
            </a:pPr>
            <a:r>
              <a:rPr lang="es-ES" sz="2000" b="1" spc="-2" dirty="0">
                <a:latin typeface="Calibri"/>
                <a:cs typeface="Calibri"/>
              </a:rPr>
              <a:t>Paso 3. </a:t>
            </a:r>
            <a:r>
              <a:rPr lang="es-ES" sz="2000" spc="-2" dirty="0">
                <a:latin typeface="Calibri"/>
                <a:cs typeface="Calibri"/>
              </a:rPr>
              <a:t>Estudiar la influencia del modelo de predicción en la calidad del control</a:t>
            </a:r>
          </a:p>
          <a:p>
            <a:pPr marL="12700">
              <a:lnSpc>
                <a:spcPct val="150000"/>
              </a:lnSpc>
            </a:pPr>
            <a:r>
              <a:rPr lang="es-ES" sz="2000" b="1" spc="-3" dirty="0">
                <a:latin typeface="Calibri"/>
                <a:cs typeface="Calibri"/>
              </a:rPr>
              <a:t>Paso 4. </a:t>
            </a:r>
            <a:r>
              <a:rPr lang="es-ES" sz="2000" spc="-3" dirty="0">
                <a:latin typeface="Calibri"/>
                <a:cs typeface="Calibri"/>
              </a:rPr>
              <a:t>Estudiar la influencia en la calidad del control de los parámetros del controlador </a:t>
            </a:r>
            <a:r>
              <a:rPr lang="es-ES" sz="2000" spc="-5" dirty="0">
                <a:latin typeface="Calibri"/>
                <a:cs typeface="Calibri"/>
              </a:rPr>
              <a:t>(horizonte de control, horizonte de predicción y factor de peso del control)</a:t>
            </a:r>
            <a:endParaRPr lang="es-ES" sz="2000" dirty="0">
              <a:latin typeface="Calibri"/>
              <a:cs typeface="Calibri"/>
            </a:endParaRPr>
          </a:p>
          <a:p>
            <a:pPr marL="12700">
              <a:lnSpc>
                <a:spcPct val="150000"/>
              </a:lnSpc>
            </a:pPr>
            <a:endParaRPr lang="es-ES" sz="2000" spc="-2" dirty="0">
              <a:latin typeface="Calibri"/>
              <a:cs typeface="Calibri"/>
            </a:endParaRPr>
          </a:p>
          <a:p>
            <a:pPr marL="12700">
              <a:lnSpc>
                <a:spcPct val="150000"/>
              </a:lnSpc>
            </a:pPr>
            <a:endParaRPr lang="es-ES" sz="2000" dirty="0">
              <a:latin typeface="Calibri"/>
              <a:cs typeface="Calibri"/>
            </a:endParaRPr>
          </a:p>
          <a:p>
            <a:pPr marL="12700">
              <a:lnSpc>
                <a:spcPct val="150000"/>
              </a:lnSpc>
            </a:pPr>
            <a:endParaRPr lang="es-ES" sz="2000" dirty="0">
              <a:latin typeface="Calibri"/>
              <a:cs typeface="Calibri"/>
            </a:endParaRPr>
          </a:p>
          <a:p>
            <a:pPr marL="12700">
              <a:lnSpc>
                <a:spcPct val="150000"/>
              </a:lnSpc>
            </a:pP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3048" y="6400799"/>
            <a:ext cx="12188952" cy="457199"/>
          </a:xfrm>
          <a:custGeom>
            <a:avLst/>
            <a:gdLst/>
            <a:ahLst/>
            <a:cxnLst/>
            <a:rect l="l" t="t" r="r" b="b"/>
            <a:pathLst>
              <a:path w="12188952" h="457199">
                <a:moveTo>
                  <a:pt x="12188952" y="457199"/>
                </a:moveTo>
                <a:lnTo>
                  <a:pt x="12188952" y="0"/>
                </a:ln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close/>
              </a:path>
            </a:pathLst>
          </a:custGeom>
          <a:solidFill>
            <a:srgbClr val="009DD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6333744"/>
            <a:ext cx="12188952" cy="64007"/>
          </a:xfrm>
          <a:custGeom>
            <a:avLst/>
            <a:gdLst/>
            <a:ahLst/>
            <a:cxnLst/>
            <a:rect l="l" t="t" r="r" b="b"/>
            <a:pathLst>
              <a:path w="12188952" h="64008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0200" y="614258"/>
            <a:ext cx="8363842" cy="803021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 marR="34335">
              <a:lnSpc>
                <a:spcPts val="1900"/>
              </a:lnSpc>
            </a:pPr>
            <a:r>
              <a:rPr sz="1800" spc="-5" dirty="0" err="1">
                <a:solidFill>
                  <a:srgbClr val="0A5294"/>
                </a:solidFill>
                <a:latin typeface="Calibri"/>
                <a:cs typeface="Calibri"/>
              </a:rPr>
              <a:t>Práctica</a:t>
            </a:r>
            <a:r>
              <a:rPr sz="1800" spc="-5" dirty="0">
                <a:solidFill>
                  <a:srgbClr val="0A5294"/>
                </a:solidFill>
                <a:latin typeface="Calibri"/>
                <a:cs typeface="Calibri"/>
              </a:rPr>
              <a:t> </a:t>
            </a:r>
            <a:r>
              <a:rPr lang="es-ES" sz="1800" spc="-5" dirty="0">
                <a:solidFill>
                  <a:srgbClr val="0A5294"/>
                </a:solidFill>
                <a:latin typeface="Calibri"/>
                <a:cs typeface="Calibri"/>
              </a:rPr>
              <a:t>2</a:t>
            </a:r>
            <a:r>
              <a:rPr sz="1800" spc="-5" dirty="0">
                <a:solidFill>
                  <a:srgbClr val="0A5294"/>
                </a:solidFill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ts val="2160"/>
              </a:lnSpc>
              <a:spcBef>
                <a:spcPts val="13"/>
              </a:spcBef>
            </a:pPr>
            <a:r>
              <a:rPr sz="1800" spc="-3" dirty="0">
                <a:latin typeface="Calibri"/>
                <a:cs typeface="Calibri"/>
              </a:rPr>
              <a:t>Realizar el control de un </a:t>
            </a:r>
            <a:r>
              <a:rPr lang="es-ES" sz="1800" spc="-3" dirty="0">
                <a:latin typeface="Calibri"/>
                <a:cs typeface="Calibri"/>
              </a:rPr>
              <a:t>brazo robótico</a:t>
            </a:r>
            <a:r>
              <a:rPr sz="1800" spc="-3" dirty="0">
                <a:latin typeface="Calibri"/>
                <a:cs typeface="Calibri"/>
              </a:rPr>
              <a:t> mediante un controlador predictivo neuronal disponible</a:t>
            </a:r>
            <a:r>
              <a:rPr lang="es-ES" sz="1800" spc="-3" dirty="0">
                <a:latin typeface="Calibri"/>
                <a:cs typeface="Calibri"/>
              </a:rPr>
              <a:t> </a:t>
            </a:r>
            <a:r>
              <a:rPr sz="1800" spc="-14" dirty="0" err="1">
                <a:latin typeface="Calibri"/>
                <a:cs typeface="Calibri"/>
              </a:rPr>
              <a:t>en</a:t>
            </a:r>
            <a:r>
              <a:rPr sz="1800" spc="-14" dirty="0">
                <a:latin typeface="Calibri"/>
                <a:cs typeface="Calibri"/>
              </a:rPr>
              <a:t> MATLAB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3D86127-4EA3-4B10-8020-68D64EFC3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928" y="1820313"/>
            <a:ext cx="9548687" cy="415326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/>
          <p:nvPr/>
        </p:nvSpPr>
        <p:spPr>
          <a:xfrm>
            <a:off x="3048" y="6400799"/>
            <a:ext cx="12188952" cy="457199"/>
          </a:xfrm>
          <a:custGeom>
            <a:avLst/>
            <a:gdLst/>
            <a:ahLst/>
            <a:cxnLst/>
            <a:rect l="l" t="t" r="r" b="b"/>
            <a:pathLst>
              <a:path w="12188952" h="457199">
                <a:moveTo>
                  <a:pt x="12188952" y="457199"/>
                </a:moveTo>
                <a:lnTo>
                  <a:pt x="12188952" y="0"/>
                </a:ln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close/>
              </a:path>
            </a:pathLst>
          </a:custGeom>
          <a:solidFill>
            <a:srgbClr val="009DD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0" y="6333744"/>
            <a:ext cx="12188952" cy="64007"/>
          </a:xfrm>
          <a:custGeom>
            <a:avLst/>
            <a:gdLst/>
            <a:ahLst/>
            <a:cxnLst/>
            <a:rect l="l" t="t" r="r" b="b"/>
            <a:pathLst>
              <a:path w="12188952" h="64008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62" y="103632"/>
            <a:ext cx="0" cy="249935"/>
          </a:xfrm>
          <a:custGeom>
            <a:avLst/>
            <a:gdLst/>
            <a:ahLst/>
            <a:cxnLst/>
            <a:rect l="l" t="t" r="r" b="b"/>
            <a:pathLst>
              <a:path h="249935">
                <a:moveTo>
                  <a:pt x="0" y="0"/>
                </a:moveTo>
                <a:lnTo>
                  <a:pt x="0" y="249935"/>
                </a:lnTo>
              </a:path>
            </a:pathLst>
          </a:custGeom>
          <a:ln w="2794">
            <a:solidFill>
              <a:srgbClr val="F8F8F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62" y="103632"/>
            <a:ext cx="0" cy="249935"/>
          </a:xfrm>
          <a:custGeom>
            <a:avLst/>
            <a:gdLst/>
            <a:ahLst/>
            <a:cxnLst/>
            <a:rect l="l" t="t" r="r" b="b"/>
            <a:pathLst>
              <a:path h="249935">
                <a:moveTo>
                  <a:pt x="0" y="0"/>
                </a:moveTo>
                <a:lnTo>
                  <a:pt x="0" y="249935"/>
                </a:lnTo>
              </a:path>
            </a:pathLst>
          </a:custGeom>
          <a:ln w="2794">
            <a:solidFill>
              <a:srgbClr val="F8F8F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34390" y="1259713"/>
            <a:ext cx="10962495" cy="1804288"/>
          </a:xfrm>
          <a:prstGeom prst="rect">
            <a:avLst/>
          </a:prstGeom>
        </p:spPr>
        <p:txBody>
          <a:bodyPr wrap="square" lIns="0" tIns="13366" rIns="0" bIns="0" rtlCol="0">
            <a:noAutofit/>
          </a:bodyPr>
          <a:lstStyle/>
          <a:p>
            <a:pPr marL="12700">
              <a:lnSpc>
                <a:spcPts val="2105"/>
              </a:lnSpc>
            </a:pPr>
            <a:r>
              <a:rPr sz="2000" spc="11" dirty="0">
                <a:latin typeface="Calibri"/>
                <a:cs typeface="Calibri"/>
              </a:rPr>
              <a:t>El </a:t>
            </a:r>
            <a:r>
              <a:rPr sz="2000" b="1" spc="11" dirty="0">
                <a:latin typeface="Calibri"/>
                <a:cs typeface="Calibri"/>
              </a:rPr>
              <a:t>Modelo de Control Neuronal Predictivo o Neural Model Predictive Control (NMPC) </a:t>
            </a:r>
            <a:r>
              <a:rPr sz="2000" spc="11" dirty="0">
                <a:latin typeface="Calibri"/>
                <a:cs typeface="Calibri"/>
              </a:rPr>
              <a:t>es una estrategia</a:t>
            </a:r>
            <a:endParaRPr sz="2000" dirty="0">
              <a:latin typeface="Calibri"/>
              <a:cs typeface="Calibri"/>
            </a:endParaRPr>
          </a:p>
          <a:p>
            <a:pPr marL="12700" marR="1412">
              <a:lnSpc>
                <a:spcPts val="2400"/>
              </a:lnSpc>
              <a:spcBef>
                <a:spcPts val="14"/>
              </a:spcBef>
            </a:pPr>
            <a:r>
              <a:rPr sz="2000" spc="22" dirty="0">
                <a:latin typeface="Calibri"/>
                <a:cs typeface="Calibri"/>
              </a:rPr>
              <a:t>de control basada en el uso en línea de un modelo para predecir el futuro comportamiento de la salida</a:t>
            </a:r>
            <a:endParaRPr sz="2000" dirty="0">
              <a:latin typeface="Calibri"/>
              <a:cs typeface="Calibri"/>
            </a:endParaRPr>
          </a:p>
          <a:p>
            <a:pPr marL="12700" marR="38176">
              <a:lnSpc>
                <a:spcPts val="2400"/>
              </a:lnSpc>
            </a:pPr>
            <a:r>
              <a:rPr sz="2000" spc="-4" dirty="0">
                <a:latin typeface="Calibri"/>
                <a:cs typeface="Calibri"/>
              </a:rPr>
              <a:t>del proceso durante determinado horizonte temporal, en función de las acciones de control </a:t>
            </a:r>
            <a:r>
              <a:rPr sz="2000" spc="-4" dirty="0" err="1">
                <a:latin typeface="Calibri"/>
                <a:cs typeface="Calibri"/>
              </a:rPr>
              <a:t>futuras</a:t>
            </a:r>
            <a:r>
              <a:rPr sz="2000" spc="-4" dirty="0">
                <a:latin typeface="Calibri"/>
                <a:cs typeface="Calibri"/>
              </a:rPr>
              <a:t>.</a:t>
            </a:r>
            <a:r>
              <a:rPr lang="es-ES" sz="2000" spc="-4" dirty="0">
                <a:latin typeface="Calibri"/>
                <a:cs typeface="Calibri"/>
              </a:rPr>
              <a:t> </a:t>
            </a:r>
            <a:r>
              <a:rPr sz="2000" spc="-3" dirty="0">
                <a:latin typeface="Calibri"/>
                <a:cs typeface="Calibri"/>
              </a:rPr>
              <a:t>La mejor acción de control se selecciona mediante un procedimiento de optimización.</a:t>
            </a:r>
            <a:endParaRPr sz="2000" dirty="0">
              <a:latin typeface="Calibri"/>
              <a:cs typeface="Calibri"/>
            </a:endParaRPr>
          </a:p>
          <a:p>
            <a:pPr marL="12700" marR="730">
              <a:lnSpc>
                <a:spcPts val="2405"/>
              </a:lnSpc>
              <a:spcBef>
                <a:spcPts val="0"/>
              </a:spcBef>
            </a:pPr>
            <a:r>
              <a:rPr sz="2000" spc="15" dirty="0">
                <a:latin typeface="Calibri"/>
                <a:cs typeface="Calibri"/>
              </a:rPr>
              <a:t>Este  modelo  es  capaz  de  tratar  con  sistemas  dinámicos  complejos,  con  interacción,  restricciones,</a:t>
            </a:r>
            <a:endParaRPr sz="2000" dirty="0">
              <a:latin typeface="Calibri"/>
              <a:cs typeface="Calibri"/>
            </a:endParaRPr>
          </a:p>
          <a:p>
            <a:pPr marL="12700" marR="38176">
              <a:lnSpc>
                <a:spcPts val="2400"/>
              </a:lnSpc>
            </a:pPr>
            <a:r>
              <a:rPr sz="2000" spc="-5" dirty="0">
                <a:latin typeface="Calibri"/>
                <a:cs typeface="Calibri"/>
              </a:rPr>
              <a:t>diferente número de entradas y salidas.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4390" y="3429000"/>
            <a:ext cx="10963670" cy="1194561"/>
          </a:xfrm>
          <a:prstGeom prst="rect">
            <a:avLst/>
          </a:prstGeom>
        </p:spPr>
        <p:txBody>
          <a:bodyPr wrap="square" lIns="0" tIns="13366" rIns="0" bIns="0" rtlCol="0">
            <a:noAutofit/>
          </a:bodyPr>
          <a:lstStyle/>
          <a:p>
            <a:pPr marL="12700">
              <a:lnSpc>
                <a:spcPts val="2105"/>
              </a:lnSpc>
            </a:pPr>
            <a:r>
              <a:rPr sz="2000" spc="30" dirty="0">
                <a:latin typeface="Calibri"/>
                <a:cs typeface="Calibri"/>
              </a:rPr>
              <a:t>La </a:t>
            </a:r>
            <a:r>
              <a:rPr sz="2000" b="1" spc="30" dirty="0">
                <a:latin typeface="Calibri"/>
                <a:cs typeface="Calibri"/>
              </a:rPr>
              <a:t>RN </a:t>
            </a:r>
            <a:r>
              <a:rPr sz="2000" spc="30" dirty="0">
                <a:latin typeface="Calibri"/>
                <a:cs typeface="Calibri"/>
              </a:rPr>
              <a:t>sirve para predecir el comportamiento de un sistema, por lo que se incluye en el NMP. La RN es</a:t>
            </a:r>
            <a:endParaRPr sz="2000">
              <a:latin typeface="Calibri"/>
              <a:cs typeface="Calibri"/>
            </a:endParaRPr>
          </a:p>
          <a:p>
            <a:pPr marL="12700" marR="38176">
              <a:lnSpc>
                <a:spcPts val="2400"/>
              </a:lnSpc>
              <a:spcBef>
                <a:spcPts val="14"/>
              </a:spcBef>
            </a:pPr>
            <a:r>
              <a:rPr sz="2000" spc="-2" dirty="0">
                <a:latin typeface="Calibri"/>
                <a:cs typeface="Calibri"/>
              </a:rPr>
              <a:t>capaz de representar a un sistema, siendo un modelo matemático no lineal del mismo.</a:t>
            </a:r>
            <a:endParaRPr sz="2000">
              <a:latin typeface="Calibri"/>
              <a:cs typeface="Calibri"/>
            </a:endParaRPr>
          </a:p>
          <a:p>
            <a:pPr marL="12700" marR="2130">
              <a:lnSpc>
                <a:spcPts val="2400"/>
              </a:lnSpc>
            </a:pPr>
            <a:r>
              <a:rPr sz="2000" spc="39" dirty="0">
                <a:latin typeface="Calibri"/>
                <a:cs typeface="Calibri"/>
              </a:rPr>
              <a:t>El </a:t>
            </a:r>
            <a:r>
              <a:rPr sz="2000" b="1" spc="39" dirty="0">
                <a:latin typeface="Calibri"/>
                <a:cs typeface="Calibri"/>
              </a:rPr>
              <a:t>control neuronal </a:t>
            </a:r>
            <a:r>
              <a:rPr sz="2000" spc="39" dirty="0">
                <a:latin typeface="Calibri"/>
                <a:cs typeface="Calibri"/>
              </a:rPr>
              <a:t>se basa en el uso de datos para entrenar RN artificiales que actúan directamente</a:t>
            </a:r>
            <a:endParaRPr sz="2000">
              <a:latin typeface="Calibri"/>
              <a:cs typeface="Calibri"/>
            </a:endParaRPr>
          </a:p>
          <a:p>
            <a:pPr marL="12700" marR="38176">
              <a:lnSpc>
                <a:spcPts val="2400"/>
              </a:lnSpc>
            </a:pPr>
            <a:r>
              <a:rPr sz="2000" spc="-4" dirty="0">
                <a:latin typeface="Calibri"/>
                <a:cs typeface="Calibri"/>
              </a:rPr>
              <a:t>como sistemas de control o modelos del sistema.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34390" y="4917719"/>
            <a:ext cx="10965191" cy="1194866"/>
          </a:xfrm>
          <a:prstGeom prst="rect">
            <a:avLst/>
          </a:prstGeom>
        </p:spPr>
        <p:txBody>
          <a:bodyPr wrap="square" lIns="0" tIns="13366" rIns="0" bIns="0" rtlCol="0">
            <a:noAutofit/>
          </a:bodyPr>
          <a:lstStyle/>
          <a:p>
            <a:pPr marL="12700" marR="3066">
              <a:lnSpc>
                <a:spcPts val="2105"/>
              </a:lnSpc>
            </a:pPr>
            <a:r>
              <a:rPr sz="2000" spc="1" dirty="0">
                <a:latin typeface="Calibri"/>
                <a:cs typeface="Calibri"/>
              </a:rPr>
              <a:t>El </a:t>
            </a:r>
            <a:r>
              <a:rPr sz="2000" b="1" spc="1" dirty="0">
                <a:latin typeface="Calibri"/>
                <a:cs typeface="Calibri"/>
              </a:rPr>
              <a:t>control predictivo </a:t>
            </a:r>
            <a:r>
              <a:rPr sz="2000" spc="1" dirty="0">
                <a:latin typeface="Calibri"/>
                <a:cs typeface="Calibri"/>
              </a:rPr>
              <a:t>es un tipo de control que utiliza un modelo matemático del proceso para predecir el</a:t>
            </a:r>
            <a:endParaRPr sz="2000">
              <a:latin typeface="Calibri"/>
              <a:cs typeface="Calibri"/>
            </a:endParaRPr>
          </a:p>
          <a:p>
            <a:pPr marL="12700" marR="2148">
              <a:lnSpc>
                <a:spcPts val="2405"/>
              </a:lnSpc>
              <a:spcBef>
                <a:spcPts val="15"/>
              </a:spcBef>
            </a:pPr>
            <a:r>
              <a:rPr sz="2000" spc="19" dirty="0">
                <a:latin typeface="Calibri"/>
                <a:cs typeface="Calibri"/>
              </a:rPr>
              <a:t>comportamiento futuro del mismo. En base a esas predicciones, en cada período de muestreo resuelve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400"/>
              </a:lnSpc>
            </a:pPr>
            <a:r>
              <a:rPr sz="2000" spc="38" dirty="0">
                <a:latin typeface="Calibri"/>
                <a:cs typeface="Calibri"/>
              </a:rPr>
              <a:t>un problema de optimización on-line para obtener las señales de control óptimas que minimizan una</a:t>
            </a:r>
            <a:endParaRPr sz="2000">
              <a:latin typeface="Calibri"/>
              <a:cs typeface="Calibri"/>
            </a:endParaRPr>
          </a:p>
          <a:p>
            <a:pPr marL="12700" marR="38176">
              <a:lnSpc>
                <a:spcPts val="2400"/>
              </a:lnSpc>
            </a:pPr>
            <a:r>
              <a:rPr sz="2000" spc="-2" dirty="0">
                <a:latin typeface="Calibri"/>
                <a:cs typeface="Calibri"/>
              </a:rPr>
              <a:t>función objetivo.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C791BB0-A795-466E-9909-D0B572CE0A55}"/>
              </a:ext>
            </a:extLst>
          </p:cNvPr>
          <p:cNvSpPr/>
          <p:nvPr/>
        </p:nvSpPr>
        <p:spPr>
          <a:xfrm>
            <a:off x="843262" y="456636"/>
            <a:ext cx="1050242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Modelo de Control Neuronal Predictivo o Neural Model Predictive Control (NMPC)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3048" y="6400799"/>
            <a:ext cx="12188952" cy="457199"/>
          </a:xfrm>
          <a:custGeom>
            <a:avLst/>
            <a:gdLst/>
            <a:ahLst/>
            <a:cxnLst/>
            <a:rect l="l" t="t" r="r" b="b"/>
            <a:pathLst>
              <a:path w="12188952" h="457199">
                <a:moveTo>
                  <a:pt x="12188952" y="457199"/>
                </a:moveTo>
                <a:lnTo>
                  <a:pt x="12188952" y="0"/>
                </a:ln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close/>
              </a:path>
            </a:pathLst>
          </a:custGeom>
          <a:solidFill>
            <a:srgbClr val="009DD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0" y="6333744"/>
            <a:ext cx="12188952" cy="64007"/>
          </a:xfrm>
          <a:custGeom>
            <a:avLst/>
            <a:gdLst/>
            <a:ahLst/>
            <a:cxnLst/>
            <a:rect l="l" t="t" r="r" b="b"/>
            <a:pathLst>
              <a:path w="12188952" h="64008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36828" y="1833753"/>
            <a:ext cx="10957106" cy="1194561"/>
          </a:xfrm>
          <a:prstGeom prst="rect">
            <a:avLst/>
          </a:prstGeom>
        </p:spPr>
        <p:txBody>
          <a:bodyPr wrap="square" lIns="0" tIns="13366" rIns="0" bIns="0" rtlCol="0">
            <a:noAutofit/>
          </a:bodyPr>
          <a:lstStyle/>
          <a:p>
            <a:pPr marL="12700" marR="565" algn="just">
              <a:lnSpc>
                <a:spcPts val="2105"/>
              </a:lnSpc>
            </a:pPr>
            <a:r>
              <a:rPr sz="2000" spc="32" dirty="0">
                <a:latin typeface="Calibri"/>
                <a:cs typeface="Calibri"/>
              </a:rPr>
              <a:t>En el primer paso del control de un </a:t>
            </a:r>
            <a:r>
              <a:rPr lang="es-ES" sz="2000" spc="32" dirty="0">
                <a:latin typeface="Calibri"/>
                <a:cs typeface="Calibri"/>
              </a:rPr>
              <a:t>brazo robótico</a:t>
            </a:r>
            <a:r>
              <a:rPr sz="2000" spc="32" dirty="0">
                <a:latin typeface="Calibri"/>
                <a:cs typeface="Calibri"/>
              </a:rPr>
              <a:t> mediante un Controlador Predictivo Neuronal (NMPC), se</a:t>
            </a:r>
            <a:r>
              <a:rPr lang="es-ES" sz="2000" spc="32" dirty="0">
                <a:latin typeface="Calibri"/>
                <a:cs typeface="Calibri"/>
              </a:rPr>
              <a:t> </a:t>
            </a:r>
            <a:r>
              <a:rPr lang="es-ES" sz="2000" spc="-3" dirty="0">
                <a:latin typeface="Calibri"/>
                <a:cs typeface="Calibri"/>
              </a:rPr>
              <a:t>realizó</a:t>
            </a:r>
            <a:r>
              <a:rPr sz="2000" spc="-3" dirty="0">
                <a:latin typeface="Calibri"/>
                <a:cs typeface="Calibri"/>
              </a:rPr>
              <a:t> la identificación del sistema o entrenamiento de la RN.</a:t>
            </a:r>
            <a:endParaRPr sz="2000" dirty="0">
              <a:latin typeface="Calibri"/>
              <a:cs typeface="Calibri"/>
            </a:endParaRPr>
          </a:p>
          <a:p>
            <a:pPr marL="12700" algn="just">
              <a:lnSpc>
                <a:spcPts val="2400"/>
              </a:lnSpc>
            </a:pPr>
            <a:r>
              <a:rPr sz="2000" spc="1" dirty="0">
                <a:latin typeface="Calibri"/>
                <a:cs typeface="Calibri"/>
              </a:rPr>
              <a:t>Se efectuaron una serie de pruebas para encontrar los valores de los parámetros que lograran una mayor</a:t>
            </a:r>
            <a:endParaRPr sz="2000" dirty="0">
              <a:latin typeface="Calibri"/>
              <a:cs typeface="Calibri"/>
            </a:endParaRPr>
          </a:p>
          <a:p>
            <a:pPr marL="12700" marR="38176" algn="just">
              <a:lnSpc>
                <a:spcPts val="2400"/>
              </a:lnSpc>
            </a:pPr>
            <a:r>
              <a:rPr sz="2000" spc="-1" dirty="0">
                <a:latin typeface="Calibri"/>
                <a:cs typeface="Calibri"/>
              </a:rPr>
              <a:t>similitud entre la salida del sistema y la salida de la RN, dados determinados datos de entrada.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6828" y="3358007"/>
            <a:ext cx="5461689" cy="279907"/>
          </a:xfrm>
          <a:prstGeom prst="rect">
            <a:avLst/>
          </a:prstGeom>
        </p:spPr>
        <p:txBody>
          <a:bodyPr wrap="square" lIns="0" tIns="13366" rIns="0" bIns="0" rtlCol="0">
            <a:noAutofit/>
          </a:bodyPr>
          <a:lstStyle/>
          <a:p>
            <a:pPr marL="12700">
              <a:lnSpc>
                <a:spcPts val="2105"/>
              </a:lnSpc>
            </a:pPr>
            <a:r>
              <a:rPr sz="2000" spc="-3" dirty="0">
                <a:latin typeface="Calibri"/>
                <a:cs typeface="Calibri"/>
              </a:rPr>
              <a:t>Los parámetros a los que se les varió el valor fueron: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6828" y="3647456"/>
            <a:ext cx="152806" cy="1194562"/>
          </a:xfrm>
          <a:prstGeom prst="rect">
            <a:avLst/>
          </a:prstGeom>
        </p:spPr>
        <p:txBody>
          <a:bodyPr wrap="square" lIns="0" tIns="13652" rIns="0" bIns="0" rtlCol="0">
            <a:noAutofit/>
          </a:bodyPr>
          <a:lstStyle/>
          <a:p>
            <a:pPr marL="12700" marR="152">
              <a:lnSpc>
                <a:spcPts val="2150"/>
              </a:lnSpc>
            </a:pPr>
            <a:r>
              <a:rPr sz="2000" dirty="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</a:pPr>
            <a:r>
              <a:rPr sz="2000" dirty="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  <a:p>
            <a:pPr marL="12700" marR="152">
              <a:lnSpc>
                <a:spcPct val="95825"/>
              </a:lnSpc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  <a:p>
            <a:pPr marL="12700" marR="152">
              <a:lnSpc>
                <a:spcPct val="95825"/>
              </a:lnSpc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23340" y="3662806"/>
            <a:ext cx="6189356" cy="1194562"/>
          </a:xfrm>
          <a:prstGeom prst="rect">
            <a:avLst/>
          </a:prstGeom>
        </p:spPr>
        <p:txBody>
          <a:bodyPr wrap="square" lIns="0" tIns="13366" rIns="0" bIns="0" rtlCol="0">
            <a:noAutofit/>
          </a:bodyPr>
          <a:lstStyle/>
          <a:p>
            <a:pPr marL="12700" marR="38176">
              <a:lnSpc>
                <a:spcPts val="2105"/>
              </a:lnSpc>
            </a:pPr>
            <a:r>
              <a:rPr sz="2000" spc="-2" dirty="0">
                <a:latin typeface="Calibri"/>
                <a:cs typeface="Calibri"/>
              </a:rPr>
              <a:t>Cantidad de neuronas de la RN (</a:t>
            </a:r>
            <a:r>
              <a:rPr sz="2000" i="1" spc="-2" dirty="0">
                <a:latin typeface="Calibri"/>
                <a:cs typeface="Calibri"/>
              </a:rPr>
              <a:t>Size of Hidden Layers </a:t>
            </a:r>
            <a:r>
              <a:rPr sz="2000" spc="-2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  <a:p>
            <a:pPr marL="12700" marR="38176">
              <a:lnSpc>
                <a:spcPts val="2400"/>
              </a:lnSpc>
              <a:spcBef>
                <a:spcPts val="14"/>
              </a:spcBef>
            </a:pPr>
            <a:r>
              <a:rPr sz="2000" spc="-4" dirty="0">
                <a:latin typeface="Calibri"/>
                <a:cs typeface="Calibri"/>
              </a:rPr>
              <a:t>Número de entradas retardadas (</a:t>
            </a:r>
            <a:r>
              <a:rPr sz="2000" i="1" spc="-4" dirty="0">
                <a:latin typeface="Calibri"/>
                <a:cs typeface="Calibri"/>
              </a:rPr>
              <a:t>No. Delayed Plant Inputs</a:t>
            </a:r>
            <a:r>
              <a:rPr sz="2000" spc="-4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  <a:p>
            <a:pPr marL="12700" marR="38176">
              <a:lnSpc>
                <a:spcPts val="2400"/>
              </a:lnSpc>
            </a:pPr>
            <a:r>
              <a:rPr sz="2000" spc="-2" dirty="0">
                <a:latin typeface="Calibri"/>
                <a:cs typeface="Calibri"/>
              </a:rPr>
              <a:t>Número de salidas retardadas (</a:t>
            </a:r>
            <a:r>
              <a:rPr sz="2000" i="1" spc="-2" dirty="0">
                <a:latin typeface="Calibri"/>
                <a:cs typeface="Calibri"/>
              </a:rPr>
              <a:t>No. Delayed Plant Outputs</a:t>
            </a:r>
            <a:r>
              <a:rPr sz="2000" spc="-2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400"/>
              </a:lnSpc>
            </a:pPr>
            <a:r>
              <a:rPr sz="2000" spc="-4" dirty="0">
                <a:latin typeface="Calibri"/>
                <a:cs typeface="Calibri"/>
              </a:rPr>
              <a:t>Número de muestras de entrenamiento (</a:t>
            </a:r>
            <a:r>
              <a:rPr sz="2000" i="1" spc="-4" dirty="0">
                <a:latin typeface="Calibri"/>
                <a:cs typeface="Calibri"/>
              </a:rPr>
              <a:t>Training Samples</a:t>
            </a:r>
            <a:r>
              <a:rPr sz="2000" spc="-4" dirty="0">
                <a:latin typeface="Calibri"/>
                <a:cs typeface="Calibri"/>
              </a:rPr>
              <a:t>).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84B325C-FDAC-41FD-AD06-7D745202B6E5}"/>
              </a:ext>
            </a:extLst>
          </p:cNvPr>
          <p:cNvSpPr txBox="1"/>
          <p:nvPr/>
        </p:nvSpPr>
        <p:spPr>
          <a:xfrm>
            <a:off x="2819400" y="478663"/>
            <a:ext cx="6096000" cy="872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584" marR="199545" algn="ctr">
              <a:lnSpc>
                <a:spcPts val="2895"/>
              </a:lnSpc>
            </a:pPr>
            <a:r>
              <a:rPr lang="es-ES" sz="2400" spc="-12" dirty="0">
                <a:solidFill>
                  <a:srgbClr val="0E6EC5"/>
                </a:solidFill>
                <a:latin typeface="Calibri"/>
                <a:cs typeface="Calibri"/>
              </a:rPr>
              <a:t>Paso 1: Identificación del Sistema</a:t>
            </a:r>
            <a:endParaRPr lang="es-ES" sz="2400" dirty="0">
              <a:latin typeface="Calibri"/>
              <a:cs typeface="Calibri"/>
            </a:endParaRPr>
          </a:p>
          <a:p>
            <a:pPr algn="ctr">
              <a:lnSpc>
                <a:spcPts val="3360"/>
              </a:lnSpc>
              <a:spcBef>
                <a:spcPts val="23"/>
              </a:spcBef>
            </a:pPr>
            <a:r>
              <a:rPr lang="es-ES" sz="2400" spc="-15" dirty="0">
                <a:solidFill>
                  <a:srgbClr val="0E6EC5"/>
                </a:solidFill>
                <a:latin typeface="Calibri"/>
                <a:cs typeface="Calibri"/>
              </a:rPr>
              <a:t>(Entrenamiento de la Red Neuronal)</a:t>
            </a:r>
            <a:endParaRPr lang="es-ES"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/>
          <p:nvPr/>
        </p:nvSpPr>
        <p:spPr>
          <a:xfrm>
            <a:off x="3048" y="6400799"/>
            <a:ext cx="12188952" cy="457199"/>
          </a:xfrm>
          <a:custGeom>
            <a:avLst/>
            <a:gdLst/>
            <a:ahLst/>
            <a:cxnLst/>
            <a:rect l="l" t="t" r="r" b="b"/>
            <a:pathLst>
              <a:path w="12188952" h="457199">
                <a:moveTo>
                  <a:pt x="12188952" y="457199"/>
                </a:moveTo>
                <a:lnTo>
                  <a:pt x="12188952" y="0"/>
                </a:ln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close/>
              </a:path>
            </a:pathLst>
          </a:custGeom>
          <a:solidFill>
            <a:srgbClr val="009DD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6333744"/>
            <a:ext cx="12188952" cy="64007"/>
          </a:xfrm>
          <a:custGeom>
            <a:avLst/>
            <a:gdLst/>
            <a:ahLst/>
            <a:cxnLst/>
            <a:rect l="l" t="t" r="r" b="b"/>
            <a:pathLst>
              <a:path w="12188952" h="64008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7200" y="773495"/>
            <a:ext cx="11018496" cy="984631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spc="-1" dirty="0">
                <a:latin typeface="Calibri"/>
                <a:cs typeface="Calibri"/>
              </a:rPr>
              <a:t>En las imágenes siguientes, se aprecian las salidas del sistema y de la RN para un conjunto de datos de </a:t>
            </a:r>
            <a:r>
              <a:rPr sz="1800" spc="-1" dirty="0" err="1">
                <a:latin typeface="Calibri"/>
                <a:cs typeface="Calibri"/>
              </a:rPr>
              <a:t>entrenamiento</a:t>
            </a:r>
            <a:r>
              <a:rPr sz="1800" spc="-1" dirty="0">
                <a:latin typeface="Calibri"/>
                <a:cs typeface="Calibri"/>
              </a:rPr>
              <a:t>.</a:t>
            </a:r>
            <a:r>
              <a:rPr lang="es-ES" spc="-1" dirty="0">
                <a:latin typeface="Calibri"/>
                <a:cs typeface="Calibri"/>
              </a:rPr>
              <a:t> </a:t>
            </a:r>
            <a:r>
              <a:rPr lang="es-ES" sz="1800" spc="0" dirty="0">
                <a:latin typeface="Calibri"/>
                <a:cs typeface="Calibri"/>
              </a:rPr>
              <a:t>Al generarse los datos de entrenamiento de las red con 2000 muestras, a simple vista todos los pares de salidas planta y RN, se asemejan mucho. </a:t>
            </a:r>
          </a:p>
          <a:p>
            <a:pPr marL="12700">
              <a:lnSpc>
                <a:spcPts val="1900"/>
              </a:lnSpc>
            </a:pPr>
            <a:r>
              <a:rPr lang="es-ES" sz="1800" spc="0" dirty="0">
                <a:latin typeface="Calibri"/>
                <a:cs typeface="Calibri"/>
              </a:rPr>
              <a:t>Por otra parte, si </a:t>
            </a:r>
            <a:r>
              <a:rPr lang="es-ES" dirty="0">
                <a:latin typeface="Calibri"/>
                <a:cs typeface="Calibri"/>
              </a:rPr>
              <a:t>se centra la atención en el error, se puede notar que con 7 neuronas, este alcanza valores menores.</a:t>
            </a:r>
            <a:endParaRPr lang="es-ES" sz="1800" dirty="0">
              <a:latin typeface="Calibri"/>
              <a:cs typeface="Calibri"/>
            </a:endParaRPr>
          </a:p>
          <a:p>
            <a:pPr marL="12700">
              <a:lnSpc>
                <a:spcPts val="1900"/>
              </a:lnSpc>
            </a:pPr>
            <a:endParaRPr sz="18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33974" y="1847588"/>
            <a:ext cx="175552" cy="25400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dirty="0">
                <a:latin typeface="Calibri"/>
                <a:cs typeface="Calibri"/>
              </a:rPr>
              <a:t>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753600" y="1913370"/>
            <a:ext cx="291262" cy="25400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dirty="0">
                <a:latin typeface="Calibri"/>
                <a:cs typeface="Calibri"/>
              </a:rPr>
              <a:t>1</a:t>
            </a:r>
            <a:r>
              <a:rPr lang="es-ES" sz="1800" dirty="0">
                <a:latin typeface="Calibri"/>
                <a:cs typeface="Calibri"/>
              </a:rPr>
              <a:t>5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DC69BF8-F822-4EC6-AA93-ACE641492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3795" y="2168073"/>
            <a:ext cx="3606873" cy="413423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3678110-47F6-4490-AD53-0ED7B8895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137" y="2188457"/>
            <a:ext cx="3606874" cy="4136143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188B7C8C-13A8-40D0-8036-A6A45BB316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5991" y="2158548"/>
            <a:ext cx="3623804" cy="4166052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C34C7201-C2F3-4B8E-9BA5-8B930D53B5A3}"/>
              </a:ext>
            </a:extLst>
          </p:cNvPr>
          <p:cNvSpPr txBox="1"/>
          <p:nvPr/>
        </p:nvSpPr>
        <p:spPr>
          <a:xfrm>
            <a:off x="1800888" y="179803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2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C9C04FA-78AE-4CE9-8270-F8F3CF83A878}"/>
              </a:ext>
            </a:extLst>
          </p:cNvPr>
          <p:cNvSpPr txBox="1"/>
          <p:nvPr/>
        </p:nvSpPr>
        <p:spPr>
          <a:xfrm>
            <a:off x="457200" y="224409"/>
            <a:ext cx="9220200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41857">
              <a:lnSpc>
                <a:spcPts val="2105"/>
              </a:lnSpc>
            </a:pPr>
            <a:r>
              <a:rPr lang="es-ES" sz="1800" b="1" spc="-4" dirty="0">
                <a:solidFill>
                  <a:srgbClr val="0A5294"/>
                </a:solidFill>
                <a:latin typeface="Calibri"/>
                <a:cs typeface="Calibri"/>
              </a:rPr>
              <a:t>Variación de la Cantidad de neuronas de la RN (</a:t>
            </a:r>
            <a:r>
              <a:rPr lang="es-ES" sz="1800" b="1" i="1" spc="-4" dirty="0">
                <a:solidFill>
                  <a:srgbClr val="0A5294"/>
                </a:solidFill>
                <a:latin typeface="Calibri"/>
                <a:cs typeface="Calibri"/>
              </a:rPr>
              <a:t>Size of Hidden Layers </a:t>
            </a:r>
            <a:r>
              <a:rPr lang="es-ES" sz="1800" b="1" spc="-4" dirty="0">
                <a:solidFill>
                  <a:srgbClr val="0A5294"/>
                </a:solidFill>
                <a:latin typeface="Calibri"/>
                <a:cs typeface="Calibri"/>
              </a:rPr>
              <a:t>)</a:t>
            </a:r>
            <a:endParaRPr lang="es-ES"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3048" y="6400799"/>
            <a:ext cx="12188952" cy="457199"/>
          </a:xfrm>
          <a:custGeom>
            <a:avLst/>
            <a:gdLst/>
            <a:ahLst/>
            <a:cxnLst/>
            <a:rect l="l" t="t" r="r" b="b"/>
            <a:pathLst>
              <a:path w="12188952" h="457199">
                <a:moveTo>
                  <a:pt x="12188952" y="457199"/>
                </a:moveTo>
                <a:lnTo>
                  <a:pt x="12188952" y="0"/>
                </a:ln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close/>
              </a:path>
            </a:pathLst>
          </a:custGeom>
          <a:solidFill>
            <a:srgbClr val="009DD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0" y="6333744"/>
            <a:ext cx="12188952" cy="64007"/>
          </a:xfrm>
          <a:custGeom>
            <a:avLst/>
            <a:gdLst/>
            <a:ahLst/>
            <a:cxnLst/>
            <a:rect l="l" t="t" r="r" b="b"/>
            <a:pathLst>
              <a:path w="12188952" h="64008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68805" y="442949"/>
            <a:ext cx="11187040" cy="737226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spc="0" dirty="0">
                <a:latin typeface="Calibri"/>
                <a:cs typeface="Calibri"/>
              </a:rPr>
              <a:t>En las imágenes siguientes, se aprecian las salidas del sistema y de la RN para un conjunto de datos de </a:t>
            </a:r>
            <a:r>
              <a:rPr sz="1800" spc="0" dirty="0" err="1">
                <a:latin typeface="Calibri"/>
                <a:cs typeface="Calibri"/>
              </a:rPr>
              <a:t>validación</a:t>
            </a:r>
            <a:r>
              <a:rPr lang="es-ES" sz="1800" spc="0" dirty="0">
                <a:latin typeface="Calibri"/>
                <a:cs typeface="Calibri"/>
              </a:rPr>
              <a:t>. </a:t>
            </a:r>
          </a:p>
          <a:p>
            <a:pPr marL="12700">
              <a:lnSpc>
                <a:spcPts val="1900"/>
              </a:lnSpc>
            </a:pPr>
            <a:r>
              <a:rPr lang="es-ES" sz="1800" spc="0" dirty="0">
                <a:latin typeface="Calibri"/>
                <a:cs typeface="Calibri"/>
              </a:rPr>
              <a:t>Aquí sucede lo mismo que con los datos de entrenamiento.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48993" y="1401064"/>
            <a:ext cx="175552" cy="25400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04459" y="1401064"/>
            <a:ext cx="175552" cy="25400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dirty="0">
                <a:latin typeface="Calibri"/>
                <a:cs typeface="Calibri"/>
              </a:rPr>
              <a:t>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559544" y="1433067"/>
            <a:ext cx="291262" cy="25400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dirty="0">
                <a:latin typeface="Calibri"/>
                <a:cs typeface="Calibri"/>
              </a:rPr>
              <a:t>1</a:t>
            </a:r>
            <a:r>
              <a:rPr lang="es-ES" sz="1800" dirty="0">
                <a:latin typeface="Calibri"/>
                <a:cs typeface="Calibri"/>
              </a:rPr>
              <a:t>5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A707E5FE-39F6-4601-91CC-B4D4F3423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2539" y="1808035"/>
            <a:ext cx="3532632" cy="4054791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5DCB38FB-C527-4F7C-8512-AF5852791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755" y="1802891"/>
            <a:ext cx="3572074" cy="4106581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2F8477ED-2FF3-44F0-9A3A-130DE86295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7306" y="1792948"/>
            <a:ext cx="3572075" cy="40991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/>
          <p:nvPr/>
        </p:nvSpPr>
        <p:spPr>
          <a:xfrm>
            <a:off x="3048" y="6400799"/>
            <a:ext cx="12188952" cy="457199"/>
          </a:xfrm>
          <a:custGeom>
            <a:avLst/>
            <a:gdLst/>
            <a:ahLst/>
            <a:cxnLst/>
            <a:rect l="l" t="t" r="r" b="b"/>
            <a:pathLst>
              <a:path w="12188952" h="457199">
                <a:moveTo>
                  <a:pt x="12188952" y="457199"/>
                </a:moveTo>
                <a:lnTo>
                  <a:pt x="12188952" y="0"/>
                </a:ln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close/>
              </a:path>
            </a:pathLst>
          </a:custGeom>
          <a:solidFill>
            <a:srgbClr val="009DD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6333744"/>
            <a:ext cx="12188952" cy="64007"/>
          </a:xfrm>
          <a:custGeom>
            <a:avLst/>
            <a:gdLst/>
            <a:ahLst/>
            <a:cxnLst/>
            <a:rect l="l" t="t" r="r" b="b"/>
            <a:pathLst>
              <a:path w="12188952" h="64008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70953" y="232476"/>
            <a:ext cx="10878451" cy="897443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spc="0" dirty="0">
                <a:latin typeface="Calibri"/>
                <a:cs typeface="Calibri"/>
              </a:rPr>
              <a:t>En las imágenes debajo, en el valor del Gradiente, que da una medida de si la RN esta entrenada, el mejor valor (más</a:t>
            </a:r>
            <a:endParaRPr sz="1800" dirty="0">
              <a:latin typeface="Calibri"/>
              <a:cs typeface="Calibri"/>
            </a:endParaRPr>
          </a:p>
          <a:p>
            <a:pPr marL="12700" marR="1282">
              <a:lnSpc>
                <a:spcPts val="2160"/>
              </a:lnSpc>
              <a:spcBef>
                <a:spcPts val="13"/>
              </a:spcBef>
            </a:pPr>
            <a:r>
              <a:rPr sz="1800" spc="-2" dirty="0">
                <a:latin typeface="Calibri"/>
                <a:cs typeface="Calibri"/>
              </a:rPr>
              <a:t>cercano a cero) resulta con </a:t>
            </a:r>
            <a:r>
              <a:rPr lang="es-ES" spc="-2" dirty="0">
                <a:latin typeface="Calibri"/>
                <a:cs typeface="Calibri"/>
              </a:rPr>
              <a:t>7</a:t>
            </a:r>
            <a:r>
              <a:rPr sz="1800" spc="-2" dirty="0">
                <a:latin typeface="Calibri"/>
                <a:cs typeface="Calibri"/>
              </a:rPr>
              <a:t> </a:t>
            </a:r>
            <a:r>
              <a:rPr sz="1800" spc="-2" dirty="0" err="1">
                <a:latin typeface="Calibri"/>
                <a:cs typeface="Calibri"/>
              </a:rPr>
              <a:t>neuronas</a:t>
            </a:r>
            <a:r>
              <a:rPr sz="1800" spc="-2" dirty="0">
                <a:latin typeface="Calibri"/>
                <a:cs typeface="Calibri"/>
              </a:rPr>
              <a:t> (</a:t>
            </a:r>
            <a:r>
              <a:rPr lang="es-ES" sz="1800" spc="-2" dirty="0">
                <a:latin typeface="Calibri"/>
                <a:cs typeface="Calibri"/>
              </a:rPr>
              <a:t>3,67*e^-6)</a:t>
            </a:r>
            <a:r>
              <a:rPr sz="1800" spc="-2" dirty="0">
                <a:latin typeface="Calibri"/>
                <a:cs typeface="Calibri"/>
              </a:rPr>
              <a:t>. </a:t>
            </a:r>
            <a:endParaRPr lang="es-ES" sz="1800" spc="-2" dirty="0">
              <a:latin typeface="Calibri"/>
              <a:cs typeface="Calibri"/>
            </a:endParaRPr>
          </a:p>
          <a:p>
            <a:pPr marL="12700" marR="1282">
              <a:lnSpc>
                <a:spcPts val="2160"/>
              </a:lnSpc>
              <a:spcBef>
                <a:spcPts val="13"/>
              </a:spcBef>
            </a:pPr>
            <a:r>
              <a:rPr lang="es-ES" spc="-2" dirty="0">
                <a:latin typeface="Calibri"/>
                <a:cs typeface="Calibri"/>
              </a:rPr>
              <a:t>Entonces, se puede concluir que el valor de cantidad de neuronas que mejor respuesta ofrece es 7.</a:t>
            </a:r>
            <a:endParaRPr lang="es-ES" sz="1800" spc="-2" dirty="0">
              <a:latin typeface="Calibri"/>
              <a:cs typeface="Calibri"/>
            </a:endParaRPr>
          </a:p>
          <a:p>
            <a:pPr marL="12700" marR="1282">
              <a:lnSpc>
                <a:spcPts val="2160"/>
              </a:lnSpc>
              <a:spcBef>
                <a:spcPts val="13"/>
              </a:spcBef>
            </a:pPr>
            <a:endParaRPr sz="1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18924" y="1257063"/>
            <a:ext cx="175552" cy="25400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dirty="0">
                <a:latin typeface="Calibri"/>
                <a:cs typeface="Calibri"/>
              </a:rPr>
              <a:t>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7504" y="1323086"/>
            <a:ext cx="175552" cy="25400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dirty="0">
                <a:latin typeface="Calibri"/>
                <a:cs typeface="Calibri"/>
              </a:rPr>
              <a:t>2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688313" y="1323086"/>
            <a:ext cx="291872" cy="25400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dirty="0">
                <a:latin typeface="Calibri"/>
                <a:cs typeface="Calibri"/>
              </a:rPr>
              <a:t>1</a:t>
            </a:r>
            <a:r>
              <a:rPr lang="es-ES" sz="1800" dirty="0">
                <a:latin typeface="Calibri"/>
                <a:cs typeface="Calibri"/>
              </a:rPr>
              <a:t>5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E488BF54-6F1A-4A1C-8B5F-64EA684DA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39824"/>
            <a:ext cx="3551713" cy="440131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2F89859B-704B-48B6-9BA8-68FA3AC60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349" y="1638207"/>
            <a:ext cx="3616254" cy="437894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505C1479-6C8B-4741-8598-F010E096F5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958" y="1658246"/>
            <a:ext cx="3572454" cy="440131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3048" y="6400799"/>
            <a:ext cx="12188952" cy="457199"/>
          </a:xfrm>
          <a:custGeom>
            <a:avLst/>
            <a:gdLst/>
            <a:ahLst/>
            <a:cxnLst/>
            <a:rect l="l" t="t" r="r" b="b"/>
            <a:pathLst>
              <a:path w="12188952" h="457199">
                <a:moveTo>
                  <a:pt x="12188952" y="457199"/>
                </a:moveTo>
                <a:lnTo>
                  <a:pt x="12188952" y="0"/>
                </a:ln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close/>
              </a:path>
            </a:pathLst>
          </a:custGeom>
          <a:solidFill>
            <a:srgbClr val="009DD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6333744"/>
            <a:ext cx="12188952" cy="64007"/>
          </a:xfrm>
          <a:custGeom>
            <a:avLst/>
            <a:gdLst/>
            <a:ahLst/>
            <a:cxnLst/>
            <a:rect l="l" t="t" r="r" b="b"/>
            <a:pathLst>
              <a:path w="12188952" h="64008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84809" y="583690"/>
            <a:ext cx="11019334" cy="832665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spc="-1" dirty="0">
                <a:latin typeface="Calibri"/>
                <a:cs typeface="Calibri"/>
              </a:rPr>
              <a:t>En las imágenes siguientes, se aprecian las salidas del sistema y de la RN para un conjunto de datos de entrenamiento.</a:t>
            </a:r>
            <a:endParaRPr sz="1800" dirty="0">
              <a:latin typeface="Calibri"/>
              <a:cs typeface="Calibri"/>
            </a:endParaRPr>
          </a:p>
          <a:p>
            <a:pPr marL="12700" marR="34290">
              <a:lnSpc>
                <a:spcPts val="2160"/>
              </a:lnSpc>
              <a:spcBef>
                <a:spcPts val="13"/>
              </a:spcBef>
            </a:pPr>
            <a:r>
              <a:rPr sz="1800" spc="-2" dirty="0">
                <a:latin typeface="Calibri"/>
                <a:cs typeface="Calibri"/>
              </a:rPr>
              <a:t>El </a:t>
            </a:r>
            <a:r>
              <a:rPr lang="es-ES" sz="1800" spc="-2" dirty="0">
                <a:latin typeface="Calibri"/>
                <a:cs typeface="Calibri"/>
              </a:rPr>
              <a:t>menor error </a:t>
            </a:r>
            <a:r>
              <a:rPr sz="1800" spc="-2" dirty="0">
                <a:latin typeface="Calibri"/>
                <a:cs typeface="Calibri"/>
              </a:rPr>
              <a:t>se obtiene con una </a:t>
            </a:r>
            <a:r>
              <a:rPr sz="1800" b="1" spc="-2" dirty="0">
                <a:latin typeface="Calibri"/>
                <a:cs typeface="Calibri"/>
              </a:rPr>
              <a:t>Cantidad de entradas y salidas retardadas de la planta </a:t>
            </a:r>
            <a:r>
              <a:rPr sz="1800" spc="-2" dirty="0">
                <a:latin typeface="Calibri"/>
                <a:cs typeface="Calibri"/>
              </a:rPr>
              <a:t>igual a </a:t>
            </a:r>
            <a:r>
              <a:rPr lang="es-ES" sz="1800" spc="-2" dirty="0">
                <a:latin typeface="Calibri"/>
                <a:cs typeface="Calibri"/>
              </a:rPr>
              <a:t>10.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9400" y="1371600"/>
            <a:ext cx="2922750" cy="802639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 marR="34290">
              <a:lnSpc>
                <a:spcPts val="1900"/>
              </a:lnSpc>
            </a:pPr>
            <a:r>
              <a:rPr sz="1800" spc="0" dirty="0">
                <a:latin typeface="Calibri"/>
                <a:cs typeface="Calibri"/>
              </a:rPr>
              <a:t>Cant. de neuronas = </a:t>
            </a:r>
            <a:r>
              <a:rPr lang="es-ES" sz="1800" spc="0" dirty="0">
                <a:latin typeface="Calibri"/>
                <a:cs typeface="Calibri"/>
              </a:rPr>
              <a:t>7</a:t>
            </a:r>
            <a:endParaRPr sz="1800" dirty="0">
              <a:latin typeface="Calibri"/>
              <a:cs typeface="Calibri"/>
            </a:endParaRPr>
          </a:p>
          <a:p>
            <a:pPr marL="12700" marR="34290">
              <a:lnSpc>
                <a:spcPts val="2160"/>
              </a:lnSpc>
              <a:spcBef>
                <a:spcPts val="13"/>
              </a:spcBef>
            </a:pPr>
            <a:r>
              <a:rPr sz="1800" b="1" spc="-2" dirty="0">
                <a:latin typeface="Calibri"/>
                <a:cs typeface="Calibri"/>
              </a:rPr>
              <a:t>No. Delayed Plant Inputs=10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ts val="2160"/>
              </a:lnSpc>
            </a:pPr>
            <a:r>
              <a:rPr sz="1800" b="1" spc="-3" dirty="0">
                <a:latin typeface="Calibri"/>
                <a:cs typeface="Calibri"/>
              </a:rPr>
              <a:t>No. Delayed Plant Outputs=10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14400" y="1411201"/>
            <a:ext cx="2807700" cy="802716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 marR="34335">
              <a:lnSpc>
                <a:spcPts val="1900"/>
              </a:lnSpc>
            </a:pPr>
            <a:r>
              <a:rPr sz="1800" spc="0" dirty="0">
                <a:latin typeface="Calibri"/>
                <a:cs typeface="Calibri"/>
              </a:rPr>
              <a:t>Cant. de neuronas = </a:t>
            </a:r>
            <a:r>
              <a:rPr lang="es-ES" sz="1800" spc="0" dirty="0">
                <a:latin typeface="Calibri"/>
                <a:cs typeface="Calibri"/>
              </a:rPr>
              <a:t>7</a:t>
            </a:r>
            <a:endParaRPr sz="1800" dirty="0">
              <a:latin typeface="Calibri"/>
              <a:cs typeface="Calibri"/>
            </a:endParaRPr>
          </a:p>
          <a:p>
            <a:pPr marL="12700" marR="34335">
              <a:lnSpc>
                <a:spcPts val="2160"/>
              </a:lnSpc>
              <a:spcBef>
                <a:spcPts val="13"/>
              </a:spcBef>
            </a:pPr>
            <a:r>
              <a:rPr sz="1800" b="1" spc="-3" dirty="0">
                <a:latin typeface="Calibri"/>
                <a:cs typeface="Calibri"/>
              </a:rPr>
              <a:t>No. Delayed Plant Inputs=2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ts val="2160"/>
              </a:lnSpc>
            </a:pPr>
            <a:r>
              <a:rPr sz="1800" b="1" spc="-4" dirty="0">
                <a:latin typeface="Calibri"/>
                <a:cs typeface="Calibri"/>
              </a:rPr>
              <a:t>No. Delayed Plant Outputs=2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B3F379F-4FAF-429C-8B6F-61492C58D9AB}"/>
              </a:ext>
            </a:extLst>
          </p:cNvPr>
          <p:cNvSpPr txBox="1"/>
          <p:nvPr/>
        </p:nvSpPr>
        <p:spPr>
          <a:xfrm>
            <a:off x="453594" y="78259"/>
            <a:ext cx="11186262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ts val="2105"/>
              </a:lnSpc>
            </a:pPr>
            <a:r>
              <a:rPr lang="es-ES" sz="1800" b="1" spc="37" dirty="0">
                <a:solidFill>
                  <a:srgbClr val="0A5294"/>
                </a:solidFill>
                <a:latin typeface="Calibri"/>
                <a:cs typeface="Calibri"/>
              </a:rPr>
              <a:t>Variación de Numero de Entradas y Salidas Retardadas (</a:t>
            </a:r>
            <a:r>
              <a:rPr lang="es-ES" sz="1800" b="1" i="1" spc="37" dirty="0">
                <a:solidFill>
                  <a:srgbClr val="0A5294"/>
                </a:solidFill>
                <a:latin typeface="Calibri"/>
                <a:cs typeface="Calibri"/>
              </a:rPr>
              <a:t>No. Delayed Plant Inputs y No. Delayed Plant </a:t>
            </a:r>
            <a:r>
              <a:rPr lang="es-ES" sz="1800" b="1" i="1" spc="0" dirty="0">
                <a:solidFill>
                  <a:srgbClr val="0A5294"/>
                </a:solidFill>
                <a:latin typeface="Calibri"/>
                <a:cs typeface="Calibri"/>
              </a:rPr>
              <a:t>Outputs</a:t>
            </a:r>
            <a:r>
              <a:rPr lang="es-ES" sz="1800" b="1" spc="0" dirty="0">
                <a:solidFill>
                  <a:srgbClr val="0A5294"/>
                </a:solidFill>
                <a:latin typeface="Calibri"/>
                <a:cs typeface="Calibri"/>
              </a:rPr>
              <a:t>)</a:t>
            </a:r>
            <a:endParaRPr lang="es-ES" sz="1800" dirty="0">
              <a:latin typeface="Calibri"/>
              <a:cs typeface="Calibri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C4FAA33-5DFC-4FBD-827C-32F3E66F1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61325"/>
            <a:ext cx="3321202" cy="380855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B8A31A7-0C5C-4D27-8F37-CAF84ABA7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2348885"/>
            <a:ext cx="3321203" cy="38233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3048" y="6400799"/>
            <a:ext cx="12188952" cy="457199"/>
          </a:xfrm>
          <a:custGeom>
            <a:avLst/>
            <a:gdLst/>
            <a:ahLst/>
            <a:cxnLst/>
            <a:rect l="l" t="t" r="r" b="b"/>
            <a:pathLst>
              <a:path w="12188952" h="457199">
                <a:moveTo>
                  <a:pt x="12188952" y="457199"/>
                </a:moveTo>
                <a:lnTo>
                  <a:pt x="12188952" y="0"/>
                </a:ln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close/>
              </a:path>
            </a:pathLst>
          </a:custGeom>
          <a:solidFill>
            <a:srgbClr val="009DD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6333744"/>
            <a:ext cx="12188952" cy="64007"/>
          </a:xfrm>
          <a:custGeom>
            <a:avLst/>
            <a:gdLst/>
            <a:ahLst/>
            <a:cxnLst/>
            <a:rect l="l" t="t" r="r" b="b"/>
            <a:pathLst>
              <a:path w="12188952" h="64008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01472" y="416077"/>
            <a:ext cx="11204757" cy="803122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spc="-2" dirty="0">
                <a:latin typeface="Calibri"/>
                <a:cs typeface="Calibri"/>
              </a:rPr>
              <a:t>A continuación, se muestran las salidas del sistema y de la RN para un conjunto de datos de validación. Para un conjunto</a:t>
            </a:r>
            <a:endParaRPr sz="1800" dirty="0">
              <a:latin typeface="Calibri"/>
              <a:cs typeface="Calibri"/>
            </a:endParaRPr>
          </a:p>
          <a:p>
            <a:pPr marL="12700" marR="4448">
              <a:lnSpc>
                <a:spcPts val="2160"/>
              </a:lnSpc>
              <a:spcBef>
                <a:spcPts val="13"/>
              </a:spcBef>
            </a:pPr>
            <a:r>
              <a:rPr sz="1800" spc="-1" dirty="0">
                <a:latin typeface="Calibri"/>
                <a:cs typeface="Calibri"/>
              </a:rPr>
              <a:t>de datos nuevos, </a:t>
            </a:r>
            <a:r>
              <a:rPr lang="es-ES" sz="1800" spc="-1" dirty="0">
                <a:latin typeface="Calibri"/>
                <a:cs typeface="Calibri"/>
              </a:rPr>
              <a:t>el error entre </a:t>
            </a:r>
            <a:r>
              <a:rPr sz="1800" spc="-1" dirty="0">
                <a:latin typeface="Calibri"/>
                <a:cs typeface="Calibri"/>
              </a:rPr>
              <a:t>la salida de la RN y la del </a:t>
            </a:r>
            <a:r>
              <a:rPr sz="1800" spc="-1" dirty="0" err="1">
                <a:latin typeface="Calibri"/>
                <a:cs typeface="Calibri"/>
              </a:rPr>
              <a:t>sistema</a:t>
            </a:r>
            <a:r>
              <a:rPr sz="1800" spc="-1" dirty="0">
                <a:latin typeface="Calibri"/>
                <a:cs typeface="Calibri"/>
              </a:rPr>
              <a:t> </a:t>
            </a:r>
            <a:r>
              <a:rPr lang="es-ES" sz="1800" spc="-1" dirty="0">
                <a:latin typeface="Calibri"/>
                <a:cs typeface="Calibri"/>
              </a:rPr>
              <a:t>es menor </a:t>
            </a:r>
            <a:r>
              <a:rPr sz="1800" spc="-1" dirty="0" err="1">
                <a:latin typeface="Calibri"/>
                <a:cs typeface="Calibri"/>
              </a:rPr>
              <a:t>cuando</a:t>
            </a:r>
            <a:r>
              <a:rPr sz="1800" spc="-1" dirty="0">
                <a:latin typeface="Calibri"/>
                <a:cs typeface="Calibri"/>
              </a:rPr>
              <a:t> la cantidad de entradas y </a:t>
            </a:r>
            <a:r>
              <a:rPr sz="1800" spc="-1" dirty="0" err="1">
                <a:latin typeface="Calibri"/>
                <a:cs typeface="Calibri"/>
              </a:rPr>
              <a:t>salidas</a:t>
            </a:r>
            <a:r>
              <a:rPr sz="1800" spc="-1" dirty="0">
                <a:latin typeface="Calibri"/>
                <a:cs typeface="Calibri"/>
              </a:rPr>
              <a:t> </a:t>
            </a:r>
            <a:r>
              <a:rPr sz="1800" spc="-1" dirty="0" err="1">
                <a:latin typeface="Calibri"/>
                <a:cs typeface="Calibri"/>
              </a:rPr>
              <a:t>retardadas</a:t>
            </a:r>
            <a:r>
              <a:rPr lang="es-ES" sz="1800" spc="-1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 la planta son igual a </a:t>
            </a:r>
            <a:r>
              <a:rPr lang="es-ES" sz="1800" dirty="0">
                <a:latin typeface="Calibri"/>
                <a:cs typeface="Calibri"/>
              </a:rPr>
              <a:t>10</a:t>
            </a:r>
            <a:r>
              <a:rPr sz="1800" dirty="0">
                <a:latin typeface="Calibri"/>
                <a:cs typeface="Calibri"/>
              </a:rPr>
              <a:t>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1339621"/>
            <a:ext cx="2806887" cy="803122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 marR="34289">
              <a:lnSpc>
                <a:spcPts val="1900"/>
              </a:lnSpc>
            </a:pPr>
            <a:r>
              <a:rPr sz="1800" spc="0" dirty="0">
                <a:latin typeface="Calibri"/>
                <a:cs typeface="Calibri"/>
              </a:rPr>
              <a:t>Cant de neuronas = </a:t>
            </a:r>
            <a:r>
              <a:rPr lang="es-ES" sz="1800" spc="0" dirty="0">
                <a:latin typeface="Calibri"/>
                <a:cs typeface="Calibri"/>
              </a:rPr>
              <a:t>7</a:t>
            </a:r>
            <a:endParaRPr sz="1800" dirty="0">
              <a:latin typeface="Calibri"/>
              <a:cs typeface="Calibri"/>
            </a:endParaRPr>
          </a:p>
          <a:p>
            <a:pPr marL="12700" marR="34289">
              <a:lnSpc>
                <a:spcPts val="2160"/>
              </a:lnSpc>
              <a:spcBef>
                <a:spcPts val="13"/>
              </a:spcBef>
            </a:pPr>
            <a:r>
              <a:rPr sz="1800" b="1" spc="-3" dirty="0">
                <a:latin typeface="Calibri"/>
                <a:cs typeface="Calibri"/>
              </a:rPr>
              <a:t>No. Delayed Plant Inputs=2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ts val="2160"/>
              </a:lnSpc>
            </a:pPr>
            <a:r>
              <a:rPr sz="1800" b="1" spc="-3" dirty="0">
                <a:latin typeface="Calibri"/>
                <a:cs typeface="Calibri"/>
              </a:rPr>
              <a:t>No. Delayed Plant Outputs=2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010400" y="1339621"/>
            <a:ext cx="2922750" cy="803122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 marR="34290">
              <a:lnSpc>
                <a:spcPts val="1900"/>
              </a:lnSpc>
            </a:pPr>
            <a:r>
              <a:rPr sz="1800" spc="0" dirty="0">
                <a:latin typeface="Calibri"/>
                <a:cs typeface="Calibri"/>
              </a:rPr>
              <a:t>Cant de neuronas = </a:t>
            </a:r>
            <a:r>
              <a:rPr lang="es-ES" sz="1800" spc="0" dirty="0">
                <a:latin typeface="Calibri"/>
                <a:cs typeface="Calibri"/>
              </a:rPr>
              <a:t>7</a:t>
            </a:r>
            <a:endParaRPr sz="1800" dirty="0">
              <a:latin typeface="Calibri"/>
              <a:cs typeface="Calibri"/>
            </a:endParaRPr>
          </a:p>
          <a:p>
            <a:pPr marL="12700" marR="34290">
              <a:lnSpc>
                <a:spcPts val="2160"/>
              </a:lnSpc>
              <a:spcBef>
                <a:spcPts val="13"/>
              </a:spcBef>
            </a:pPr>
            <a:r>
              <a:rPr sz="1800" b="1" spc="-2" dirty="0">
                <a:latin typeface="Calibri"/>
                <a:cs typeface="Calibri"/>
              </a:rPr>
              <a:t>No. Delayed Plant Inputs=10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ts val="2160"/>
              </a:lnSpc>
            </a:pPr>
            <a:r>
              <a:rPr sz="1800" b="1" spc="-3" dirty="0">
                <a:latin typeface="Calibri"/>
                <a:cs typeface="Calibri"/>
              </a:rPr>
              <a:t>No. Delayed Plant Outputs=10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ABAD899-6936-40FE-BFF8-9FBEDDA4B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72" y="2231003"/>
            <a:ext cx="3532632" cy="405479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90559E4-B459-40D9-B0CA-6D82AB7BF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2207401"/>
            <a:ext cx="3532632" cy="410199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FB0295F-A0AD-4F7E-A06E-96FC271584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1147"/>
          <a:stretch/>
        </p:blipFill>
        <p:spPr>
          <a:xfrm>
            <a:off x="1143000" y="1717522"/>
            <a:ext cx="3810659" cy="456141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E543749F-B3B8-462C-931B-4F0F27A867D7}"/>
              </a:ext>
            </a:extLst>
          </p:cNvPr>
          <p:cNvSpPr txBox="1"/>
          <p:nvPr/>
        </p:nvSpPr>
        <p:spPr>
          <a:xfrm>
            <a:off x="304800" y="172000"/>
            <a:ext cx="11430000" cy="608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ts val="1900"/>
              </a:lnSpc>
            </a:pPr>
            <a:r>
              <a:rPr lang="es-ES" sz="1800" spc="0" dirty="0">
                <a:latin typeface="Calibri"/>
                <a:cs typeface="Calibri"/>
              </a:rPr>
              <a:t>En las imágenes debajo, en el valor del gradiente, </a:t>
            </a:r>
            <a:r>
              <a:rPr lang="es-ES" sz="1800" spc="-2" dirty="0">
                <a:latin typeface="Calibri"/>
                <a:cs typeface="Calibri"/>
              </a:rPr>
              <a:t>resulta con 10 entradas y salidas retrasadas de la planta.</a:t>
            </a:r>
          </a:p>
          <a:p>
            <a:pPr marL="12700" marR="1282">
              <a:lnSpc>
                <a:spcPts val="2160"/>
              </a:lnSpc>
              <a:spcBef>
                <a:spcPts val="13"/>
              </a:spcBef>
            </a:pPr>
            <a:r>
              <a:rPr lang="es-ES" spc="-2" dirty="0">
                <a:latin typeface="Calibri"/>
                <a:cs typeface="Calibri"/>
              </a:rPr>
              <a:t>Entonces, se puede concluir que el valor de cantidad de </a:t>
            </a:r>
            <a:r>
              <a:rPr lang="es-ES" sz="1800" spc="-2" dirty="0">
                <a:latin typeface="Calibri"/>
                <a:cs typeface="Calibri"/>
              </a:rPr>
              <a:t>entradas y salidas retrasadas de la planta es 10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DAD3901-D844-4385-B82E-932D8AEC1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101" y="1698776"/>
            <a:ext cx="3851499" cy="458016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1" name="object 3">
            <a:extLst>
              <a:ext uri="{FF2B5EF4-FFF2-40B4-BE49-F238E27FC236}">
                <a16:creationId xmlns:a16="http://schemas.microsoft.com/office/drawing/2014/main" id="{A0F2D44B-CAFD-44BF-B3B8-8E9267B7F46E}"/>
              </a:ext>
            </a:extLst>
          </p:cNvPr>
          <p:cNvSpPr txBox="1"/>
          <p:nvPr/>
        </p:nvSpPr>
        <p:spPr>
          <a:xfrm>
            <a:off x="1143000" y="914400"/>
            <a:ext cx="2806887" cy="803122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 marR="34289">
              <a:lnSpc>
                <a:spcPts val="1900"/>
              </a:lnSpc>
            </a:pPr>
            <a:r>
              <a:rPr sz="1800" spc="0" dirty="0">
                <a:latin typeface="Calibri"/>
                <a:cs typeface="Calibri"/>
              </a:rPr>
              <a:t>Cant de neuronas = </a:t>
            </a:r>
            <a:r>
              <a:rPr lang="es-ES" sz="1800" spc="0" dirty="0">
                <a:latin typeface="Calibri"/>
                <a:cs typeface="Calibri"/>
              </a:rPr>
              <a:t>7</a:t>
            </a:r>
            <a:endParaRPr sz="1800" dirty="0">
              <a:latin typeface="Calibri"/>
              <a:cs typeface="Calibri"/>
            </a:endParaRPr>
          </a:p>
          <a:p>
            <a:pPr marL="12700" marR="34289">
              <a:lnSpc>
                <a:spcPts val="2160"/>
              </a:lnSpc>
              <a:spcBef>
                <a:spcPts val="13"/>
              </a:spcBef>
            </a:pPr>
            <a:r>
              <a:rPr sz="1800" b="1" spc="-3" dirty="0">
                <a:latin typeface="Calibri"/>
                <a:cs typeface="Calibri"/>
              </a:rPr>
              <a:t>No. Delayed Plant Inputs=2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ts val="2160"/>
              </a:lnSpc>
            </a:pPr>
            <a:r>
              <a:rPr sz="1800" b="1" spc="-3" dirty="0">
                <a:latin typeface="Calibri"/>
                <a:cs typeface="Calibri"/>
              </a:rPr>
              <a:t>No. Delayed Plant Outputs=2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2" name="object 2">
            <a:extLst>
              <a:ext uri="{FF2B5EF4-FFF2-40B4-BE49-F238E27FC236}">
                <a16:creationId xmlns:a16="http://schemas.microsoft.com/office/drawing/2014/main" id="{7372A693-D6C0-4C9F-8B09-3792DBE87AA0}"/>
              </a:ext>
            </a:extLst>
          </p:cNvPr>
          <p:cNvSpPr txBox="1"/>
          <p:nvPr/>
        </p:nvSpPr>
        <p:spPr>
          <a:xfrm>
            <a:off x="6664101" y="914400"/>
            <a:ext cx="2922750" cy="803122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 marR="34290">
              <a:lnSpc>
                <a:spcPts val="1900"/>
              </a:lnSpc>
            </a:pPr>
            <a:r>
              <a:rPr sz="1800" spc="0" dirty="0">
                <a:latin typeface="Calibri"/>
                <a:cs typeface="Calibri"/>
              </a:rPr>
              <a:t>Cant de neuronas = </a:t>
            </a:r>
            <a:r>
              <a:rPr lang="es-ES" sz="1800" spc="0" dirty="0">
                <a:latin typeface="Calibri"/>
                <a:cs typeface="Calibri"/>
              </a:rPr>
              <a:t>7</a:t>
            </a:r>
            <a:endParaRPr sz="1800" dirty="0">
              <a:latin typeface="Calibri"/>
              <a:cs typeface="Calibri"/>
            </a:endParaRPr>
          </a:p>
          <a:p>
            <a:pPr marL="12700" marR="34290">
              <a:lnSpc>
                <a:spcPts val="2160"/>
              </a:lnSpc>
              <a:spcBef>
                <a:spcPts val="13"/>
              </a:spcBef>
            </a:pPr>
            <a:r>
              <a:rPr sz="1800" b="1" spc="-2" dirty="0">
                <a:latin typeface="Calibri"/>
                <a:cs typeface="Calibri"/>
              </a:rPr>
              <a:t>No. Delayed Plant Inputs=10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ts val="2160"/>
              </a:lnSpc>
            </a:pPr>
            <a:r>
              <a:rPr sz="1800" b="1" spc="-3" dirty="0">
                <a:latin typeface="Calibri"/>
                <a:cs typeface="Calibri"/>
              </a:rPr>
              <a:t>No. Delayed Plant Outputs=10</a:t>
            </a:r>
            <a:endParaRPr sz="1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23318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3048" y="6400799"/>
            <a:ext cx="12188952" cy="457199"/>
          </a:xfrm>
          <a:custGeom>
            <a:avLst/>
            <a:gdLst/>
            <a:ahLst/>
            <a:cxnLst/>
            <a:rect l="l" t="t" r="r" b="b"/>
            <a:pathLst>
              <a:path w="12188952" h="457199">
                <a:moveTo>
                  <a:pt x="12188952" y="457199"/>
                </a:moveTo>
                <a:lnTo>
                  <a:pt x="12188952" y="0"/>
                </a:ln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close/>
              </a:path>
            </a:pathLst>
          </a:custGeom>
          <a:solidFill>
            <a:srgbClr val="009DD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6333744"/>
            <a:ext cx="12188952" cy="64007"/>
          </a:xfrm>
          <a:custGeom>
            <a:avLst/>
            <a:gdLst/>
            <a:ahLst/>
            <a:cxnLst/>
            <a:rect l="l" t="t" r="r" b="b"/>
            <a:pathLst>
              <a:path w="12188952" h="64008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60537" y="469836"/>
            <a:ext cx="11019309" cy="57540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spc="-1" dirty="0">
                <a:latin typeface="Calibri"/>
                <a:cs typeface="Calibri"/>
              </a:rPr>
              <a:t>En las imágenes siguientes, se aprecian las salidas del sistema y de la RN para un conjunto de datos de </a:t>
            </a:r>
            <a:r>
              <a:rPr sz="1800" spc="-1" dirty="0" err="1">
                <a:latin typeface="Calibri"/>
                <a:cs typeface="Calibri"/>
              </a:rPr>
              <a:t>entrenamiento</a:t>
            </a:r>
            <a:r>
              <a:rPr sz="1800" spc="-1" dirty="0">
                <a:latin typeface="Calibri"/>
                <a:cs typeface="Calibri"/>
              </a:rPr>
              <a:t>.</a:t>
            </a:r>
            <a:r>
              <a:rPr lang="es-ES" sz="1800" spc="-1" dirty="0">
                <a:latin typeface="Calibri"/>
                <a:cs typeface="Calibri"/>
              </a:rPr>
              <a:t> El error resulta menor para el caso de 500 muestras de entrenamiento.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027DA74-01E0-49B4-A7C1-E0C3D66C7972}"/>
              </a:ext>
            </a:extLst>
          </p:cNvPr>
          <p:cNvSpPr txBox="1"/>
          <p:nvPr/>
        </p:nvSpPr>
        <p:spPr>
          <a:xfrm>
            <a:off x="381000" y="86160"/>
            <a:ext cx="7010400" cy="33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29157">
              <a:lnSpc>
                <a:spcPts val="1900"/>
              </a:lnSpc>
            </a:pPr>
            <a:r>
              <a:rPr lang="es-ES" sz="1800" b="1" spc="-5" dirty="0">
                <a:solidFill>
                  <a:srgbClr val="0A5294"/>
                </a:solidFill>
                <a:latin typeface="Calibri"/>
                <a:cs typeface="Calibri"/>
              </a:rPr>
              <a:t>Variación de la Cantidad muestras de entrenamiento (</a:t>
            </a:r>
            <a:r>
              <a:rPr lang="es-ES" sz="1800" b="1" i="1" spc="-5" dirty="0">
                <a:solidFill>
                  <a:srgbClr val="0A5294"/>
                </a:solidFill>
                <a:latin typeface="Calibri"/>
                <a:cs typeface="Calibri"/>
              </a:rPr>
              <a:t>Training Samples</a:t>
            </a:r>
            <a:r>
              <a:rPr lang="es-ES" sz="1800" b="1" spc="-5" dirty="0">
                <a:solidFill>
                  <a:srgbClr val="0A5294"/>
                </a:solidFill>
                <a:latin typeface="Calibri"/>
                <a:cs typeface="Calibri"/>
              </a:rPr>
              <a:t>)</a:t>
            </a:r>
            <a:endParaRPr lang="es-ES" sz="1800" dirty="0">
              <a:latin typeface="Calibri"/>
              <a:cs typeface="Calibri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2062D18F-7DB9-46D3-90CE-5D0C29680B50}"/>
              </a:ext>
            </a:extLst>
          </p:cNvPr>
          <p:cNvSpPr txBox="1"/>
          <p:nvPr/>
        </p:nvSpPr>
        <p:spPr>
          <a:xfrm>
            <a:off x="6729020" y="1132586"/>
            <a:ext cx="3438652" cy="1077214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 marR="34335">
              <a:lnSpc>
                <a:spcPts val="1900"/>
              </a:lnSpc>
            </a:pPr>
            <a:r>
              <a:rPr sz="1800" spc="0" dirty="0">
                <a:latin typeface="Calibri"/>
                <a:cs typeface="Calibri"/>
              </a:rPr>
              <a:t>Cant de neuronas = </a:t>
            </a:r>
            <a:r>
              <a:rPr lang="es-ES" sz="1800" spc="0" dirty="0">
                <a:latin typeface="Calibri"/>
                <a:cs typeface="Calibri"/>
              </a:rPr>
              <a:t>7</a:t>
            </a:r>
            <a:endParaRPr sz="1800" dirty="0">
              <a:latin typeface="Calibri"/>
              <a:cs typeface="Calibri"/>
            </a:endParaRPr>
          </a:p>
          <a:p>
            <a:pPr marL="12700" marR="34335">
              <a:lnSpc>
                <a:spcPts val="2160"/>
              </a:lnSpc>
              <a:spcBef>
                <a:spcPts val="13"/>
              </a:spcBef>
            </a:pPr>
            <a:r>
              <a:rPr sz="1800" spc="-1" dirty="0">
                <a:latin typeface="Calibri"/>
                <a:cs typeface="Calibri"/>
              </a:rPr>
              <a:t>No. Delayed Plant Inputs=</a:t>
            </a:r>
            <a:r>
              <a:rPr lang="es-ES" sz="1800" spc="-1" dirty="0">
                <a:latin typeface="Calibri"/>
                <a:cs typeface="Calibri"/>
              </a:rPr>
              <a:t>10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ts val="2160"/>
              </a:lnSpc>
            </a:pPr>
            <a:r>
              <a:rPr sz="1800" spc="-2" dirty="0">
                <a:latin typeface="Calibri"/>
                <a:cs typeface="Calibri"/>
              </a:rPr>
              <a:t>No. Delayed Plant Outputs=</a:t>
            </a:r>
            <a:r>
              <a:rPr lang="es-ES" sz="1800" spc="-2" dirty="0">
                <a:latin typeface="Calibri"/>
                <a:cs typeface="Calibri"/>
              </a:rPr>
              <a:t>10</a:t>
            </a:r>
            <a:endParaRPr sz="1800" dirty="0">
              <a:latin typeface="Calibri"/>
              <a:cs typeface="Calibri"/>
            </a:endParaRPr>
          </a:p>
          <a:p>
            <a:pPr marL="12700" marR="34335">
              <a:lnSpc>
                <a:spcPts val="2160"/>
              </a:lnSpc>
            </a:pPr>
            <a:r>
              <a:rPr sz="1800" b="1" spc="-7" dirty="0">
                <a:latin typeface="Calibri"/>
                <a:cs typeface="Calibri"/>
              </a:rPr>
              <a:t>Training Samples=</a:t>
            </a:r>
            <a:r>
              <a:rPr lang="es-ES" b="1" spc="-7" dirty="0">
                <a:latin typeface="Calibri"/>
                <a:cs typeface="Calibri"/>
              </a:rPr>
              <a:t>2</a:t>
            </a:r>
            <a:r>
              <a:rPr sz="1800" b="1" spc="-7" dirty="0">
                <a:latin typeface="Calibri"/>
                <a:cs typeface="Calibri"/>
              </a:rPr>
              <a:t>000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7442FF8B-7255-4337-BE9C-91F482C138D7}"/>
              </a:ext>
            </a:extLst>
          </p:cNvPr>
          <p:cNvSpPr txBox="1"/>
          <p:nvPr/>
        </p:nvSpPr>
        <p:spPr>
          <a:xfrm>
            <a:off x="609600" y="1132586"/>
            <a:ext cx="3099410" cy="107696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 marR="34289">
              <a:lnSpc>
                <a:spcPts val="1900"/>
              </a:lnSpc>
            </a:pPr>
            <a:r>
              <a:rPr sz="1800" spc="0" dirty="0">
                <a:latin typeface="Calibri"/>
                <a:cs typeface="Calibri"/>
              </a:rPr>
              <a:t>Cant de neuronas = </a:t>
            </a:r>
            <a:r>
              <a:rPr lang="es-ES" sz="1800" spc="0" dirty="0">
                <a:latin typeface="Calibri"/>
                <a:cs typeface="Calibri"/>
              </a:rPr>
              <a:t>7</a:t>
            </a:r>
            <a:endParaRPr sz="1800" dirty="0">
              <a:latin typeface="Calibri"/>
              <a:cs typeface="Calibri"/>
            </a:endParaRPr>
          </a:p>
          <a:p>
            <a:pPr marL="12700" marR="34289">
              <a:lnSpc>
                <a:spcPts val="2160"/>
              </a:lnSpc>
              <a:spcBef>
                <a:spcPts val="13"/>
              </a:spcBef>
            </a:pPr>
            <a:r>
              <a:rPr sz="1800" spc="-1" dirty="0">
                <a:latin typeface="Calibri"/>
                <a:cs typeface="Calibri"/>
              </a:rPr>
              <a:t>No. Delayed Plant Inputs=</a:t>
            </a:r>
            <a:r>
              <a:rPr lang="es-ES" sz="1800" spc="-1" dirty="0">
                <a:latin typeface="Calibri"/>
                <a:cs typeface="Calibri"/>
              </a:rPr>
              <a:t>10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ts val="2160"/>
              </a:lnSpc>
            </a:pPr>
            <a:r>
              <a:rPr sz="1800" spc="-1" dirty="0">
                <a:latin typeface="Calibri"/>
                <a:cs typeface="Calibri"/>
              </a:rPr>
              <a:t>No. Delayed Plant Outputs=</a:t>
            </a:r>
            <a:r>
              <a:rPr lang="es-ES" sz="1800" spc="-1" dirty="0">
                <a:latin typeface="Calibri"/>
                <a:cs typeface="Calibri"/>
              </a:rPr>
              <a:t>10</a:t>
            </a:r>
            <a:endParaRPr sz="1800" dirty="0">
              <a:latin typeface="Calibri"/>
              <a:cs typeface="Calibri"/>
            </a:endParaRPr>
          </a:p>
          <a:p>
            <a:pPr marL="12700" marR="34289">
              <a:lnSpc>
                <a:spcPts val="2160"/>
              </a:lnSpc>
            </a:pPr>
            <a:r>
              <a:rPr sz="1800" b="1" spc="-7" dirty="0">
                <a:latin typeface="Calibri"/>
                <a:cs typeface="Calibri"/>
              </a:rPr>
              <a:t>Training Samples=</a:t>
            </a:r>
            <a:r>
              <a:rPr lang="es-ES" sz="1800" b="1" spc="-7" dirty="0">
                <a:latin typeface="Calibri"/>
                <a:cs typeface="Calibri"/>
              </a:rPr>
              <a:t>5</a:t>
            </a:r>
            <a:r>
              <a:rPr sz="1800" b="1" spc="-7" dirty="0">
                <a:latin typeface="Calibri"/>
                <a:cs typeface="Calibri"/>
              </a:rPr>
              <a:t>00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1E11F853-BC01-4BDD-BC6F-E17AA57CC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2296896"/>
            <a:ext cx="3465084" cy="3967018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1E77123-86E6-4128-A205-A82316E45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296896"/>
            <a:ext cx="3460191" cy="396701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3048" y="6400799"/>
            <a:ext cx="12188952" cy="457199"/>
          </a:xfrm>
          <a:custGeom>
            <a:avLst/>
            <a:gdLst/>
            <a:ahLst/>
            <a:cxnLst/>
            <a:rect l="l" t="t" r="r" b="b"/>
            <a:pathLst>
              <a:path w="12188952" h="457199">
                <a:moveTo>
                  <a:pt x="12188952" y="457199"/>
                </a:moveTo>
                <a:lnTo>
                  <a:pt x="12188952" y="0"/>
                </a:ln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close/>
              </a:path>
            </a:pathLst>
          </a:custGeom>
          <a:solidFill>
            <a:srgbClr val="009DD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6333744"/>
            <a:ext cx="12188952" cy="64007"/>
          </a:xfrm>
          <a:custGeom>
            <a:avLst/>
            <a:gdLst/>
            <a:ahLst/>
            <a:cxnLst/>
            <a:rect l="l" t="t" r="r" b="b"/>
            <a:pathLst>
              <a:path w="12188952" h="64008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1000" y="198030"/>
            <a:ext cx="10393325" cy="777618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spc="-2" dirty="0">
                <a:latin typeface="Calibri"/>
                <a:cs typeface="Calibri"/>
              </a:rPr>
              <a:t>En las imágenes se observan los datos de entrada y salida del sistema para los diferentes valores probados de la</a:t>
            </a:r>
            <a:endParaRPr sz="1800" dirty="0">
              <a:latin typeface="Calibri"/>
              <a:cs typeface="Calibri"/>
            </a:endParaRPr>
          </a:p>
          <a:p>
            <a:pPr marL="12700" marR="34290">
              <a:lnSpc>
                <a:spcPts val="2160"/>
              </a:lnSpc>
              <a:spcBef>
                <a:spcPts val="13"/>
              </a:spcBef>
            </a:pPr>
            <a:r>
              <a:rPr sz="1800" spc="-3" dirty="0">
                <a:latin typeface="Calibri"/>
                <a:cs typeface="Calibri"/>
              </a:rPr>
              <a:t>Cantidad muestras de </a:t>
            </a:r>
            <a:r>
              <a:rPr sz="1800" spc="-3" dirty="0" err="1">
                <a:latin typeface="Calibri"/>
                <a:cs typeface="Calibri"/>
              </a:rPr>
              <a:t>entrenamiento</a:t>
            </a:r>
            <a:r>
              <a:rPr sz="1800" spc="-3" dirty="0">
                <a:latin typeface="Calibri"/>
                <a:cs typeface="Calibri"/>
              </a:rPr>
              <a:t> (</a:t>
            </a:r>
            <a:r>
              <a:rPr lang="es-ES" sz="1800" spc="-3" dirty="0">
                <a:latin typeface="Calibri"/>
                <a:cs typeface="Calibri"/>
              </a:rPr>
              <a:t>5</a:t>
            </a:r>
            <a:r>
              <a:rPr sz="1800" spc="-3" dirty="0">
                <a:latin typeface="Calibri"/>
                <a:cs typeface="Calibri"/>
              </a:rPr>
              <a:t>00 y </a:t>
            </a:r>
            <a:r>
              <a:rPr lang="es-ES" sz="1800" spc="-3" dirty="0">
                <a:latin typeface="Calibri"/>
                <a:cs typeface="Calibri"/>
              </a:rPr>
              <a:t>2</a:t>
            </a:r>
            <a:r>
              <a:rPr sz="1800" spc="-3" dirty="0">
                <a:latin typeface="Calibri"/>
                <a:cs typeface="Calibri"/>
              </a:rPr>
              <a:t>000 </a:t>
            </a:r>
            <a:r>
              <a:rPr sz="1800" spc="-3" dirty="0" err="1">
                <a:latin typeface="Calibri"/>
                <a:cs typeface="Calibri"/>
              </a:rPr>
              <a:t>respectivamente</a:t>
            </a:r>
            <a:r>
              <a:rPr sz="1800" spc="-3" dirty="0">
                <a:latin typeface="Calibri"/>
                <a:cs typeface="Calibri"/>
              </a:rPr>
              <a:t>).</a:t>
            </a:r>
            <a:r>
              <a:rPr lang="es-ES" sz="1800" spc="-3" dirty="0">
                <a:latin typeface="Calibri"/>
                <a:cs typeface="Calibri"/>
              </a:rPr>
              <a:t> Esta vez, para un conjunto nuevo de datos, el menor error se obtiene para 2000 muestras de entrenamiento.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DD422738-403B-4C49-A8C6-F6A6A26579DB}"/>
              </a:ext>
            </a:extLst>
          </p:cNvPr>
          <p:cNvSpPr txBox="1"/>
          <p:nvPr/>
        </p:nvSpPr>
        <p:spPr>
          <a:xfrm>
            <a:off x="7000748" y="999998"/>
            <a:ext cx="3438652" cy="1077214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 marR="34335">
              <a:lnSpc>
                <a:spcPts val="1900"/>
              </a:lnSpc>
            </a:pPr>
            <a:r>
              <a:rPr sz="1800" spc="0" dirty="0">
                <a:latin typeface="Calibri"/>
                <a:cs typeface="Calibri"/>
              </a:rPr>
              <a:t>Cant de neuronas = </a:t>
            </a:r>
            <a:r>
              <a:rPr lang="es-ES" sz="1800" spc="0" dirty="0">
                <a:latin typeface="Calibri"/>
                <a:cs typeface="Calibri"/>
              </a:rPr>
              <a:t>7</a:t>
            </a:r>
            <a:endParaRPr sz="1800" dirty="0">
              <a:latin typeface="Calibri"/>
              <a:cs typeface="Calibri"/>
            </a:endParaRPr>
          </a:p>
          <a:p>
            <a:pPr marL="12700" marR="34335">
              <a:lnSpc>
                <a:spcPts val="2160"/>
              </a:lnSpc>
              <a:spcBef>
                <a:spcPts val="13"/>
              </a:spcBef>
            </a:pPr>
            <a:r>
              <a:rPr sz="1800" spc="-1" dirty="0">
                <a:latin typeface="Calibri"/>
                <a:cs typeface="Calibri"/>
              </a:rPr>
              <a:t>No. Delayed Plant Inputs=</a:t>
            </a:r>
            <a:r>
              <a:rPr lang="es-ES" sz="1800" spc="-1" dirty="0">
                <a:latin typeface="Calibri"/>
                <a:cs typeface="Calibri"/>
              </a:rPr>
              <a:t>10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ts val="2160"/>
              </a:lnSpc>
            </a:pPr>
            <a:r>
              <a:rPr sz="1800" spc="-2" dirty="0">
                <a:latin typeface="Calibri"/>
                <a:cs typeface="Calibri"/>
              </a:rPr>
              <a:t>No. Delayed Plant Outputs=</a:t>
            </a:r>
            <a:r>
              <a:rPr lang="es-ES" sz="1800" spc="-2" dirty="0">
                <a:latin typeface="Calibri"/>
                <a:cs typeface="Calibri"/>
              </a:rPr>
              <a:t>10</a:t>
            </a:r>
            <a:endParaRPr sz="1800" dirty="0">
              <a:latin typeface="Calibri"/>
              <a:cs typeface="Calibri"/>
            </a:endParaRPr>
          </a:p>
          <a:p>
            <a:pPr marL="12700" marR="34335">
              <a:lnSpc>
                <a:spcPts val="2160"/>
              </a:lnSpc>
            </a:pPr>
            <a:r>
              <a:rPr sz="1800" b="1" spc="-7" dirty="0">
                <a:latin typeface="Calibri"/>
                <a:cs typeface="Calibri"/>
              </a:rPr>
              <a:t>Training Samples=</a:t>
            </a:r>
            <a:r>
              <a:rPr lang="es-ES" b="1" spc="-7" dirty="0">
                <a:latin typeface="Calibri"/>
                <a:cs typeface="Calibri"/>
              </a:rPr>
              <a:t>2</a:t>
            </a:r>
            <a:r>
              <a:rPr sz="1800" b="1" spc="-7" dirty="0">
                <a:latin typeface="Calibri"/>
                <a:cs typeface="Calibri"/>
              </a:rPr>
              <a:t>000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DF507F37-58D0-4AA0-A0F3-06224F987131}"/>
              </a:ext>
            </a:extLst>
          </p:cNvPr>
          <p:cNvSpPr txBox="1"/>
          <p:nvPr/>
        </p:nvSpPr>
        <p:spPr>
          <a:xfrm>
            <a:off x="634390" y="1056640"/>
            <a:ext cx="3099410" cy="107696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 marR="34289">
              <a:lnSpc>
                <a:spcPts val="1900"/>
              </a:lnSpc>
            </a:pPr>
            <a:r>
              <a:rPr sz="1800" spc="0" dirty="0">
                <a:latin typeface="Calibri"/>
                <a:cs typeface="Calibri"/>
              </a:rPr>
              <a:t>Cant de neuronas = </a:t>
            </a:r>
            <a:r>
              <a:rPr lang="es-ES" sz="1800" spc="0" dirty="0">
                <a:latin typeface="Calibri"/>
                <a:cs typeface="Calibri"/>
              </a:rPr>
              <a:t>7</a:t>
            </a:r>
            <a:endParaRPr sz="1800" dirty="0">
              <a:latin typeface="Calibri"/>
              <a:cs typeface="Calibri"/>
            </a:endParaRPr>
          </a:p>
          <a:p>
            <a:pPr marL="12700" marR="34289">
              <a:lnSpc>
                <a:spcPts val="2160"/>
              </a:lnSpc>
              <a:spcBef>
                <a:spcPts val="13"/>
              </a:spcBef>
            </a:pPr>
            <a:r>
              <a:rPr sz="1800" spc="-1" dirty="0">
                <a:latin typeface="Calibri"/>
                <a:cs typeface="Calibri"/>
              </a:rPr>
              <a:t>No. Delayed Plant Inputs=</a:t>
            </a:r>
            <a:r>
              <a:rPr lang="es-ES" sz="1800" spc="-1" dirty="0">
                <a:latin typeface="Calibri"/>
                <a:cs typeface="Calibri"/>
              </a:rPr>
              <a:t>10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ts val="2160"/>
              </a:lnSpc>
            </a:pPr>
            <a:r>
              <a:rPr sz="1800" spc="-1" dirty="0">
                <a:latin typeface="Calibri"/>
                <a:cs typeface="Calibri"/>
              </a:rPr>
              <a:t>No. Delayed Plant Outputs=</a:t>
            </a:r>
            <a:r>
              <a:rPr lang="es-ES" sz="1800" spc="-1" dirty="0">
                <a:latin typeface="Calibri"/>
                <a:cs typeface="Calibri"/>
              </a:rPr>
              <a:t>10</a:t>
            </a:r>
            <a:endParaRPr sz="1800" dirty="0">
              <a:latin typeface="Calibri"/>
              <a:cs typeface="Calibri"/>
            </a:endParaRPr>
          </a:p>
          <a:p>
            <a:pPr marL="12700" marR="34289">
              <a:lnSpc>
                <a:spcPts val="2160"/>
              </a:lnSpc>
            </a:pPr>
            <a:r>
              <a:rPr sz="1800" b="1" spc="-7" dirty="0">
                <a:latin typeface="Calibri"/>
                <a:cs typeface="Calibri"/>
              </a:rPr>
              <a:t>Training Samples=</a:t>
            </a:r>
            <a:r>
              <a:rPr lang="es-ES" sz="1800" b="1" spc="-7" dirty="0">
                <a:latin typeface="Calibri"/>
                <a:cs typeface="Calibri"/>
              </a:rPr>
              <a:t>5</a:t>
            </a:r>
            <a:r>
              <a:rPr sz="1800" b="1" spc="-7" dirty="0">
                <a:latin typeface="Calibri"/>
                <a:cs typeface="Calibri"/>
              </a:rPr>
              <a:t>00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7B066BD-A515-48D5-86A0-AC1C28AF9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0" y="2207401"/>
            <a:ext cx="3532632" cy="4101993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FFC6BF47-6325-4C29-9A6D-3766DE7B6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235628"/>
            <a:ext cx="3532632" cy="404553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3048" y="6400799"/>
            <a:ext cx="12188952" cy="457199"/>
          </a:xfrm>
          <a:custGeom>
            <a:avLst/>
            <a:gdLst/>
            <a:ahLst/>
            <a:cxnLst/>
            <a:rect l="l" t="t" r="r" b="b"/>
            <a:pathLst>
              <a:path w="12188952" h="457199">
                <a:moveTo>
                  <a:pt x="12188952" y="457199"/>
                </a:moveTo>
                <a:lnTo>
                  <a:pt x="12188952" y="0"/>
                </a:ln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close/>
              </a:path>
            </a:pathLst>
          </a:custGeom>
          <a:solidFill>
            <a:srgbClr val="009DD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6333744"/>
            <a:ext cx="12188952" cy="64007"/>
          </a:xfrm>
          <a:custGeom>
            <a:avLst/>
            <a:gdLst/>
            <a:ahLst/>
            <a:cxnLst/>
            <a:rect l="l" t="t" r="r" b="b"/>
            <a:pathLst>
              <a:path w="12188952" h="64008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4888" y="164465"/>
            <a:ext cx="11085792" cy="662867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 marR="2958">
              <a:lnSpc>
                <a:spcPts val="1900"/>
              </a:lnSpc>
            </a:pPr>
            <a:r>
              <a:rPr sz="1800" spc="17" dirty="0">
                <a:latin typeface="Calibri"/>
                <a:cs typeface="Calibri"/>
              </a:rPr>
              <a:t>En las imágenes debajo, en el valor del Gradiente, el mejor valor resulta con </a:t>
            </a:r>
            <a:r>
              <a:rPr lang="es-ES" sz="1800" spc="17" dirty="0">
                <a:latin typeface="Calibri"/>
                <a:cs typeface="Calibri"/>
              </a:rPr>
              <a:t>2</a:t>
            </a:r>
            <a:r>
              <a:rPr sz="1800" spc="17" dirty="0">
                <a:latin typeface="Calibri"/>
                <a:cs typeface="Calibri"/>
              </a:rPr>
              <a:t>000 </a:t>
            </a:r>
            <a:r>
              <a:rPr sz="1800" spc="17" dirty="0" err="1">
                <a:latin typeface="Calibri"/>
                <a:cs typeface="Calibri"/>
              </a:rPr>
              <a:t>muestras</a:t>
            </a:r>
            <a:r>
              <a:rPr sz="1800" spc="17" dirty="0">
                <a:latin typeface="Calibri"/>
                <a:cs typeface="Calibri"/>
              </a:rPr>
              <a:t> (</a:t>
            </a:r>
            <a:r>
              <a:rPr lang="es-ES" spc="17" dirty="0">
                <a:latin typeface="Calibri"/>
                <a:cs typeface="Calibri"/>
              </a:rPr>
              <a:t>2,42*e^-6</a:t>
            </a:r>
            <a:r>
              <a:rPr sz="1800" spc="17" dirty="0">
                <a:latin typeface="Calibri"/>
                <a:cs typeface="Calibri"/>
              </a:rPr>
              <a:t>)</a:t>
            </a:r>
            <a:r>
              <a:rPr sz="1800" spc="6" dirty="0">
                <a:latin typeface="Calibri"/>
                <a:cs typeface="Calibri"/>
              </a:rPr>
              <a:t>. Por lo tanto, se puede concluir que la RN da mejor salida con </a:t>
            </a:r>
            <a:r>
              <a:rPr lang="es-ES" spc="6" dirty="0">
                <a:latin typeface="Calibri"/>
                <a:cs typeface="Calibri"/>
              </a:rPr>
              <a:t>2</a:t>
            </a:r>
            <a:r>
              <a:rPr sz="1800" spc="6" dirty="0">
                <a:latin typeface="Calibri"/>
                <a:cs typeface="Calibri"/>
              </a:rPr>
              <a:t>000 </a:t>
            </a:r>
            <a:r>
              <a:rPr sz="1800" spc="6" dirty="0" err="1">
                <a:latin typeface="Calibri"/>
                <a:cs typeface="Calibri"/>
              </a:rPr>
              <a:t>muestras</a:t>
            </a:r>
            <a:r>
              <a:rPr sz="1800" spc="6" dirty="0">
                <a:latin typeface="Calibri"/>
                <a:cs typeface="Calibri"/>
              </a:rPr>
              <a:t> de</a:t>
            </a:r>
            <a:r>
              <a:rPr lang="es-ES" sz="1800" spc="6" dirty="0">
                <a:latin typeface="Calibri"/>
                <a:cs typeface="Calibri"/>
              </a:rPr>
              <a:t> </a:t>
            </a:r>
            <a:r>
              <a:rPr sz="1800" spc="-3" dirty="0" err="1">
                <a:latin typeface="Calibri"/>
                <a:cs typeface="Calibri"/>
              </a:rPr>
              <a:t>entrenamiento</a:t>
            </a:r>
            <a:r>
              <a:rPr sz="1800" spc="-3" dirty="0">
                <a:latin typeface="Calibri"/>
                <a:cs typeface="Calibri"/>
              </a:rPr>
              <a:t>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E92F852B-6BFD-4201-A5E5-03796AA29F28}"/>
              </a:ext>
            </a:extLst>
          </p:cNvPr>
          <p:cNvSpPr txBox="1"/>
          <p:nvPr/>
        </p:nvSpPr>
        <p:spPr>
          <a:xfrm>
            <a:off x="6924548" y="923544"/>
            <a:ext cx="3438652" cy="1077214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 marR="34335">
              <a:lnSpc>
                <a:spcPts val="1900"/>
              </a:lnSpc>
            </a:pPr>
            <a:r>
              <a:rPr sz="1800" spc="0" dirty="0">
                <a:latin typeface="Calibri"/>
                <a:cs typeface="Calibri"/>
              </a:rPr>
              <a:t>Cant de neuronas = </a:t>
            </a:r>
            <a:r>
              <a:rPr lang="es-ES" sz="1800" spc="0" dirty="0">
                <a:latin typeface="Calibri"/>
                <a:cs typeface="Calibri"/>
              </a:rPr>
              <a:t>7</a:t>
            </a:r>
            <a:endParaRPr sz="1800" dirty="0">
              <a:latin typeface="Calibri"/>
              <a:cs typeface="Calibri"/>
            </a:endParaRPr>
          </a:p>
          <a:p>
            <a:pPr marL="12700" marR="34335">
              <a:lnSpc>
                <a:spcPts val="2160"/>
              </a:lnSpc>
              <a:spcBef>
                <a:spcPts val="13"/>
              </a:spcBef>
            </a:pPr>
            <a:r>
              <a:rPr sz="1800" spc="-1" dirty="0">
                <a:latin typeface="Calibri"/>
                <a:cs typeface="Calibri"/>
              </a:rPr>
              <a:t>No. Delayed Plant Inputs=</a:t>
            </a:r>
            <a:r>
              <a:rPr lang="es-ES" sz="1800" spc="-1" dirty="0">
                <a:latin typeface="Calibri"/>
                <a:cs typeface="Calibri"/>
              </a:rPr>
              <a:t>10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ts val="2160"/>
              </a:lnSpc>
            </a:pPr>
            <a:r>
              <a:rPr sz="1800" spc="-2" dirty="0">
                <a:latin typeface="Calibri"/>
                <a:cs typeface="Calibri"/>
              </a:rPr>
              <a:t>No. Delayed Plant Outputs=</a:t>
            </a:r>
            <a:r>
              <a:rPr lang="es-ES" sz="1800" spc="-2" dirty="0">
                <a:latin typeface="Calibri"/>
                <a:cs typeface="Calibri"/>
              </a:rPr>
              <a:t>10</a:t>
            </a:r>
            <a:endParaRPr sz="1800" dirty="0">
              <a:latin typeface="Calibri"/>
              <a:cs typeface="Calibri"/>
            </a:endParaRPr>
          </a:p>
          <a:p>
            <a:pPr marL="12700" marR="34335">
              <a:lnSpc>
                <a:spcPts val="2160"/>
              </a:lnSpc>
            </a:pPr>
            <a:r>
              <a:rPr sz="1800" b="1" spc="-7" dirty="0">
                <a:latin typeface="Calibri"/>
                <a:cs typeface="Calibri"/>
              </a:rPr>
              <a:t>Training Samples=</a:t>
            </a:r>
            <a:r>
              <a:rPr lang="es-ES" b="1" spc="-7" dirty="0">
                <a:latin typeface="Calibri"/>
                <a:cs typeface="Calibri"/>
              </a:rPr>
              <a:t>2</a:t>
            </a:r>
            <a:r>
              <a:rPr sz="1800" b="1" spc="-7" dirty="0">
                <a:latin typeface="Calibri"/>
                <a:cs typeface="Calibri"/>
              </a:rPr>
              <a:t>000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EA3F3039-1281-4298-ADC9-18F1FACAF23C}"/>
              </a:ext>
            </a:extLst>
          </p:cNvPr>
          <p:cNvSpPr txBox="1"/>
          <p:nvPr/>
        </p:nvSpPr>
        <p:spPr>
          <a:xfrm>
            <a:off x="786790" y="914400"/>
            <a:ext cx="3099410" cy="107696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 marR="34289">
              <a:lnSpc>
                <a:spcPts val="1900"/>
              </a:lnSpc>
            </a:pPr>
            <a:r>
              <a:rPr sz="1800" spc="0" dirty="0">
                <a:latin typeface="Calibri"/>
                <a:cs typeface="Calibri"/>
              </a:rPr>
              <a:t>Cant de neuronas = </a:t>
            </a:r>
            <a:r>
              <a:rPr lang="es-ES" sz="1800" spc="0" dirty="0">
                <a:latin typeface="Calibri"/>
                <a:cs typeface="Calibri"/>
              </a:rPr>
              <a:t>7</a:t>
            </a:r>
            <a:endParaRPr sz="1800" dirty="0">
              <a:latin typeface="Calibri"/>
              <a:cs typeface="Calibri"/>
            </a:endParaRPr>
          </a:p>
          <a:p>
            <a:pPr marL="12700" marR="34289">
              <a:lnSpc>
                <a:spcPts val="2160"/>
              </a:lnSpc>
              <a:spcBef>
                <a:spcPts val="13"/>
              </a:spcBef>
            </a:pPr>
            <a:r>
              <a:rPr sz="1800" spc="-1" dirty="0">
                <a:latin typeface="Calibri"/>
                <a:cs typeface="Calibri"/>
              </a:rPr>
              <a:t>No. Delayed Plant Inputs=</a:t>
            </a:r>
            <a:r>
              <a:rPr lang="es-ES" sz="1800" spc="-1" dirty="0">
                <a:latin typeface="Calibri"/>
                <a:cs typeface="Calibri"/>
              </a:rPr>
              <a:t>10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ts val="2160"/>
              </a:lnSpc>
            </a:pPr>
            <a:r>
              <a:rPr sz="1800" spc="-1" dirty="0">
                <a:latin typeface="Calibri"/>
                <a:cs typeface="Calibri"/>
              </a:rPr>
              <a:t>No. Delayed Plant Outputs=</a:t>
            </a:r>
            <a:r>
              <a:rPr lang="es-ES" sz="1800" spc="-1" dirty="0">
                <a:latin typeface="Calibri"/>
                <a:cs typeface="Calibri"/>
              </a:rPr>
              <a:t>10</a:t>
            </a:r>
            <a:endParaRPr sz="1800" dirty="0">
              <a:latin typeface="Calibri"/>
              <a:cs typeface="Calibri"/>
            </a:endParaRPr>
          </a:p>
          <a:p>
            <a:pPr marL="12700" marR="34289">
              <a:lnSpc>
                <a:spcPts val="2160"/>
              </a:lnSpc>
            </a:pPr>
            <a:r>
              <a:rPr sz="1800" b="1" spc="-7" dirty="0">
                <a:latin typeface="Calibri"/>
                <a:cs typeface="Calibri"/>
              </a:rPr>
              <a:t>Training Samples=</a:t>
            </a:r>
            <a:r>
              <a:rPr lang="es-ES" sz="1800" b="1" spc="-7" dirty="0">
                <a:latin typeface="Calibri"/>
                <a:cs typeface="Calibri"/>
              </a:rPr>
              <a:t>5</a:t>
            </a:r>
            <a:r>
              <a:rPr sz="1800" b="1" spc="-7" dirty="0">
                <a:latin typeface="Calibri"/>
                <a:cs typeface="Calibri"/>
              </a:rPr>
              <a:t>00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AF5A897-12D5-4693-9E0E-1A862694F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102" y="2144468"/>
            <a:ext cx="3467098" cy="412303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16CFAC9B-5C28-48F5-A0F3-47479ACB1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790" y="2116927"/>
            <a:ext cx="3467098" cy="415057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/>
          <p:nvPr/>
        </p:nvSpPr>
        <p:spPr>
          <a:xfrm>
            <a:off x="3048" y="6400799"/>
            <a:ext cx="12188952" cy="457199"/>
          </a:xfrm>
          <a:custGeom>
            <a:avLst/>
            <a:gdLst/>
            <a:ahLst/>
            <a:cxnLst/>
            <a:rect l="l" t="t" r="r" b="b"/>
            <a:pathLst>
              <a:path w="12188952" h="457199">
                <a:moveTo>
                  <a:pt x="12188952" y="457199"/>
                </a:moveTo>
                <a:lnTo>
                  <a:pt x="12188952" y="0"/>
                </a:ln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close/>
              </a:path>
            </a:pathLst>
          </a:custGeom>
          <a:solidFill>
            <a:srgbClr val="009DD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0" y="6333744"/>
            <a:ext cx="12188952" cy="64007"/>
          </a:xfrm>
          <a:custGeom>
            <a:avLst/>
            <a:gdLst/>
            <a:ahLst/>
            <a:cxnLst/>
            <a:rect l="l" t="t" r="r" b="b"/>
            <a:pathLst>
              <a:path w="12188952" h="64008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75233" y="2073148"/>
            <a:ext cx="10878503" cy="803021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 algn="just">
              <a:lnSpc>
                <a:spcPts val="1900"/>
              </a:lnSpc>
            </a:pPr>
            <a:r>
              <a:rPr sz="1800" spc="10" dirty="0">
                <a:latin typeface="Calibri"/>
                <a:cs typeface="Calibri"/>
              </a:rPr>
              <a:t>En el diseño del sistema de control de un </a:t>
            </a:r>
            <a:r>
              <a:rPr lang="es-ES" sz="1800" spc="10" dirty="0">
                <a:latin typeface="Calibri"/>
                <a:cs typeface="Calibri"/>
              </a:rPr>
              <a:t>brazo robótico</a:t>
            </a:r>
            <a:r>
              <a:rPr sz="1800" spc="10" dirty="0">
                <a:latin typeface="Calibri"/>
                <a:cs typeface="Calibri"/>
              </a:rPr>
              <a:t>, se efectuaron una serie de pruebas para encontrar los </a:t>
            </a:r>
            <a:r>
              <a:rPr sz="1800" spc="10" dirty="0" err="1">
                <a:latin typeface="Calibri"/>
                <a:cs typeface="Calibri"/>
              </a:rPr>
              <a:t>valores</a:t>
            </a:r>
            <a:r>
              <a:rPr sz="1800" spc="10" dirty="0">
                <a:latin typeface="Calibri"/>
                <a:cs typeface="Calibri"/>
              </a:rPr>
              <a:t> de</a:t>
            </a:r>
            <a:r>
              <a:rPr lang="es-ES" sz="1800" spc="10" dirty="0">
                <a:latin typeface="Calibri"/>
                <a:cs typeface="Calibri"/>
              </a:rPr>
              <a:t> </a:t>
            </a:r>
            <a:r>
              <a:rPr sz="1800" spc="21" dirty="0">
                <a:latin typeface="Calibri"/>
                <a:cs typeface="Calibri"/>
              </a:rPr>
              <a:t>los parámetros que lograran una mayor similitud entre la salida del sistema real y la salida del controlador, dados</a:t>
            </a:r>
            <a:r>
              <a:rPr lang="es-ES" sz="1800" spc="21" dirty="0">
                <a:latin typeface="Calibri"/>
                <a:cs typeface="Calibri"/>
              </a:rPr>
              <a:t> </a:t>
            </a:r>
            <a:r>
              <a:rPr sz="1800" spc="-1" dirty="0" err="1">
                <a:latin typeface="Calibri"/>
                <a:cs typeface="Calibri"/>
              </a:rPr>
              <a:t>determinados</a:t>
            </a:r>
            <a:r>
              <a:rPr sz="1800" spc="-1" dirty="0">
                <a:latin typeface="Calibri"/>
                <a:cs typeface="Calibri"/>
              </a:rPr>
              <a:t> datos de entrada.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5233" y="3170809"/>
            <a:ext cx="10737587" cy="528396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 algn="just">
              <a:lnSpc>
                <a:spcPts val="1900"/>
              </a:lnSpc>
            </a:pPr>
            <a:r>
              <a:rPr sz="1800" spc="-2" dirty="0">
                <a:latin typeface="Calibri"/>
                <a:cs typeface="Calibri"/>
              </a:rPr>
              <a:t>Todas estas variaciones se han hecho partiendo de una RN entrenada con los parámetros anteriormente escogidos:</a:t>
            </a:r>
            <a:endParaRPr sz="1800" dirty="0">
              <a:latin typeface="Calibri"/>
              <a:cs typeface="Calibri"/>
            </a:endParaRPr>
          </a:p>
          <a:p>
            <a:pPr marL="12700" marR="34290" algn="just">
              <a:lnSpc>
                <a:spcPts val="2160"/>
              </a:lnSpc>
              <a:spcBef>
                <a:spcPts val="13"/>
              </a:spcBef>
            </a:pPr>
            <a:r>
              <a:rPr sz="1800" spc="-2" dirty="0">
                <a:latin typeface="Calibri"/>
                <a:cs typeface="Calibri"/>
              </a:rPr>
              <a:t>Cantidad de </a:t>
            </a:r>
            <a:r>
              <a:rPr sz="1800" spc="-2" dirty="0" err="1">
                <a:latin typeface="Calibri"/>
                <a:cs typeface="Calibri"/>
              </a:rPr>
              <a:t>neuronas</a:t>
            </a:r>
            <a:r>
              <a:rPr sz="1800" spc="-2" dirty="0">
                <a:latin typeface="Calibri"/>
                <a:cs typeface="Calibri"/>
              </a:rPr>
              <a:t> (</a:t>
            </a:r>
            <a:r>
              <a:rPr lang="es-ES" sz="1800" spc="-2" dirty="0">
                <a:latin typeface="Calibri"/>
                <a:cs typeface="Calibri"/>
              </a:rPr>
              <a:t>7</a:t>
            </a:r>
            <a:r>
              <a:rPr sz="1800" spc="-2" dirty="0">
                <a:latin typeface="Calibri"/>
                <a:cs typeface="Calibri"/>
              </a:rPr>
              <a:t>),  No. Delayed Plant Inputs (</a:t>
            </a:r>
            <a:r>
              <a:rPr lang="es-ES" sz="1800" spc="-2" dirty="0">
                <a:latin typeface="Calibri"/>
                <a:cs typeface="Calibri"/>
              </a:rPr>
              <a:t>10</a:t>
            </a:r>
            <a:r>
              <a:rPr sz="1800" spc="-2" dirty="0">
                <a:latin typeface="Calibri"/>
                <a:cs typeface="Calibri"/>
              </a:rPr>
              <a:t>), No. Delayed Plant Outputs (</a:t>
            </a:r>
            <a:r>
              <a:rPr lang="es-ES" sz="1800" spc="-2" dirty="0">
                <a:latin typeface="Calibri"/>
                <a:cs typeface="Calibri"/>
              </a:rPr>
              <a:t>10</a:t>
            </a:r>
            <a:r>
              <a:rPr sz="1800" spc="-2" dirty="0">
                <a:latin typeface="Calibri"/>
                <a:cs typeface="Calibri"/>
              </a:rPr>
              <a:t>), Training Samples (</a:t>
            </a:r>
            <a:r>
              <a:rPr lang="es-ES" sz="1800" spc="-2" dirty="0">
                <a:latin typeface="Calibri"/>
                <a:cs typeface="Calibri"/>
              </a:rPr>
              <a:t>2</a:t>
            </a:r>
            <a:r>
              <a:rPr sz="1800" spc="-2" dirty="0">
                <a:latin typeface="Calibri"/>
                <a:cs typeface="Calibri"/>
              </a:rPr>
              <a:t>000).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5233" y="3994023"/>
            <a:ext cx="7063592" cy="25400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spc="-1" dirty="0">
                <a:latin typeface="Calibri"/>
                <a:cs typeface="Calibri"/>
              </a:rPr>
              <a:t>Los parámetros del Sistema de Control a los que se les varió el valor fueron: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5233" y="4254555"/>
            <a:ext cx="139852" cy="802697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 marR="152">
              <a:lnSpc>
                <a:spcPts val="1939"/>
              </a:lnSpc>
            </a:pPr>
            <a:r>
              <a:rPr sz="1800" dirty="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  <a:p>
            <a:pPr marL="12700" marR="152">
              <a:lnSpc>
                <a:spcPct val="95825"/>
              </a:lnSpc>
            </a:pPr>
            <a:r>
              <a:rPr sz="1800" dirty="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90"/>
              </a:spcBef>
            </a:pPr>
            <a:r>
              <a:rPr sz="1800" dirty="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61745" y="4268343"/>
            <a:ext cx="2787280" cy="802716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 marR="34335">
              <a:lnSpc>
                <a:spcPts val="1900"/>
              </a:lnSpc>
            </a:pPr>
            <a:r>
              <a:rPr sz="1800" spc="-1" dirty="0">
                <a:latin typeface="Calibri"/>
                <a:cs typeface="Calibri"/>
              </a:rPr>
              <a:t>Horizonte de predicción (N2)</a:t>
            </a:r>
            <a:endParaRPr sz="1800">
              <a:latin typeface="Calibri"/>
              <a:cs typeface="Calibri"/>
            </a:endParaRPr>
          </a:p>
          <a:p>
            <a:pPr marL="12700" marR="34335">
              <a:lnSpc>
                <a:spcPts val="2160"/>
              </a:lnSpc>
              <a:spcBef>
                <a:spcPts val="13"/>
              </a:spcBef>
            </a:pPr>
            <a:r>
              <a:rPr sz="1800" spc="-3" dirty="0">
                <a:latin typeface="Calibri"/>
                <a:cs typeface="Calibri"/>
              </a:rPr>
              <a:t>Horizonte de control (Nu)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60"/>
              </a:lnSpc>
            </a:pPr>
            <a:r>
              <a:rPr sz="1800" spc="-3" dirty="0">
                <a:latin typeface="Calibri"/>
                <a:cs typeface="Calibri"/>
              </a:rPr>
              <a:t>Factor de peso del control (β)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37734F9-061D-4F6C-AFDE-78B983000D52}"/>
              </a:ext>
            </a:extLst>
          </p:cNvPr>
          <p:cNvSpPr/>
          <p:nvPr/>
        </p:nvSpPr>
        <p:spPr>
          <a:xfrm>
            <a:off x="2819400" y="460249"/>
            <a:ext cx="5663089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8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Paso 2: Diseño del Sistema de Control</a:t>
            </a:r>
          </a:p>
          <a:p>
            <a:pPr algn="ctr"/>
            <a:r>
              <a:rPr lang="es-E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Selección de sus parámetros</a:t>
            </a:r>
            <a:endParaRPr lang="es-ES" sz="28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/>
          <p:nvPr/>
        </p:nvSpPr>
        <p:spPr>
          <a:xfrm>
            <a:off x="3048" y="6400799"/>
            <a:ext cx="12188952" cy="457199"/>
          </a:xfrm>
          <a:custGeom>
            <a:avLst/>
            <a:gdLst/>
            <a:ahLst/>
            <a:cxnLst/>
            <a:rect l="l" t="t" r="r" b="b"/>
            <a:pathLst>
              <a:path w="12188952" h="457199">
                <a:moveTo>
                  <a:pt x="12188952" y="457199"/>
                </a:moveTo>
                <a:lnTo>
                  <a:pt x="12188952" y="0"/>
                </a:ln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close/>
              </a:path>
            </a:pathLst>
          </a:custGeom>
          <a:solidFill>
            <a:srgbClr val="009DD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6333744"/>
            <a:ext cx="12188952" cy="64007"/>
          </a:xfrm>
          <a:custGeom>
            <a:avLst/>
            <a:gdLst/>
            <a:ahLst/>
            <a:cxnLst/>
            <a:rect l="l" t="t" r="r" b="b"/>
            <a:pathLst>
              <a:path w="12188952" h="64008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00532" y="232028"/>
            <a:ext cx="5636246" cy="618363"/>
          </a:xfrm>
          <a:prstGeom prst="rect">
            <a:avLst/>
          </a:prstGeom>
        </p:spPr>
        <p:txBody>
          <a:bodyPr wrap="square" lIns="0" tIns="13366" rIns="0" bIns="0" rtlCol="0">
            <a:noAutofit/>
          </a:bodyPr>
          <a:lstStyle/>
          <a:p>
            <a:pPr marL="12700">
              <a:lnSpc>
                <a:spcPts val="2105"/>
              </a:lnSpc>
            </a:pPr>
            <a:r>
              <a:rPr sz="2000" b="1" spc="-5" dirty="0">
                <a:solidFill>
                  <a:srgbClr val="0A5294"/>
                </a:solidFill>
                <a:latin typeface="Calibri"/>
                <a:cs typeface="Calibri"/>
              </a:rPr>
              <a:t>Variación del Horizonte de predicción (N2)</a:t>
            </a:r>
            <a:endParaRPr sz="2000" dirty="0">
              <a:latin typeface="Calibri"/>
              <a:cs typeface="Calibri"/>
            </a:endParaRPr>
          </a:p>
          <a:p>
            <a:pPr marL="12700" marR="38176">
              <a:lnSpc>
                <a:spcPct val="101725"/>
              </a:lnSpc>
              <a:spcBef>
                <a:spcPts val="359"/>
              </a:spcBef>
            </a:pPr>
            <a:r>
              <a:rPr sz="1800" b="1" spc="1" dirty="0">
                <a:latin typeface="Calibri"/>
                <a:cs typeface="Calibri"/>
              </a:rPr>
              <a:t>N2=2</a:t>
            </a:r>
            <a:r>
              <a:rPr sz="1800" spc="1" dirty="0">
                <a:latin typeface="Calibri"/>
                <a:cs typeface="Calibri"/>
              </a:rPr>
              <a:t>, Nu=2, β =0,05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35386" y="1969515"/>
            <a:ext cx="1172683" cy="1203909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 marR="34335">
              <a:lnSpc>
                <a:spcPts val="1900"/>
              </a:lnSpc>
            </a:pPr>
            <a:r>
              <a:rPr sz="1800" spc="0" dirty="0">
                <a:latin typeface="Calibri"/>
                <a:cs typeface="Calibri"/>
              </a:rPr>
              <a:t>Salida del</a:t>
            </a:r>
            <a:endParaRPr sz="1800">
              <a:latin typeface="Calibri"/>
              <a:cs typeface="Calibri"/>
            </a:endParaRPr>
          </a:p>
          <a:p>
            <a:pPr marL="12700" marR="34335">
              <a:lnSpc>
                <a:spcPts val="2160"/>
              </a:lnSpc>
              <a:spcBef>
                <a:spcPts val="13"/>
              </a:spcBef>
            </a:pPr>
            <a:r>
              <a:rPr sz="1800" spc="-1" dirty="0">
                <a:latin typeface="Calibri"/>
                <a:cs typeface="Calibri"/>
              </a:rPr>
              <a:t>NMPC</a:t>
            </a:r>
            <a:endParaRPr sz="1800">
              <a:latin typeface="Calibri"/>
              <a:cs typeface="Calibri"/>
            </a:endParaRPr>
          </a:p>
          <a:p>
            <a:pPr marL="12700" marR="34335">
              <a:lnSpc>
                <a:spcPct val="101725"/>
              </a:lnSpc>
              <a:spcBef>
                <a:spcPts val="853"/>
              </a:spcBef>
            </a:pPr>
            <a:r>
              <a:rPr sz="1800" spc="0" dirty="0">
                <a:latin typeface="Calibri"/>
                <a:cs typeface="Calibri"/>
              </a:rPr>
              <a:t>Salida del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60"/>
              </a:lnSpc>
              <a:spcBef>
                <a:spcPts val="108"/>
              </a:spcBef>
            </a:pPr>
            <a:r>
              <a:rPr sz="1800" spc="-6" dirty="0">
                <a:latin typeface="Calibri"/>
                <a:cs typeface="Calibri"/>
              </a:rPr>
              <a:t>sistema real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555FFD60-D3EC-409C-8636-0E6E838F4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81" y="1143000"/>
            <a:ext cx="9491229" cy="5086961"/>
          </a:xfrm>
          <a:prstGeom prst="rect">
            <a:avLst/>
          </a:prstGeom>
        </p:spPr>
      </p:pic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594DB5AD-F2AA-4DAC-9195-3795A8F20524}"/>
              </a:ext>
            </a:extLst>
          </p:cNvPr>
          <p:cNvCxnSpPr/>
          <p:nvPr/>
        </p:nvCxnSpPr>
        <p:spPr>
          <a:xfrm>
            <a:off x="10210800" y="2209800"/>
            <a:ext cx="52527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52234287-6604-4AA9-B895-013B856622AA}"/>
              </a:ext>
            </a:extLst>
          </p:cNvPr>
          <p:cNvCxnSpPr/>
          <p:nvPr/>
        </p:nvCxnSpPr>
        <p:spPr>
          <a:xfrm>
            <a:off x="10210800" y="2895600"/>
            <a:ext cx="52527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3048" y="6400799"/>
            <a:ext cx="12188952" cy="457199"/>
          </a:xfrm>
          <a:custGeom>
            <a:avLst/>
            <a:gdLst/>
            <a:ahLst/>
            <a:cxnLst/>
            <a:rect l="l" t="t" r="r" b="b"/>
            <a:pathLst>
              <a:path w="12188952" h="457199">
                <a:moveTo>
                  <a:pt x="12188952" y="457199"/>
                </a:moveTo>
                <a:lnTo>
                  <a:pt x="12188952" y="0"/>
                </a:ln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close/>
              </a:path>
            </a:pathLst>
          </a:custGeom>
          <a:solidFill>
            <a:srgbClr val="009DD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0" y="6333744"/>
            <a:ext cx="12188952" cy="64007"/>
          </a:xfrm>
          <a:custGeom>
            <a:avLst/>
            <a:gdLst/>
            <a:ahLst/>
            <a:cxnLst/>
            <a:rect l="l" t="t" r="r" b="b"/>
            <a:pathLst>
              <a:path w="12188952" h="64008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33400" y="422271"/>
            <a:ext cx="1914743" cy="25400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b="1" spc="1" dirty="0">
                <a:latin typeface="Calibri"/>
                <a:cs typeface="Calibri"/>
              </a:rPr>
              <a:t>N2=7</a:t>
            </a:r>
            <a:r>
              <a:rPr sz="1800" spc="1" dirty="0">
                <a:latin typeface="Calibri"/>
                <a:cs typeface="Calibri"/>
              </a:rPr>
              <a:t>, Nu=2, β=0,05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35386" y="1969515"/>
            <a:ext cx="1172683" cy="1203909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 marR="34335">
              <a:lnSpc>
                <a:spcPts val="1900"/>
              </a:lnSpc>
            </a:pPr>
            <a:r>
              <a:rPr sz="1800" spc="0" dirty="0">
                <a:latin typeface="Calibri"/>
                <a:cs typeface="Calibri"/>
              </a:rPr>
              <a:t>Salida del</a:t>
            </a:r>
            <a:endParaRPr sz="1800">
              <a:latin typeface="Calibri"/>
              <a:cs typeface="Calibri"/>
            </a:endParaRPr>
          </a:p>
          <a:p>
            <a:pPr marL="12700" marR="34335">
              <a:lnSpc>
                <a:spcPts val="2160"/>
              </a:lnSpc>
              <a:spcBef>
                <a:spcPts val="13"/>
              </a:spcBef>
            </a:pPr>
            <a:r>
              <a:rPr sz="1800" spc="-1" dirty="0">
                <a:latin typeface="Calibri"/>
                <a:cs typeface="Calibri"/>
              </a:rPr>
              <a:t>NMPC</a:t>
            </a:r>
            <a:endParaRPr sz="1800">
              <a:latin typeface="Calibri"/>
              <a:cs typeface="Calibri"/>
            </a:endParaRPr>
          </a:p>
          <a:p>
            <a:pPr marL="12700" marR="34335">
              <a:lnSpc>
                <a:spcPct val="101725"/>
              </a:lnSpc>
              <a:spcBef>
                <a:spcPts val="853"/>
              </a:spcBef>
            </a:pPr>
            <a:r>
              <a:rPr sz="1800" spc="0" dirty="0">
                <a:latin typeface="Calibri"/>
                <a:cs typeface="Calibri"/>
              </a:rPr>
              <a:t>Salida del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60"/>
              </a:lnSpc>
              <a:spcBef>
                <a:spcPts val="108"/>
              </a:spcBef>
            </a:pPr>
            <a:r>
              <a:rPr sz="1800" spc="-6" dirty="0">
                <a:latin typeface="Calibri"/>
                <a:cs typeface="Calibri"/>
              </a:rPr>
              <a:t>sistema real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56731471-C776-4AAD-904A-4BB6A5C45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919111"/>
            <a:ext cx="8534400" cy="5242151"/>
          </a:xfrm>
          <a:prstGeom prst="rect">
            <a:avLst/>
          </a:prstGeom>
        </p:spPr>
      </p:pic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9EA52B3B-7E9F-4DC6-8197-8252AD9883B5}"/>
              </a:ext>
            </a:extLst>
          </p:cNvPr>
          <p:cNvCxnSpPr/>
          <p:nvPr/>
        </p:nvCxnSpPr>
        <p:spPr>
          <a:xfrm>
            <a:off x="10134600" y="2209800"/>
            <a:ext cx="52527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0F8764F6-0751-4D25-80BF-715939E690B4}"/>
              </a:ext>
            </a:extLst>
          </p:cNvPr>
          <p:cNvCxnSpPr/>
          <p:nvPr/>
        </p:nvCxnSpPr>
        <p:spPr>
          <a:xfrm>
            <a:off x="10134600" y="2895600"/>
            <a:ext cx="52527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/>
          <p:nvPr/>
        </p:nvSpPr>
        <p:spPr>
          <a:xfrm>
            <a:off x="3048" y="6400799"/>
            <a:ext cx="12188952" cy="457199"/>
          </a:xfrm>
          <a:custGeom>
            <a:avLst/>
            <a:gdLst/>
            <a:ahLst/>
            <a:cxnLst/>
            <a:rect l="l" t="t" r="r" b="b"/>
            <a:pathLst>
              <a:path w="12188952" h="457199">
                <a:moveTo>
                  <a:pt x="12188952" y="457199"/>
                </a:moveTo>
                <a:lnTo>
                  <a:pt x="12188952" y="0"/>
                </a:ln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close/>
              </a:path>
            </a:pathLst>
          </a:custGeom>
          <a:solidFill>
            <a:srgbClr val="009DD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0" y="6333744"/>
            <a:ext cx="12188952" cy="64007"/>
          </a:xfrm>
          <a:custGeom>
            <a:avLst/>
            <a:gdLst/>
            <a:ahLst/>
            <a:cxnLst/>
            <a:rect l="l" t="t" r="r" b="b"/>
            <a:pathLst>
              <a:path w="12188952" h="64008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89915" y="417601"/>
            <a:ext cx="2082851" cy="254304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b="1" spc="0" dirty="0">
                <a:latin typeface="Calibri"/>
                <a:cs typeface="Calibri"/>
              </a:rPr>
              <a:t>N2=15</a:t>
            </a:r>
            <a:r>
              <a:rPr sz="1800" spc="0" dirty="0">
                <a:latin typeface="Calibri"/>
                <a:cs typeface="Calibri"/>
              </a:rPr>
              <a:t>, Nu=2, β =0,05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528810" y="1348716"/>
            <a:ext cx="265359" cy="254304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dirty="0">
                <a:latin typeface="Calibri"/>
                <a:cs typeface="Calibri"/>
              </a:rPr>
              <a:t>La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126472" y="1348716"/>
            <a:ext cx="964368" cy="254304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spc="-7" dirty="0">
                <a:latin typeface="Calibri"/>
                <a:cs typeface="Calibri"/>
              </a:rPr>
              <a:t>respuesta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23396" y="1348716"/>
            <a:ext cx="347088" cy="254304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dirty="0">
                <a:latin typeface="Calibri"/>
                <a:cs typeface="Calibri"/>
              </a:rPr>
              <a:t>del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28810" y="1623519"/>
            <a:ext cx="2242782" cy="1351356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 marR="1992">
              <a:lnSpc>
                <a:spcPts val="1900"/>
              </a:lnSpc>
            </a:pPr>
            <a:r>
              <a:rPr sz="1800" spc="6" dirty="0">
                <a:latin typeface="Calibri"/>
                <a:cs typeface="Calibri"/>
              </a:rPr>
              <a:t>Sistema de Control que</a:t>
            </a:r>
            <a:endParaRPr sz="1800">
              <a:latin typeface="Calibri"/>
              <a:cs typeface="Calibri"/>
            </a:endParaRPr>
          </a:p>
          <a:p>
            <a:pPr marL="12700" marR="3100">
              <a:lnSpc>
                <a:spcPts val="2160"/>
              </a:lnSpc>
              <a:spcBef>
                <a:spcPts val="13"/>
              </a:spcBef>
            </a:pPr>
            <a:r>
              <a:rPr sz="1800" spc="12" dirty="0">
                <a:latin typeface="Calibri"/>
                <a:cs typeface="Calibri"/>
              </a:rPr>
              <a:t>más  se  aproxima  a  la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60"/>
              </a:lnSpc>
            </a:pPr>
            <a:r>
              <a:rPr sz="1800" spc="22" dirty="0">
                <a:latin typeface="Calibri"/>
                <a:cs typeface="Calibri"/>
              </a:rPr>
              <a:t>respuesta  del  sistema</a:t>
            </a:r>
            <a:endParaRPr sz="1800">
              <a:latin typeface="Calibri"/>
              <a:cs typeface="Calibri"/>
            </a:endParaRPr>
          </a:p>
          <a:p>
            <a:pPr marL="12700" marR="2436">
              <a:lnSpc>
                <a:spcPts val="2160"/>
              </a:lnSpc>
            </a:pPr>
            <a:r>
              <a:rPr sz="1800" spc="22" dirty="0">
                <a:latin typeface="Calibri"/>
                <a:cs typeface="Calibri"/>
              </a:rPr>
              <a:t>real se obtiene cuando</a:t>
            </a:r>
            <a:endParaRPr sz="1800">
              <a:latin typeface="Calibri"/>
              <a:cs typeface="Calibri"/>
            </a:endParaRPr>
          </a:p>
          <a:p>
            <a:pPr marL="12700" marR="2366">
              <a:lnSpc>
                <a:spcPts val="2160"/>
              </a:lnSpc>
            </a:pPr>
            <a:r>
              <a:rPr sz="1800" spc="16" dirty="0">
                <a:latin typeface="Calibri"/>
                <a:cs typeface="Calibri"/>
              </a:rPr>
              <a:t>se emplea el Horizonte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28810" y="2995499"/>
            <a:ext cx="1865670" cy="52832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spc="23" dirty="0">
                <a:latin typeface="Calibri"/>
                <a:cs typeface="Calibri"/>
              </a:rPr>
              <a:t>de  Predicción  con</a:t>
            </a:r>
            <a:endParaRPr sz="1800">
              <a:latin typeface="Calibri"/>
              <a:cs typeface="Calibri"/>
            </a:endParaRPr>
          </a:p>
          <a:p>
            <a:pPr marL="12700" marR="34290">
              <a:lnSpc>
                <a:spcPts val="2160"/>
              </a:lnSpc>
              <a:spcBef>
                <a:spcPts val="13"/>
              </a:spcBef>
            </a:pPr>
            <a:r>
              <a:rPr sz="1800" spc="0" dirty="0">
                <a:latin typeface="Calibri"/>
                <a:cs typeface="Calibri"/>
              </a:rPr>
              <a:t>valor de 15.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69116" y="2995499"/>
            <a:ext cx="300660" cy="25400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spc="4" dirty="0">
                <a:latin typeface="Calibri"/>
                <a:cs typeface="Calibri"/>
              </a:rPr>
              <a:t>un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08768" y="4179951"/>
            <a:ext cx="1166709" cy="1203833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 marR="29157">
              <a:lnSpc>
                <a:spcPts val="1900"/>
              </a:lnSpc>
            </a:pPr>
            <a:r>
              <a:rPr sz="1800" spc="0" dirty="0">
                <a:latin typeface="Calibri"/>
                <a:cs typeface="Calibri"/>
              </a:rPr>
              <a:t>Salida del</a:t>
            </a:r>
            <a:endParaRPr sz="1800">
              <a:latin typeface="Calibri"/>
              <a:cs typeface="Calibri"/>
            </a:endParaRPr>
          </a:p>
          <a:p>
            <a:pPr marL="12700" marR="29157">
              <a:lnSpc>
                <a:spcPts val="2160"/>
              </a:lnSpc>
              <a:spcBef>
                <a:spcPts val="13"/>
              </a:spcBef>
            </a:pPr>
            <a:r>
              <a:rPr sz="1800" spc="-1" dirty="0">
                <a:latin typeface="Calibri"/>
                <a:cs typeface="Calibri"/>
              </a:rPr>
              <a:t>NMPC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60"/>
              </a:lnSpc>
              <a:spcBef>
                <a:spcPts val="981"/>
              </a:spcBef>
            </a:pPr>
            <a:r>
              <a:rPr sz="1800" spc="-2" dirty="0">
                <a:latin typeface="Calibri"/>
                <a:cs typeface="Calibri"/>
              </a:rPr>
              <a:t>Salida del sistema real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FD529DDD-C95A-456A-A49B-309AE30AB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094119"/>
            <a:ext cx="8820925" cy="4859399"/>
          </a:xfrm>
          <a:prstGeom prst="rect">
            <a:avLst/>
          </a:prstGeom>
        </p:spPr>
      </p:pic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4A85CE68-9696-4C55-9F47-C7B8F82C949A}"/>
              </a:ext>
            </a:extLst>
          </p:cNvPr>
          <p:cNvCxnSpPr/>
          <p:nvPr/>
        </p:nvCxnSpPr>
        <p:spPr>
          <a:xfrm>
            <a:off x="9601200" y="4419600"/>
            <a:ext cx="52527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9DFE81D0-A135-4DBC-BF87-1BA2EC28F2A3}"/>
              </a:ext>
            </a:extLst>
          </p:cNvPr>
          <p:cNvCxnSpPr/>
          <p:nvPr/>
        </p:nvCxnSpPr>
        <p:spPr>
          <a:xfrm>
            <a:off x="9601200" y="5105400"/>
            <a:ext cx="52527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3048" y="6400799"/>
            <a:ext cx="12188952" cy="457199"/>
          </a:xfrm>
          <a:custGeom>
            <a:avLst/>
            <a:gdLst/>
            <a:ahLst/>
            <a:cxnLst/>
            <a:rect l="l" t="t" r="r" b="b"/>
            <a:pathLst>
              <a:path w="12188952" h="457199">
                <a:moveTo>
                  <a:pt x="12188952" y="457199"/>
                </a:moveTo>
                <a:lnTo>
                  <a:pt x="12188952" y="0"/>
                </a:ln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close/>
              </a:path>
            </a:pathLst>
          </a:custGeom>
          <a:solidFill>
            <a:srgbClr val="009DD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0" y="6333744"/>
            <a:ext cx="12188952" cy="64007"/>
          </a:xfrm>
          <a:custGeom>
            <a:avLst/>
            <a:gdLst/>
            <a:ahLst/>
            <a:cxnLst/>
            <a:rect l="l" t="t" r="r" b="b"/>
            <a:pathLst>
              <a:path w="12188952" h="64008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20674" y="691896"/>
            <a:ext cx="2201204" cy="25400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spc="1" dirty="0">
                <a:latin typeface="Calibri"/>
                <a:cs typeface="Calibri"/>
              </a:rPr>
              <a:t>N2=15, </a:t>
            </a:r>
            <a:r>
              <a:rPr sz="1800" b="1" spc="1" dirty="0">
                <a:latin typeface="Calibri"/>
                <a:cs typeface="Calibri"/>
              </a:rPr>
              <a:t>Nu=10</a:t>
            </a:r>
            <a:r>
              <a:rPr sz="1800" spc="1" dirty="0">
                <a:latin typeface="Calibri"/>
                <a:cs typeface="Calibri"/>
              </a:rPr>
              <a:t>, β =0,05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10800" y="4421500"/>
            <a:ext cx="1171841" cy="1204087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 marR="34290">
              <a:lnSpc>
                <a:spcPts val="1900"/>
              </a:lnSpc>
            </a:pPr>
            <a:r>
              <a:rPr sz="1800" spc="0" dirty="0">
                <a:latin typeface="Calibri"/>
                <a:cs typeface="Calibri"/>
              </a:rPr>
              <a:t>Salida del</a:t>
            </a:r>
            <a:endParaRPr sz="1800">
              <a:latin typeface="Calibri"/>
              <a:cs typeface="Calibri"/>
            </a:endParaRPr>
          </a:p>
          <a:p>
            <a:pPr marL="12700" marR="34290">
              <a:lnSpc>
                <a:spcPts val="2160"/>
              </a:lnSpc>
              <a:spcBef>
                <a:spcPts val="13"/>
              </a:spcBef>
            </a:pPr>
            <a:r>
              <a:rPr sz="1800" spc="-1" dirty="0">
                <a:latin typeface="Calibri"/>
                <a:cs typeface="Calibri"/>
              </a:rPr>
              <a:t>NMPC</a:t>
            </a:r>
            <a:endParaRPr sz="1800">
              <a:latin typeface="Calibri"/>
              <a:cs typeface="Calibri"/>
            </a:endParaRPr>
          </a:p>
          <a:p>
            <a:pPr marL="12700" marR="34290">
              <a:lnSpc>
                <a:spcPct val="101725"/>
              </a:lnSpc>
              <a:spcBef>
                <a:spcPts val="853"/>
              </a:spcBef>
            </a:pPr>
            <a:r>
              <a:rPr sz="1800" dirty="0">
                <a:latin typeface="Calibri"/>
                <a:cs typeface="Calibri"/>
              </a:rPr>
              <a:t>Salida del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60"/>
              </a:lnSpc>
              <a:spcBef>
                <a:spcPts val="108"/>
              </a:spcBef>
            </a:pPr>
            <a:r>
              <a:rPr sz="1800" spc="-5" dirty="0">
                <a:latin typeface="Calibri"/>
                <a:cs typeface="Calibri"/>
              </a:rPr>
              <a:t>sistema real</a:t>
            </a:r>
            <a:endParaRPr sz="1800">
              <a:latin typeface="Calibri"/>
              <a:cs typeface="Calibri"/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E2FE282B-5CFA-408D-9728-A82A34A04641}"/>
              </a:ext>
            </a:extLst>
          </p:cNvPr>
          <p:cNvCxnSpPr/>
          <p:nvPr/>
        </p:nvCxnSpPr>
        <p:spPr>
          <a:xfrm>
            <a:off x="9609328" y="4679633"/>
            <a:ext cx="52527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C3DDD10B-3C40-48E2-AA9D-9C49D3A1A422}"/>
              </a:ext>
            </a:extLst>
          </p:cNvPr>
          <p:cNvCxnSpPr/>
          <p:nvPr/>
        </p:nvCxnSpPr>
        <p:spPr>
          <a:xfrm>
            <a:off x="9609328" y="5365433"/>
            <a:ext cx="52527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agen 13">
            <a:extLst>
              <a:ext uri="{FF2B5EF4-FFF2-40B4-BE49-F238E27FC236}">
                <a16:creationId xmlns:a16="http://schemas.microsoft.com/office/drawing/2014/main" id="{34A0F84F-DB11-4D5C-849A-6A4515B98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49" y="1215272"/>
            <a:ext cx="8351520" cy="4906245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65AE7D3B-3424-49A8-BF67-05D4D908B6C4}"/>
              </a:ext>
            </a:extLst>
          </p:cNvPr>
          <p:cNvSpPr txBox="1"/>
          <p:nvPr/>
        </p:nvSpPr>
        <p:spPr>
          <a:xfrm>
            <a:off x="457200" y="144111"/>
            <a:ext cx="6100762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ts val="2105"/>
              </a:lnSpc>
            </a:pPr>
            <a:r>
              <a:rPr lang="es-ES" sz="1800" b="1" spc="-7" dirty="0">
                <a:solidFill>
                  <a:srgbClr val="0A5294"/>
                </a:solidFill>
                <a:latin typeface="Calibri"/>
                <a:cs typeface="Calibri"/>
              </a:rPr>
              <a:t>Variación del Horizonte de control (Nu)</a:t>
            </a:r>
            <a:endParaRPr lang="es-ES"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/>
          <p:nvPr/>
        </p:nvSpPr>
        <p:spPr>
          <a:xfrm>
            <a:off x="3048" y="6400799"/>
            <a:ext cx="12188952" cy="457199"/>
          </a:xfrm>
          <a:custGeom>
            <a:avLst/>
            <a:gdLst/>
            <a:ahLst/>
            <a:cxnLst/>
            <a:rect l="l" t="t" r="r" b="b"/>
            <a:pathLst>
              <a:path w="12188952" h="457199">
                <a:moveTo>
                  <a:pt x="12188952" y="457199"/>
                </a:moveTo>
                <a:lnTo>
                  <a:pt x="12188952" y="0"/>
                </a:ln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close/>
              </a:path>
            </a:pathLst>
          </a:custGeom>
          <a:solidFill>
            <a:srgbClr val="009DD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0" y="6333744"/>
            <a:ext cx="12188952" cy="64007"/>
          </a:xfrm>
          <a:custGeom>
            <a:avLst/>
            <a:gdLst/>
            <a:ahLst/>
            <a:cxnLst/>
            <a:rect l="l" t="t" r="r" b="b"/>
            <a:pathLst>
              <a:path w="12188952" h="64008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89915" y="279273"/>
            <a:ext cx="4164710" cy="566927"/>
          </a:xfrm>
          <a:prstGeom prst="rect">
            <a:avLst/>
          </a:prstGeom>
        </p:spPr>
        <p:txBody>
          <a:bodyPr wrap="square" lIns="0" tIns="13366" rIns="0" bIns="0" rtlCol="0">
            <a:noAutofit/>
          </a:bodyPr>
          <a:lstStyle/>
          <a:p>
            <a:pPr marL="12700" marR="38176">
              <a:lnSpc>
                <a:spcPct val="101725"/>
              </a:lnSpc>
            </a:pPr>
            <a:r>
              <a:rPr sz="1800" spc="2" dirty="0">
                <a:latin typeface="Calibri"/>
                <a:cs typeface="Calibri"/>
              </a:rPr>
              <a:t>N2=15, </a:t>
            </a:r>
            <a:r>
              <a:rPr sz="1800" b="1" spc="2" dirty="0">
                <a:latin typeface="Calibri"/>
                <a:cs typeface="Calibri"/>
              </a:rPr>
              <a:t>Nu=2</a:t>
            </a:r>
            <a:r>
              <a:rPr sz="1800" spc="2" dirty="0">
                <a:latin typeface="Calibri"/>
                <a:cs typeface="Calibri"/>
              </a:rPr>
              <a:t>, β =0,05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28810" y="1207033"/>
            <a:ext cx="265359" cy="254304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dirty="0">
                <a:latin typeface="Calibri"/>
                <a:cs typeface="Calibri"/>
              </a:rPr>
              <a:t>La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26472" y="1207033"/>
            <a:ext cx="964368" cy="254304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spc="-7" dirty="0">
                <a:latin typeface="Calibri"/>
                <a:cs typeface="Calibri"/>
              </a:rPr>
              <a:t>respuesta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23396" y="1207033"/>
            <a:ext cx="347088" cy="254304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dirty="0">
                <a:latin typeface="Calibri"/>
                <a:cs typeface="Calibri"/>
              </a:rPr>
              <a:t>del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28810" y="1481836"/>
            <a:ext cx="2243334" cy="1900301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 marR="2544">
              <a:lnSpc>
                <a:spcPts val="1900"/>
              </a:lnSpc>
            </a:pPr>
            <a:r>
              <a:rPr sz="1800" spc="6" dirty="0">
                <a:latin typeface="Calibri"/>
                <a:cs typeface="Calibri"/>
              </a:rPr>
              <a:t>Sistema de Control que</a:t>
            </a:r>
            <a:endParaRPr sz="1800">
              <a:latin typeface="Calibri"/>
              <a:cs typeface="Calibri"/>
            </a:endParaRPr>
          </a:p>
          <a:p>
            <a:pPr marL="12700" marR="3652">
              <a:lnSpc>
                <a:spcPts val="2160"/>
              </a:lnSpc>
              <a:spcBef>
                <a:spcPts val="13"/>
              </a:spcBef>
            </a:pPr>
            <a:r>
              <a:rPr sz="1800" spc="12" dirty="0">
                <a:latin typeface="Calibri"/>
                <a:cs typeface="Calibri"/>
              </a:rPr>
              <a:t>más  se  aproxima  a  la</a:t>
            </a:r>
            <a:endParaRPr sz="1800">
              <a:latin typeface="Calibri"/>
              <a:cs typeface="Calibri"/>
            </a:endParaRPr>
          </a:p>
          <a:p>
            <a:pPr marL="12700" marR="552">
              <a:lnSpc>
                <a:spcPts val="2160"/>
              </a:lnSpc>
            </a:pPr>
            <a:r>
              <a:rPr sz="1800" spc="22" dirty="0">
                <a:latin typeface="Calibri"/>
                <a:cs typeface="Calibri"/>
              </a:rPr>
              <a:t>respuesta  del  sistema</a:t>
            </a:r>
            <a:endParaRPr sz="1800">
              <a:latin typeface="Calibri"/>
              <a:cs typeface="Calibri"/>
            </a:endParaRPr>
          </a:p>
          <a:p>
            <a:pPr marL="12700" marR="2988">
              <a:lnSpc>
                <a:spcPts val="2160"/>
              </a:lnSpc>
            </a:pPr>
            <a:r>
              <a:rPr sz="1800" spc="22" dirty="0">
                <a:latin typeface="Calibri"/>
                <a:cs typeface="Calibri"/>
              </a:rPr>
              <a:t>real se obtiene cuando</a:t>
            </a:r>
            <a:endParaRPr sz="1800">
              <a:latin typeface="Calibri"/>
              <a:cs typeface="Calibri"/>
            </a:endParaRPr>
          </a:p>
          <a:p>
            <a:pPr marL="12700" marR="2918">
              <a:lnSpc>
                <a:spcPts val="2160"/>
              </a:lnSpc>
            </a:pPr>
            <a:r>
              <a:rPr sz="1800" spc="16" dirty="0">
                <a:latin typeface="Calibri"/>
                <a:cs typeface="Calibri"/>
              </a:rPr>
              <a:t>se emplea el Horizonte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65"/>
              </a:lnSpc>
              <a:spcBef>
                <a:spcPts val="0"/>
              </a:spcBef>
            </a:pPr>
            <a:r>
              <a:rPr sz="1800" spc="2" dirty="0">
                <a:latin typeface="Calibri"/>
                <a:cs typeface="Calibri"/>
              </a:rPr>
              <a:t>de Control con un valor</a:t>
            </a:r>
            <a:endParaRPr sz="1800">
              <a:latin typeface="Calibri"/>
              <a:cs typeface="Calibri"/>
            </a:endParaRPr>
          </a:p>
          <a:p>
            <a:pPr marL="12700" marR="34290">
              <a:lnSpc>
                <a:spcPts val="2160"/>
              </a:lnSpc>
            </a:pPr>
            <a:r>
              <a:rPr sz="1800" spc="3" dirty="0">
                <a:latin typeface="Calibri"/>
                <a:cs typeface="Calibri"/>
              </a:rPr>
              <a:t>de 2.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457815" y="4294251"/>
            <a:ext cx="1166709" cy="1203833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 marR="29157">
              <a:lnSpc>
                <a:spcPts val="1900"/>
              </a:lnSpc>
            </a:pPr>
            <a:r>
              <a:rPr sz="1800" spc="0" dirty="0">
                <a:latin typeface="Calibri"/>
                <a:cs typeface="Calibri"/>
              </a:rPr>
              <a:t>Salida del</a:t>
            </a:r>
            <a:endParaRPr sz="1800">
              <a:latin typeface="Calibri"/>
              <a:cs typeface="Calibri"/>
            </a:endParaRPr>
          </a:p>
          <a:p>
            <a:pPr marL="12700" marR="29157">
              <a:lnSpc>
                <a:spcPts val="2160"/>
              </a:lnSpc>
              <a:spcBef>
                <a:spcPts val="13"/>
              </a:spcBef>
            </a:pPr>
            <a:r>
              <a:rPr sz="1800" spc="-1" dirty="0">
                <a:latin typeface="Calibri"/>
                <a:cs typeface="Calibri"/>
              </a:rPr>
              <a:t>NMPC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60"/>
              </a:lnSpc>
              <a:spcBef>
                <a:spcPts val="981"/>
              </a:spcBef>
            </a:pPr>
            <a:r>
              <a:rPr sz="1800" spc="-2" dirty="0">
                <a:latin typeface="Calibri"/>
                <a:cs typeface="Calibri"/>
              </a:rPr>
              <a:t>Salida del sistema real</a:t>
            </a:r>
            <a:endParaRPr sz="1800">
              <a:latin typeface="Calibri"/>
              <a:cs typeface="Calibri"/>
            </a:endParaRP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B1C0294-793A-4CE3-B6DB-B4B9F2D4D7DE}"/>
              </a:ext>
            </a:extLst>
          </p:cNvPr>
          <p:cNvCxnSpPr/>
          <p:nvPr/>
        </p:nvCxnSpPr>
        <p:spPr>
          <a:xfrm>
            <a:off x="9863836" y="4572000"/>
            <a:ext cx="52527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323AC4C4-8FB2-49F6-9E33-D2FFF503A00B}"/>
              </a:ext>
            </a:extLst>
          </p:cNvPr>
          <p:cNvCxnSpPr/>
          <p:nvPr/>
        </p:nvCxnSpPr>
        <p:spPr>
          <a:xfrm>
            <a:off x="9863836" y="5257800"/>
            <a:ext cx="52527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n 16">
            <a:extLst>
              <a:ext uri="{FF2B5EF4-FFF2-40B4-BE49-F238E27FC236}">
                <a16:creationId xmlns:a16="http://schemas.microsoft.com/office/drawing/2014/main" id="{ED692D17-B2DC-4834-832D-C85DCEBD5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094119"/>
            <a:ext cx="8820925" cy="485939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/>
          <p:nvPr/>
        </p:nvSpPr>
        <p:spPr>
          <a:xfrm>
            <a:off x="3048" y="6400799"/>
            <a:ext cx="12188952" cy="457199"/>
          </a:xfrm>
          <a:custGeom>
            <a:avLst/>
            <a:gdLst/>
            <a:ahLst/>
            <a:cxnLst/>
            <a:rect l="l" t="t" r="r" b="b"/>
            <a:pathLst>
              <a:path w="12188952" h="457199">
                <a:moveTo>
                  <a:pt x="12188952" y="457199"/>
                </a:moveTo>
                <a:lnTo>
                  <a:pt x="12188952" y="0"/>
                </a:ln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close/>
              </a:path>
            </a:pathLst>
          </a:custGeom>
          <a:solidFill>
            <a:srgbClr val="009DD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6333744"/>
            <a:ext cx="12188952" cy="64007"/>
          </a:xfrm>
          <a:custGeom>
            <a:avLst/>
            <a:gdLst/>
            <a:ahLst/>
            <a:cxnLst/>
            <a:rect l="l" t="t" r="r" b="b"/>
            <a:pathLst>
              <a:path w="12188952" h="64008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89915" y="296545"/>
            <a:ext cx="4566068" cy="549655"/>
          </a:xfrm>
          <a:prstGeom prst="rect">
            <a:avLst/>
          </a:prstGeom>
        </p:spPr>
        <p:txBody>
          <a:bodyPr wrap="square" lIns="0" tIns="13366" rIns="0" bIns="0" rtlCol="0">
            <a:noAutofit/>
          </a:bodyPr>
          <a:lstStyle/>
          <a:p>
            <a:pPr marL="12700">
              <a:lnSpc>
                <a:spcPts val="2105"/>
              </a:lnSpc>
            </a:pPr>
            <a:r>
              <a:rPr sz="2000" b="1" spc="-6" dirty="0">
                <a:solidFill>
                  <a:srgbClr val="0A5294"/>
                </a:solidFill>
                <a:latin typeface="Calibri"/>
                <a:cs typeface="Calibri"/>
              </a:rPr>
              <a:t>Variación del Factor de peso del control (β)</a:t>
            </a:r>
            <a:endParaRPr sz="2000">
              <a:latin typeface="Calibri"/>
              <a:cs typeface="Calibri"/>
            </a:endParaRPr>
          </a:p>
          <a:p>
            <a:pPr marL="12700" marR="38176">
              <a:lnSpc>
                <a:spcPts val="2125"/>
              </a:lnSpc>
              <a:spcBef>
                <a:spcPts val="1"/>
              </a:spcBef>
            </a:pPr>
            <a:r>
              <a:rPr sz="1800" spc="1" dirty="0">
                <a:latin typeface="Calibri"/>
                <a:cs typeface="Calibri"/>
              </a:rPr>
              <a:t>N2=15, Nu=2, </a:t>
            </a:r>
            <a:r>
              <a:rPr sz="1800" b="1" spc="1" dirty="0">
                <a:latin typeface="Calibri"/>
                <a:cs typeface="Calibri"/>
              </a:rPr>
              <a:t>β =0,05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428859" y="4662424"/>
            <a:ext cx="1166709" cy="1204112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 marR="29157">
              <a:lnSpc>
                <a:spcPts val="1900"/>
              </a:lnSpc>
            </a:pPr>
            <a:r>
              <a:rPr sz="1800" spc="0" dirty="0">
                <a:latin typeface="Calibri"/>
                <a:cs typeface="Calibri"/>
              </a:rPr>
              <a:t>Salida del</a:t>
            </a:r>
            <a:endParaRPr sz="1800">
              <a:latin typeface="Calibri"/>
              <a:cs typeface="Calibri"/>
            </a:endParaRPr>
          </a:p>
          <a:p>
            <a:pPr marL="12700" marR="29157">
              <a:lnSpc>
                <a:spcPts val="2160"/>
              </a:lnSpc>
              <a:spcBef>
                <a:spcPts val="13"/>
              </a:spcBef>
            </a:pPr>
            <a:r>
              <a:rPr sz="1800" spc="-2" dirty="0">
                <a:latin typeface="Calibri"/>
                <a:cs typeface="Calibri"/>
              </a:rPr>
              <a:t>NMPC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60"/>
              </a:lnSpc>
              <a:spcBef>
                <a:spcPts val="982"/>
              </a:spcBef>
            </a:pPr>
            <a:r>
              <a:rPr sz="1800" spc="-2" dirty="0">
                <a:latin typeface="Calibri"/>
                <a:cs typeface="Calibri"/>
              </a:rPr>
              <a:t>Salida del sistema real</a:t>
            </a:r>
            <a:endParaRPr sz="1800">
              <a:latin typeface="Calibri"/>
              <a:cs typeface="Calibri"/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3E2F4E0F-E17B-4017-B343-ACA6D35BB62C}"/>
              </a:ext>
            </a:extLst>
          </p:cNvPr>
          <p:cNvCxnSpPr/>
          <p:nvPr/>
        </p:nvCxnSpPr>
        <p:spPr>
          <a:xfrm>
            <a:off x="9753600" y="4876800"/>
            <a:ext cx="52527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438CDBF-FFE8-49E5-AF41-67F33611D6EF}"/>
              </a:ext>
            </a:extLst>
          </p:cNvPr>
          <p:cNvCxnSpPr/>
          <p:nvPr/>
        </p:nvCxnSpPr>
        <p:spPr>
          <a:xfrm>
            <a:off x="9753600" y="5562600"/>
            <a:ext cx="52527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Imagen 12">
            <a:extLst>
              <a:ext uri="{FF2B5EF4-FFF2-40B4-BE49-F238E27FC236}">
                <a16:creationId xmlns:a16="http://schemas.microsoft.com/office/drawing/2014/main" id="{72A6C814-EBF0-4413-908A-55D0FC303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094119"/>
            <a:ext cx="8820925" cy="485939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3048" y="6400799"/>
            <a:ext cx="12188952" cy="457199"/>
          </a:xfrm>
          <a:custGeom>
            <a:avLst/>
            <a:gdLst/>
            <a:ahLst/>
            <a:cxnLst/>
            <a:rect l="l" t="t" r="r" b="b"/>
            <a:pathLst>
              <a:path w="12188952" h="457199">
                <a:moveTo>
                  <a:pt x="12188952" y="457199"/>
                </a:moveTo>
                <a:lnTo>
                  <a:pt x="12188952" y="0"/>
                </a:ln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close/>
              </a:path>
            </a:pathLst>
          </a:custGeom>
          <a:solidFill>
            <a:srgbClr val="009DD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0" y="6333744"/>
            <a:ext cx="12188952" cy="64007"/>
          </a:xfrm>
          <a:custGeom>
            <a:avLst/>
            <a:gdLst/>
            <a:ahLst/>
            <a:cxnLst/>
            <a:rect l="l" t="t" r="r" b="b"/>
            <a:pathLst>
              <a:path w="12188952" h="64008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04800" y="497943"/>
            <a:ext cx="1913316" cy="254304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spc="1" dirty="0">
                <a:latin typeface="Calibri"/>
                <a:cs typeface="Calibri"/>
              </a:rPr>
              <a:t>N2=15, Nu=2</a:t>
            </a:r>
            <a:r>
              <a:rPr sz="1800" b="1" spc="1" dirty="0">
                <a:latin typeface="Calibri"/>
                <a:cs typeface="Calibri"/>
              </a:rPr>
              <a:t>, β =10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35386" y="4408551"/>
            <a:ext cx="1166709" cy="1203833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 marR="29157">
              <a:lnSpc>
                <a:spcPts val="1900"/>
              </a:lnSpc>
            </a:pPr>
            <a:r>
              <a:rPr sz="1800" spc="0" dirty="0">
                <a:latin typeface="Calibri"/>
                <a:cs typeface="Calibri"/>
              </a:rPr>
              <a:t>Salida del</a:t>
            </a:r>
            <a:endParaRPr sz="1800">
              <a:latin typeface="Calibri"/>
              <a:cs typeface="Calibri"/>
            </a:endParaRPr>
          </a:p>
          <a:p>
            <a:pPr marL="12700" marR="29157">
              <a:lnSpc>
                <a:spcPts val="2160"/>
              </a:lnSpc>
              <a:spcBef>
                <a:spcPts val="13"/>
              </a:spcBef>
            </a:pPr>
            <a:r>
              <a:rPr sz="1800" spc="-1" dirty="0">
                <a:latin typeface="Calibri"/>
                <a:cs typeface="Calibri"/>
              </a:rPr>
              <a:t>NMPC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60"/>
              </a:lnSpc>
              <a:spcBef>
                <a:spcPts val="981"/>
              </a:spcBef>
            </a:pPr>
            <a:r>
              <a:rPr sz="1800" spc="-2" dirty="0">
                <a:latin typeface="Calibri"/>
                <a:cs typeface="Calibri"/>
              </a:rPr>
              <a:t>Salida del sistema real</a:t>
            </a:r>
            <a:endParaRPr sz="1800">
              <a:latin typeface="Calibri"/>
              <a:cs typeface="Calibri"/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D66B2008-03FD-410F-A9BC-22AD17D0CC5B}"/>
              </a:ext>
            </a:extLst>
          </p:cNvPr>
          <p:cNvCxnSpPr/>
          <p:nvPr/>
        </p:nvCxnSpPr>
        <p:spPr>
          <a:xfrm>
            <a:off x="10210800" y="4724400"/>
            <a:ext cx="52527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9A7D456E-BA3F-4ABA-82B0-2FA858D5AF66}"/>
              </a:ext>
            </a:extLst>
          </p:cNvPr>
          <p:cNvCxnSpPr/>
          <p:nvPr/>
        </p:nvCxnSpPr>
        <p:spPr>
          <a:xfrm>
            <a:off x="10210800" y="5410200"/>
            <a:ext cx="52527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agen 13">
            <a:extLst>
              <a:ext uri="{FF2B5EF4-FFF2-40B4-BE49-F238E27FC236}">
                <a16:creationId xmlns:a16="http://schemas.microsoft.com/office/drawing/2014/main" id="{F1029C68-8FC8-4E16-A3DF-277112628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18290"/>
            <a:ext cx="8889177" cy="524941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/>
          <p:nvPr/>
        </p:nvSpPr>
        <p:spPr>
          <a:xfrm>
            <a:off x="3048" y="6400799"/>
            <a:ext cx="12188952" cy="457199"/>
          </a:xfrm>
          <a:custGeom>
            <a:avLst/>
            <a:gdLst/>
            <a:ahLst/>
            <a:cxnLst/>
            <a:rect l="l" t="t" r="r" b="b"/>
            <a:pathLst>
              <a:path w="12188952" h="457199">
                <a:moveTo>
                  <a:pt x="12188952" y="457199"/>
                </a:moveTo>
                <a:lnTo>
                  <a:pt x="12188952" y="0"/>
                </a:ln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close/>
              </a:path>
            </a:pathLst>
          </a:custGeom>
          <a:solidFill>
            <a:srgbClr val="009DD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0" y="6333744"/>
            <a:ext cx="12188952" cy="64007"/>
          </a:xfrm>
          <a:custGeom>
            <a:avLst/>
            <a:gdLst/>
            <a:ahLst/>
            <a:cxnLst/>
            <a:rect l="l" t="t" r="r" b="b"/>
            <a:pathLst>
              <a:path w="12188952" h="64008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33400" y="609600"/>
            <a:ext cx="2438400" cy="22860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spc="2" dirty="0">
                <a:latin typeface="Calibri"/>
                <a:cs typeface="Calibri"/>
              </a:rPr>
              <a:t>N2=15, Nu=2, </a:t>
            </a:r>
            <a:r>
              <a:rPr sz="1800" b="1" spc="2" dirty="0">
                <a:latin typeface="Calibri"/>
                <a:cs typeface="Calibri"/>
              </a:rPr>
              <a:t>β =0,</a:t>
            </a:r>
            <a:r>
              <a:rPr lang="es-ES" sz="1800" b="1" spc="2" dirty="0">
                <a:latin typeface="Calibri"/>
                <a:cs typeface="Calibri"/>
              </a:rPr>
              <a:t>075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558020" y="1486789"/>
            <a:ext cx="265296" cy="25400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dirty="0">
                <a:latin typeface="Calibri"/>
                <a:cs typeface="Calibri"/>
              </a:rPr>
              <a:t>La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155428" y="1486789"/>
            <a:ext cx="964032" cy="25400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spc="-7" dirty="0">
                <a:latin typeface="Calibri"/>
                <a:cs typeface="Calibri"/>
              </a:rPr>
              <a:t>respuesta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52352" y="1486789"/>
            <a:ext cx="347141" cy="25400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spc="4" dirty="0">
                <a:latin typeface="Calibri"/>
                <a:cs typeface="Calibri"/>
              </a:rPr>
              <a:t>del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58020" y="1760880"/>
            <a:ext cx="2242579" cy="1351762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 marR="2006">
              <a:lnSpc>
                <a:spcPts val="1900"/>
              </a:lnSpc>
            </a:pPr>
            <a:r>
              <a:rPr sz="1800" spc="4" dirty="0">
                <a:latin typeface="Calibri"/>
                <a:cs typeface="Calibri"/>
              </a:rPr>
              <a:t>Sistema de Control que</a:t>
            </a:r>
            <a:endParaRPr sz="1800">
              <a:latin typeface="Calibri"/>
              <a:cs typeface="Calibri"/>
            </a:endParaRPr>
          </a:p>
          <a:p>
            <a:pPr marL="12700" marR="3151">
              <a:lnSpc>
                <a:spcPts val="2160"/>
              </a:lnSpc>
              <a:spcBef>
                <a:spcPts val="13"/>
              </a:spcBef>
            </a:pPr>
            <a:r>
              <a:rPr sz="1800" spc="12" dirty="0">
                <a:latin typeface="Calibri"/>
                <a:cs typeface="Calibri"/>
              </a:rPr>
              <a:t>más  se  aproxima  a  la</a:t>
            </a:r>
            <a:endParaRPr sz="1800">
              <a:latin typeface="Calibri"/>
              <a:cs typeface="Calibri"/>
            </a:endParaRPr>
          </a:p>
          <a:p>
            <a:pPr marL="12700" marR="51">
              <a:lnSpc>
                <a:spcPts val="2160"/>
              </a:lnSpc>
            </a:pPr>
            <a:r>
              <a:rPr sz="1800" spc="22" dirty="0">
                <a:latin typeface="Calibri"/>
                <a:cs typeface="Calibri"/>
              </a:rPr>
              <a:t>respuesta  del  sistema</a:t>
            </a:r>
            <a:endParaRPr sz="1800">
              <a:latin typeface="Calibri"/>
              <a:cs typeface="Calibri"/>
            </a:endParaRPr>
          </a:p>
          <a:p>
            <a:pPr marL="12700" marR="2487">
              <a:lnSpc>
                <a:spcPts val="2160"/>
              </a:lnSpc>
            </a:pPr>
            <a:r>
              <a:rPr sz="1800" spc="22" dirty="0">
                <a:latin typeface="Calibri"/>
                <a:cs typeface="Calibri"/>
              </a:rPr>
              <a:t>real se obtiene cuando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60"/>
              </a:lnSpc>
            </a:pPr>
            <a:r>
              <a:rPr sz="1800" spc="33" dirty="0">
                <a:latin typeface="Calibri"/>
                <a:cs typeface="Calibri"/>
              </a:rPr>
              <a:t>se emplea el Factor 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58020" y="3132734"/>
            <a:ext cx="1761474" cy="528929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spc="31" dirty="0">
                <a:latin typeface="Calibri"/>
                <a:cs typeface="Calibri"/>
              </a:rPr>
              <a:t>Peso  del  Control</a:t>
            </a:r>
            <a:endParaRPr sz="1800" dirty="0">
              <a:latin typeface="Calibri"/>
              <a:cs typeface="Calibri"/>
            </a:endParaRPr>
          </a:p>
          <a:p>
            <a:pPr marL="12700" marR="34335">
              <a:lnSpc>
                <a:spcPts val="2165"/>
              </a:lnSpc>
              <a:spcBef>
                <a:spcPts val="13"/>
              </a:spcBef>
            </a:pPr>
            <a:r>
              <a:rPr sz="1800" spc="0" dirty="0">
                <a:latin typeface="Calibri"/>
                <a:cs typeface="Calibri"/>
              </a:rPr>
              <a:t>un valor de 0,</a:t>
            </a:r>
            <a:r>
              <a:rPr lang="es-ES" sz="1800" spc="0" dirty="0">
                <a:latin typeface="Calibri"/>
                <a:cs typeface="Calibri"/>
              </a:rPr>
              <a:t>075</a:t>
            </a:r>
            <a:r>
              <a:rPr sz="1800" spc="0" dirty="0">
                <a:latin typeface="Calibri"/>
                <a:cs typeface="Calibri"/>
              </a:rPr>
              <a:t>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03584" y="3132734"/>
            <a:ext cx="396315" cy="254304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spc="-3" dirty="0">
                <a:latin typeface="Calibri"/>
                <a:cs typeface="Calibri"/>
              </a:rPr>
              <a:t>con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06406" y="4329049"/>
            <a:ext cx="1166709" cy="1203706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 marR="29157">
              <a:lnSpc>
                <a:spcPts val="1900"/>
              </a:lnSpc>
            </a:pPr>
            <a:r>
              <a:rPr sz="1800" spc="0" dirty="0">
                <a:latin typeface="Calibri"/>
                <a:cs typeface="Calibri"/>
              </a:rPr>
              <a:t>Salida del</a:t>
            </a:r>
            <a:endParaRPr sz="1800">
              <a:latin typeface="Calibri"/>
              <a:cs typeface="Calibri"/>
            </a:endParaRPr>
          </a:p>
          <a:p>
            <a:pPr marL="12700" marR="29157">
              <a:lnSpc>
                <a:spcPts val="2160"/>
              </a:lnSpc>
              <a:spcBef>
                <a:spcPts val="13"/>
              </a:spcBef>
            </a:pPr>
            <a:r>
              <a:rPr sz="1800" spc="-1" dirty="0">
                <a:latin typeface="Calibri"/>
                <a:cs typeface="Calibri"/>
              </a:rPr>
              <a:t>NMPC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60"/>
              </a:lnSpc>
              <a:spcBef>
                <a:spcPts val="980"/>
              </a:spcBef>
            </a:pPr>
            <a:r>
              <a:rPr sz="1800" spc="-2" dirty="0">
                <a:latin typeface="Calibri"/>
                <a:cs typeface="Calibri"/>
              </a:rPr>
              <a:t>Salida del sistema real</a:t>
            </a:r>
            <a:endParaRPr sz="1800">
              <a:latin typeface="Calibri"/>
              <a:cs typeface="Calibri"/>
            </a:endParaRP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8D6BF2F9-ED8B-499E-9D42-98DEDD65A501}"/>
              </a:ext>
            </a:extLst>
          </p:cNvPr>
          <p:cNvCxnSpPr/>
          <p:nvPr/>
        </p:nvCxnSpPr>
        <p:spPr>
          <a:xfrm>
            <a:off x="9558020" y="4572000"/>
            <a:ext cx="52527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827C97EF-BB93-4E11-806E-FC01B9360FE4}"/>
              </a:ext>
            </a:extLst>
          </p:cNvPr>
          <p:cNvCxnSpPr/>
          <p:nvPr/>
        </p:nvCxnSpPr>
        <p:spPr>
          <a:xfrm>
            <a:off x="9558020" y="5257800"/>
            <a:ext cx="52527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Imagen 21">
            <a:extLst>
              <a:ext uri="{FF2B5EF4-FFF2-40B4-BE49-F238E27FC236}">
                <a16:creationId xmlns:a16="http://schemas.microsoft.com/office/drawing/2014/main" id="{40B30C33-4D61-49F5-8A63-D19507D21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00" y="1066343"/>
            <a:ext cx="8859947" cy="512788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3048" y="6400799"/>
            <a:ext cx="12188952" cy="457199"/>
          </a:xfrm>
          <a:custGeom>
            <a:avLst/>
            <a:gdLst/>
            <a:ahLst/>
            <a:cxnLst/>
            <a:rect l="l" t="t" r="r" b="b"/>
            <a:pathLst>
              <a:path w="12188952" h="457199">
                <a:moveTo>
                  <a:pt x="12188952" y="457199"/>
                </a:moveTo>
                <a:lnTo>
                  <a:pt x="12188952" y="0"/>
                </a:ln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close/>
              </a:path>
            </a:pathLst>
          </a:custGeom>
          <a:solidFill>
            <a:srgbClr val="009DD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6333744"/>
            <a:ext cx="12188952" cy="64007"/>
          </a:xfrm>
          <a:custGeom>
            <a:avLst/>
            <a:gdLst/>
            <a:ahLst/>
            <a:cxnLst/>
            <a:rect l="l" t="t" r="r" b="b"/>
            <a:pathLst>
              <a:path w="12188952" h="64008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043621" y="624142"/>
            <a:ext cx="8101709" cy="1031722"/>
          </a:xfrm>
          <a:prstGeom prst="rect">
            <a:avLst/>
          </a:prstGeom>
        </p:spPr>
        <p:txBody>
          <a:bodyPr wrap="square" lIns="0" tIns="23495" rIns="0" bIns="0" rtlCol="0">
            <a:noAutofit/>
          </a:bodyPr>
          <a:lstStyle/>
          <a:p>
            <a:pPr algn="ctr">
              <a:lnSpc>
                <a:spcPts val="3700"/>
              </a:lnSpc>
            </a:pPr>
            <a:r>
              <a:rPr sz="3600" spc="-4" dirty="0">
                <a:solidFill>
                  <a:srgbClr val="0E6EC5"/>
                </a:solidFill>
                <a:latin typeface="Calibri"/>
                <a:cs typeface="Calibri"/>
              </a:rPr>
              <a:t>Paso 3. Estudiar la influencia del modelo de</a:t>
            </a:r>
            <a:endParaRPr sz="3600" dirty="0">
              <a:latin typeface="Calibri"/>
              <a:cs typeface="Calibri"/>
            </a:endParaRPr>
          </a:p>
          <a:p>
            <a:pPr marL="761238" marR="786787" algn="ctr">
              <a:lnSpc>
                <a:spcPts val="4320"/>
              </a:lnSpc>
              <a:spcBef>
                <a:spcPts val="31"/>
              </a:spcBef>
            </a:pPr>
            <a:r>
              <a:rPr sz="3600" spc="-4" dirty="0">
                <a:solidFill>
                  <a:srgbClr val="0E6EC5"/>
                </a:solidFill>
                <a:latin typeface="Calibri"/>
                <a:cs typeface="Calibri"/>
              </a:rPr>
              <a:t>predicción en la calidad del control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12495" y="2144674"/>
            <a:ext cx="11288736" cy="3024047"/>
          </a:xfrm>
          <a:prstGeom prst="rect">
            <a:avLst/>
          </a:prstGeom>
        </p:spPr>
        <p:txBody>
          <a:bodyPr wrap="square" lIns="0" tIns="13366" rIns="0" bIns="0" rtlCol="0">
            <a:noAutofit/>
          </a:bodyPr>
          <a:lstStyle/>
          <a:p>
            <a:pPr marL="12700" marR="12161" algn="just">
              <a:lnSpc>
                <a:spcPct val="150000"/>
              </a:lnSpc>
            </a:pPr>
            <a:r>
              <a:rPr sz="2000" spc="-3" dirty="0">
                <a:latin typeface="Calibri"/>
                <a:cs typeface="Calibri"/>
              </a:rPr>
              <a:t>El Control Neuronal Predictivo utiliza un modelo en línea para predecir el futuro comportamiento de la </a:t>
            </a:r>
            <a:r>
              <a:rPr sz="2000" spc="-3" dirty="0" err="1">
                <a:latin typeface="Calibri"/>
                <a:cs typeface="Calibri"/>
              </a:rPr>
              <a:t>salida</a:t>
            </a:r>
            <a:r>
              <a:rPr lang="es-ES" sz="2000" spc="-3" dirty="0">
                <a:latin typeface="Calibri"/>
                <a:cs typeface="Calibri"/>
              </a:rPr>
              <a:t> </a:t>
            </a:r>
            <a:r>
              <a:rPr sz="2000" spc="4" dirty="0">
                <a:latin typeface="Calibri"/>
                <a:cs typeface="Calibri"/>
              </a:rPr>
              <a:t>d</a:t>
            </a:r>
            <a:r>
              <a:rPr sz="2000" spc="0" dirty="0">
                <a:latin typeface="Calibri"/>
                <a:cs typeface="Calibri"/>
              </a:rPr>
              <a:t>el</a:t>
            </a:r>
            <a:r>
              <a:rPr sz="2000" spc="276" dirty="0">
                <a:latin typeface="Calibri"/>
                <a:cs typeface="Calibri"/>
              </a:rPr>
              <a:t> </a:t>
            </a:r>
            <a:r>
              <a:rPr sz="2000" spc="0" dirty="0">
                <a:latin typeface="Calibri"/>
                <a:cs typeface="Calibri"/>
              </a:rPr>
              <a:t>p</a:t>
            </a:r>
            <a:r>
              <a:rPr sz="2000" spc="-34" dirty="0">
                <a:latin typeface="Calibri"/>
                <a:cs typeface="Calibri"/>
              </a:rPr>
              <a:t>r</a:t>
            </a:r>
            <a:r>
              <a:rPr sz="2000" spc="0" dirty="0">
                <a:latin typeface="Calibri"/>
                <a:cs typeface="Calibri"/>
              </a:rPr>
              <a:t>oceso</a:t>
            </a:r>
            <a:r>
              <a:rPr sz="2000" spc="276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r</a:t>
            </a:r>
            <a:r>
              <a:rPr sz="2000" spc="-14" dirty="0">
                <a:latin typeface="Calibri"/>
                <a:cs typeface="Calibri"/>
              </a:rPr>
              <a:t>e</a:t>
            </a:r>
            <a:r>
              <a:rPr sz="2000" spc="0" dirty="0">
                <a:latin typeface="Calibri"/>
                <a:cs typeface="Calibri"/>
              </a:rPr>
              <a:t>al</a:t>
            </a:r>
            <a:r>
              <a:rPr sz="2000" spc="276" dirty="0">
                <a:latin typeface="Calibri"/>
                <a:cs typeface="Calibri"/>
              </a:rPr>
              <a:t> </a:t>
            </a:r>
            <a:r>
              <a:rPr sz="2000" spc="0" dirty="0">
                <a:latin typeface="Calibri"/>
                <a:cs typeface="Calibri"/>
              </a:rPr>
              <a:t>d</a:t>
            </a:r>
            <a:r>
              <a:rPr sz="2000" spc="4" dirty="0">
                <a:latin typeface="Calibri"/>
                <a:cs typeface="Calibri"/>
              </a:rPr>
              <a:t>u</a:t>
            </a:r>
            <a:r>
              <a:rPr sz="2000" spc="-39" dirty="0">
                <a:latin typeface="Calibri"/>
                <a:cs typeface="Calibri"/>
              </a:rPr>
              <a:t>r</a:t>
            </a:r>
            <a:r>
              <a:rPr sz="2000" spc="0" dirty="0">
                <a:latin typeface="Calibri"/>
                <a:cs typeface="Calibri"/>
              </a:rPr>
              <a:t>a</a:t>
            </a:r>
            <a:r>
              <a:rPr sz="2000" spc="-19" dirty="0">
                <a:latin typeface="Calibri"/>
                <a:cs typeface="Calibri"/>
              </a:rPr>
              <a:t>n</a:t>
            </a:r>
            <a:r>
              <a:rPr sz="2000" spc="-25" dirty="0">
                <a:latin typeface="Calibri"/>
                <a:cs typeface="Calibri"/>
              </a:rPr>
              <a:t>t</a:t>
            </a:r>
            <a:r>
              <a:rPr sz="2000" spc="0" dirty="0">
                <a:latin typeface="Calibri"/>
                <a:cs typeface="Calibri"/>
              </a:rPr>
              <a:t>e</a:t>
            </a:r>
            <a:r>
              <a:rPr sz="2000" spc="271" dirty="0">
                <a:latin typeface="Calibri"/>
                <a:cs typeface="Calibri"/>
              </a:rPr>
              <a:t> </a:t>
            </a:r>
            <a:r>
              <a:rPr sz="2000" spc="0" dirty="0">
                <a:latin typeface="Calibri"/>
                <a:cs typeface="Calibri"/>
              </a:rPr>
              <a:t>d</a:t>
            </a:r>
            <a:r>
              <a:rPr sz="2000" spc="-9" dirty="0">
                <a:latin typeface="Calibri"/>
                <a:cs typeface="Calibri"/>
              </a:rPr>
              <a:t>e</a:t>
            </a:r>
            <a:r>
              <a:rPr sz="2000" spc="-25" dirty="0">
                <a:latin typeface="Calibri"/>
                <a:cs typeface="Calibri"/>
              </a:rPr>
              <a:t>t</a:t>
            </a:r>
            <a:r>
              <a:rPr sz="2000" spc="0" dirty="0">
                <a:latin typeface="Calibri"/>
                <a:cs typeface="Calibri"/>
              </a:rPr>
              <a:t>erminado</a:t>
            </a:r>
            <a:r>
              <a:rPr sz="2000" spc="271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h</a:t>
            </a:r>
            <a:r>
              <a:rPr sz="2000" spc="0" dirty="0">
                <a:latin typeface="Calibri"/>
                <a:cs typeface="Calibri"/>
              </a:rPr>
              <a:t>or</a:t>
            </a:r>
            <a:r>
              <a:rPr sz="2000" spc="-4" dirty="0">
                <a:latin typeface="Calibri"/>
                <a:cs typeface="Calibri"/>
              </a:rPr>
              <a:t>i</a:t>
            </a:r>
            <a:r>
              <a:rPr sz="2000" spc="-50" dirty="0">
                <a:latin typeface="Calibri"/>
                <a:cs typeface="Calibri"/>
              </a:rPr>
              <a:t>z</a:t>
            </a:r>
            <a:r>
              <a:rPr sz="2000" spc="0" dirty="0">
                <a:latin typeface="Calibri"/>
                <a:cs typeface="Calibri"/>
              </a:rPr>
              <a:t>o</a:t>
            </a:r>
            <a:r>
              <a:rPr sz="2000" spc="-19" dirty="0">
                <a:latin typeface="Calibri"/>
                <a:cs typeface="Calibri"/>
              </a:rPr>
              <a:t>n</a:t>
            </a:r>
            <a:r>
              <a:rPr sz="2000" spc="-25" dirty="0">
                <a:latin typeface="Calibri"/>
                <a:cs typeface="Calibri"/>
              </a:rPr>
              <a:t>t</a:t>
            </a:r>
            <a:r>
              <a:rPr sz="2000" spc="0" dirty="0">
                <a:latin typeface="Calibri"/>
                <a:cs typeface="Calibri"/>
              </a:rPr>
              <a:t>e</a:t>
            </a:r>
            <a:r>
              <a:rPr sz="2000" spc="282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</a:t>
            </a:r>
            <a:r>
              <a:rPr sz="2000" spc="0" dirty="0">
                <a:latin typeface="Calibri"/>
                <a:cs typeface="Calibri"/>
              </a:rPr>
              <a:t>e</a:t>
            </a:r>
            <a:r>
              <a:rPr sz="2000" spc="-4" dirty="0">
                <a:latin typeface="Calibri"/>
                <a:cs typeface="Calibri"/>
              </a:rPr>
              <a:t>m</a:t>
            </a:r>
            <a:r>
              <a:rPr sz="2000" spc="0" dirty="0">
                <a:latin typeface="Calibri"/>
                <a:cs typeface="Calibri"/>
              </a:rPr>
              <a:t>po</a:t>
            </a:r>
            <a:r>
              <a:rPr sz="2000" spc="-34" dirty="0">
                <a:latin typeface="Calibri"/>
                <a:cs typeface="Calibri"/>
              </a:rPr>
              <a:t>r</a:t>
            </a:r>
            <a:r>
              <a:rPr sz="2000" spc="0" dirty="0">
                <a:latin typeface="Calibri"/>
                <a:cs typeface="Calibri"/>
              </a:rPr>
              <a:t>al,</a:t>
            </a:r>
            <a:r>
              <a:rPr sz="2000" spc="282" dirty="0">
                <a:latin typeface="Calibri"/>
                <a:cs typeface="Calibri"/>
              </a:rPr>
              <a:t> </a:t>
            </a:r>
            <a:r>
              <a:rPr sz="2000" spc="0" dirty="0">
                <a:latin typeface="Calibri"/>
                <a:cs typeface="Calibri"/>
              </a:rPr>
              <a:t>en</a:t>
            </a:r>
            <a:r>
              <a:rPr sz="2000" spc="271" dirty="0">
                <a:latin typeface="Calibri"/>
                <a:cs typeface="Calibri"/>
              </a:rPr>
              <a:t> </a:t>
            </a:r>
            <a:r>
              <a:rPr sz="2000" spc="0" dirty="0">
                <a:latin typeface="Calibri"/>
                <a:cs typeface="Calibri"/>
              </a:rPr>
              <a:t>fun</a:t>
            </a:r>
            <a:r>
              <a:rPr sz="2000" spc="4" dirty="0">
                <a:latin typeface="Calibri"/>
                <a:cs typeface="Calibri"/>
              </a:rPr>
              <a:t>c</a:t>
            </a:r>
            <a:r>
              <a:rPr sz="2000" spc="0" dirty="0">
                <a:latin typeface="Calibri"/>
                <a:cs typeface="Calibri"/>
              </a:rPr>
              <a:t>ión</a:t>
            </a:r>
            <a:r>
              <a:rPr sz="2000" spc="251" dirty="0">
                <a:latin typeface="Calibri"/>
                <a:cs typeface="Calibri"/>
              </a:rPr>
              <a:t> </a:t>
            </a:r>
            <a:r>
              <a:rPr sz="2000" spc="4" dirty="0">
                <a:latin typeface="Calibri"/>
                <a:cs typeface="Calibri"/>
              </a:rPr>
              <a:t>d</a:t>
            </a:r>
            <a:r>
              <a:rPr sz="2000" spc="0" dirty="0">
                <a:latin typeface="Calibri"/>
                <a:cs typeface="Calibri"/>
              </a:rPr>
              <a:t>e</a:t>
            </a:r>
            <a:r>
              <a:rPr sz="2000" spc="276" dirty="0">
                <a:latin typeface="Calibri"/>
                <a:cs typeface="Calibri"/>
              </a:rPr>
              <a:t> </a:t>
            </a:r>
            <a:r>
              <a:rPr sz="2000" spc="0" dirty="0">
                <a:latin typeface="Calibri"/>
                <a:cs typeface="Calibri"/>
              </a:rPr>
              <a:t>las</a:t>
            </a:r>
            <a:r>
              <a:rPr sz="2000" spc="271" dirty="0">
                <a:latin typeface="Calibri"/>
                <a:cs typeface="Calibri"/>
              </a:rPr>
              <a:t> </a:t>
            </a:r>
            <a:r>
              <a:rPr sz="2000" spc="0" dirty="0">
                <a:latin typeface="Calibri"/>
                <a:cs typeface="Calibri"/>
              </a:rPr>
              <a:t>ac</a:t>
            </a:r>
            <a:r>
              <a:rPr sz="2000" spc="4" dirty="0">
                <a:latin typeface="Calibri"/>
                <a:cs typeface="Calibri"/>
              </a:rPr>
              <a:t>c</a:t>
            </a:r>
            <a:r>
              <a:rPr sz="2000" spc="0" dirty="0">
                <a:latin typeface="Calibri"/>
                <a:cs typeface="Calibri"/>
              </a:rPr>
              <a:t>ion</a:t>
            </a:r>
            <a:r>
              <a:rPr sz="2000" spc="-14" dirty="0">
                <a:latin typeface="Calibri"/>
                <a:cs typeface="Calibri"/>
              </a:rPr>
              <a:t>e</a:t>
            </a:r>
            <a:r>
              <a:rPr sz="2000" spc="0" dirty="0">
                <a:latin typeface="Calibri"/>
                <a:cs typeface="Calibri"/>
              </a:rPr>
              <a:t>s</a:t>
            </a:r>
            <a:r>
              <a:rPr sz="2000" spc="282" dirty="0">
                <a:latin typeface="Calibri"/>
                <a:cs typeface="Calibri"/>
              </a:rPr>
              <a:t> </a:t>
            </a:r>
            <a:r>
              <a:rPr sz="2000" spc="4" dirty="0">
                <a:latin typeface="Calibri"/>
                <a:cs typeface="Calibri"/>
              </a:rPr>
              <a:t>d</a:t>
            </a:r>
            <a:r>
              <a:rPr sz="2000" spc="0" dirty="0">
                <a:latin typeface="Calibri"/>
                <a:cs typeface="Calibri"/>
              </a:rPr>
              <a:t>e</a:t>
            </a:r>
            <a:r>
              <a:rPr sz="2000" spc="266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c</a:t>
            </a:r>
            <a:r>
              <a:rPr sz="2000" spc="0" dirty="0">
                <a:latin typeface="Calibri"/>
                <a:cs typeface="Calibri"/>
              </a:rPr>
              <a:t>o</a:t>
            </a:r>
            <a:r>
              <a:rPr sz="2000" spc="-19" dirty="0">
                <a:latin typeface="Calibri"/>
                <a:cs typeface="Calibri"/>
              </a:rPr>
              <a:t>n</a:t>
            </a:r>
            <a:r>
              <a:rPr sz="2000" spc="0" dirty="0">
                <a:latin typeface="Calibri"/>
                <a:cs typeface="Calibri"/>
              </a:rPr>
              <a:t>t</a:t>
            </a:r>
            <a:r>
              <a:rPr sz="2000" spc="-34" dirty="0">
                <a:latin typeface="Calibri"/>
                <a:cs typeface="Calibri"/>
              </a:rPr>
              <a:t>r</a:t>
            </a:r>
            <a:r>
              <a:rPr sz="2000" spc="0" dirty="0">
                <a:latin typeface="Calibri"/>
                <a:cs typeface="Calibri"/>
              </a:rPr>
              <a:t>ol</a:t>
            </a:r>
            <a:r>
              <a:rPr sz="2000" spc="276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f</a:t>
            </a:r>
            <a:r>
              <a:rPr sz="2000" spc="0" dirty="0">
                <a:latin typeface="Calibri"/>
                <a:cs typeface="Calibri"/>
              </a:rPr>
              <a:t>ut</a:t>
            </a:r>
            <a:r>
              <a:rPr sz="2000" spc="4" dirty="0">
                <a:latin typeface="Calibri"/>
                <a:cs typeface="Calibri"/>
              </a:rPr>
              <a:t>u</a:t>
            </a:r>
            <a:r>
              <a:rPr sz="2000" spc="-39" dirty="0">
                <a:latin typeface="Calibri"/>
                <a:cs typeface="Calibri"/>
              </a:rPr>
              <a:t>r</a:t>
            </a:r>
            <a:r>
              <a:rPr sz="2000" spc="0" dirty="0">
                <a:latin typeface="Calibri"/>
                <a:cs typeface="Calibri"/>
              </a:rPr>
              <a:t>as. </a:t>
            </a:r>
            <a:r>
              <a:rPr lang="es-ES" sz="2000" spc="0" dirty="0">
                <a:latin typeface="Calibri"/>
                <a:cs typeface="Calibri"/>
              </a:rPr>
              <a:t> </a:t>
            </a:r>
            <a:r>
              <a:rPr sz="2000" spc="-1" dirty="0">
                <a:latin typeface="Calibri"/>
                <a:cs typeface="Calibri"/>
              </a:rPr>
              <a:t>Pero la mejor acción de control se selecciona mediante un procedimiento de optimización, que incluye </a:t>
            </a:r>
            <a:r>
              <a:rPr sz="2000" spc="-1" dirty="0" err="1">
                <a:latin typeface="Calibri"/>
                <a:cs typeface="Calibri"/>
              </a:rPr>
              <a:t>el</a:t>
            </a:r>
            <a:r>
              <a:rPr sz="2000" spc="-1" dirty="0">
                <a:latin typeface="Calibri"/>
                <a:cs typeface="Calibri"/>
              </a:rPr>
              <a:t> </a:t>
            </a:r>
            <a:r>
              <a:rPr sz="2000" spc="-6" dirty="0" err="1">
                <a:latin typeface="Calibri"/>
                <a:cs typeface="Calibri"/>
              </a:rPr>
              <a:t>adecuado</a:t>
            </a:r>
            <a:r>
              <a:rPr sz="2000" spc="-6" dirty="0">
                <a:latin typeface="Calibri"/>
                <a:cs typeface="Calibri"/>
              </a:rPr>
              <a:t> entrenamiento de la RN así como la correcta selección de los parámetros del </a:t>
            </a:r>
            <a:r>
              <a:rPr sz="2000" spc="-6" dirty="0" err="1">
                <a:latin typeface="Calibri"/>
                <a:cs typeface="Calibri"/>
              </a:rPr>
              <a:t>controlador</a:t>
            </a:r>
            <a:r>
              <a:rPr sz="2000" spc="-6" dirty="0">
                <a:latin typeface="Calibri"/>
                <a:cs typeface="Calibri"/>
              </a:rPr>
              <a:t>.</a:t>
            </a:r>
            <a:r>
              <a:rPr lang="es-ES" sz="2000" spc="-6" dirty="0">
                <a:latin typeface="Calibri"/>
                <a:cs typeface="Calibri"/>
              </a:rPr>
              <a:t> </a:t>
            </a:r>
            <a:r>
              <a:rPr sz="2000" spc="0" dirty="0" err="1">
                <a:latin typeface="Calibri"/>
                <a:cs typeface="Calibri"/>
              </a:rPr>
              <a:t>Esto</a:t>
            </a:r>
            <a:r>
              <a:rPr sz="2000" spc="0" dirty="0">
                <a:latin typeface="Calibri"/>
                <a:cs typeface="Calibri"/>
              </a:rPr>
              <a:t> se puede ver comparando el resultado del un buen Modelo de Control Neuronal Predictivo como el que </a:t>
            </a:r>
            <a:r>
              <a:rPr sz="2000" spc="4" dirty="0">
                <a:latin typeface="Calibri"/>
                <a:cs typeface="Calibri"/>
              </a:rPr>
              <a:t>se determinó anteriormente, con uno que no está diseñado con los parámetros </a:t>
            </a:r>
            <a:r>
              <a:rPr sz="2000" spc="4" dirty="0" err="1">
                <a:latin typeface="Calibri"/>
                <a:cs typeface="Calibri"/>
              </a:rPr>
              <a:t>más</a:t>
            </a:r>
            <a:r>
              <a:rPr sz="2000" spc="4" dirty="0">
                <a:latin typeface="Calibri"/>
                <a:cs typeface="Calibri"/>
              </a:rPr>
              <a:t> </a:t>
            </a:r>
            <a:r>
              <a:rPr sz="2000" spc="4" dirty="0" err="1">
                <a:latin typeface="Calibri"/>
                <a:cs typeface="Calibri"/>
              </a:rPr>
              <a:t>adecuados</a:t>
            </a:r>
            <a:r>
              <a:rPr lang="es-ES" sz="2000" spc="4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3048" y="6400799"/>
            <a:ext cx="12188952" cy="457199"/>
          </a:xfrm>
          <a:custGeom>
            <a:avLst/>
            <a:gdLst/>
            <a:ahLst/>
            <a:cxnLst/>
            <a:rect l="l" t="t" r="r" b="b"/>
            <a:pathLst>
              <a:path w="12188952" h="457199">
                <a:moveTo>
                  <a:pt x="12188952" y="457199"/>
                </a:moveTo>
                <a:lnTo>
                  <a:pt x="12188952" y="0"/>
                </a:ln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close/>
              </a:path>
            </a:pathLst>
          </a:custGeom>
          <a:solidFill>
            <a:srgbClr val="009DD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0" y="6333744"/>
            <a:ext cx="12188952" cy="64007"/>
          </a:xfrm>
          <a:custGeom>
            <a:avLst/>
            <a:gdLst/>
            <a:ahLst/>
            <a:cxnLst/>
            <a:rect l="l" t="t" r="r" b="b"/>
            <a:pathLst>
              <a:path w="12188952" h="64008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28600" y="319458"/>
            <a:ext cx="11277601" cy="599414"/>
          </a:xfrm>
          <a:prstGeom prst="rect">
            <a:avLst/>
          </a:prstGeom>
        </p:spPr>
        <p:txBody>
          <a:bodyPr wrap="square" lIns="0" tIns="13366" rIns="0" bIns="0" rtlCol="0">
            <a:noAutofit/>
          </a:bodyPr>
          <a:lstStyle/>
          <a:p>
            <a:pPr marL="12700" algn="just">
              <a:lnSpc>
                <a:spcPts val="2105"/>
              </a:lnSpc>
            </a:pPr>
            <a:r>
              <a:rPr sz="2000" spc="-4" dirty="0">
                <a:latin typeface="Calibri"/>
                <a:cs typeface="Calibri"/>
              </a:rPr>
              <a:t>Este es el resultado de un Modelo de Control Neuronal Predictivo que no está diseñado con los</a:t>
            </a:r>
            <a:r>
              <a:rPr lang="es-ES" sz="2000" spc="-4" dirty="0">
                <a:latin typeface="Calibri"/>
                <a:cs typeface="Calibri"/>
              </a:rPr>
              <a:t> </a:t>
            </a:r>
            <a:r>
              <a:rPr sz="2000" spc="-2" dirty="0" err="1">
                <a:latin typeface="Calibri"/>
                <a:cs typeface="Calibri"/>
              </a:rPr>
              <a:t>parámetros</a:t>
            </a:r>
            <a:r>
              <a:rPr sz="2000" spc="-2" dirty="0">
                <a:latin typeface="Calibri"/>
                <a:cs typeface="Calibri"/>
              </a:rPr>
              <a:t> </a:t>
            </a:r>
            <a:r>
              <a:rPr sz="2000" spc="-2" dirty="0" err="1">
                <a:latin typeface="Calibri"/>
                <a:cs typeface="Calibri"/>
              </a:rPr>
              <a:t>más</a:t>
            </a:r>
            <a:r>
              <a:rPr sz="2000" spc="-2" dirty="0">
                <a:latin typeface="Calibri"/>
                <a:cs typeface="Calibri"/>
              </a:rPr>
              <a:t> </a:t>
            </a:r>
            <a:r>
              <a:rPr sz="2000" spc="-2" dirty="0" err="1">
                <a:latin typeface="Calibri"/>
                <a:cs typeface="Calibri"/>
              </a:rPr>
              <a:t>adecuados</a:t>
            </a:r>
            <a:r>
              <a:rPr sz="2000" spc="-2" dirty="0">
                <a:latin typeface="Calibri"/>
                <a:cs typeface="Calibri"/>
              </a:rPr>
              <a:t>. La señal de salida del </a:t>
            </a:r>
            <a:r>
              <a:rPr sz="2000" spc="-2" dirty="0" err="1">
                <a:latin typeface="Calibri"/>
                <a:cs typeface="Calibri"/>
              </a:rPr>
              <a:t>controlador</a:t>
            </a:r>
            <a:r>
              <a:rPr lang="es-ES" sz="2000" spc="-2" dirty="0">
                <a:latin typeface="Calibri"/>
                <a:cs typeface="Calibri"/>
              </a:rPr>
              <a:t> </a:t>
            </a:r>
            <a:r>
              <a:rPr sz="2000" spc="-2" dirty="0">
                <a:latin typeface="Calibri"/>
                <a:cs typeface="Calibri"/>
              </a:rPr>
              <a:t>no se asemeja a la del sistema real.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84065" y="3331489"/>
            <a:ext cx="2986499" cy="1102969"/>
          </a:xfrm>
          <a:prstGeom prst="rect">
            <a:avLst/>
          </a:prstGeom>
        </p:spPr>
        <p:txBody>
          <a:bodyPr wrap="square" lIns="0" tIns="13366" rIns="0" bIns="0" rtlCol="0">
            <a:noAutofit/>
          </a:bodyPr>
          <a:lstStyle/>
          <a:p>
            <a:pPr marL="12700">
              <a:lnSpc>
                <a:spcPts val="2105"/>
              </a:lnSpc>
            </a:pPr>
            <a:r>
              <a:rPr sz="2000" b="1" spc="-8" dirty="0">
                <a:latin typeface="Calibri"/>
                <a:cs typeface="Calibri"/>
              </a:rPr>
              <a:t>Parámetros del Controlador</a:t>
            </a:r>
            <a:endParaRPr sz="2000" dirty="0">
              <a:latin typeface="Calibri"/>
              <a:cs typeface="Calibri"/>
            </a:endParaRPr>
          </a:p>
          <a:p>
            <a:pPr marL="12700" marR="38221">
              <a:lnSpc>
                <a:spcPts val="2160"/>
              </a:lnSpc>
              <a:spcBef>
                <a:spcPts val="2"/>
              </a:spcBef>
            </a:pPr>
            <a:r>
              <a:rPr sz="1800" dirty="0">
                <a:latin typeface="Calibri"/>
                <a:cs typeface="Calibri"/>
              </a:rPr>
              <a:t>N2=5</a:t>
            </a:r>
          </a:p>
          <a:p>
            <a:pPr marL="12700" marR="38221">
              <a:lnSpc>
                <a:spcPts val="2160"/>
              </a:lnSpc>
            </a:pPr>
            <a:r>
              <a:rPr sz="1800" spc="1" dirty="0">
                <a:latin typeface="Calibri"/>
                <a:cs typeface="Calibri"/>
              </a:rPr>
              <a:t>Nu=2</a:t>
            </a:r>
            <a:endParaRPr sz="1800" dirty="0">
              <a:latin typeface="Calibri"/>
              <a:cs typeface="Calibri"/>
            </a:endParaRPr>
          </a:p>
          <a:p>
            <a:pPr marL="12700" marR="38221">
              <a:lnSpc>
                <a:spcPts val="2160"/>
              </a:lnSpc>
            </a:pPr>
            <a:r>
              <a:rPr sz="1800" spc="2" dirty="0">
                <a:latin typeface="Calibri"/>
                <a:cs typeface="Calibri"/>
              </a:rPr>
              <a:t>β =10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15103" y="4941316"/>
            <a:ext cx="1166709" cy="1203731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 marR="29157">
              <a:lnSpc>
                <a:spcPts val="1900"/>
              </a:lnSpc>
            </a:pPr>
            <a:r>
              <a:rPr sz="1800" spc="0" dirty="0">
                <a:latin typeface="Calibri"/>
                <a:cs typeface="Calibri"/>
              </a:rPr>
              <a:t>Salida del</a:t>
            </a:r>
            <a:endParaRPr sz="1800">
              <a:latin typeface="Calibri"/>
              <a:cs typeface="Calibri"/>
            </a:endParaRPr>
          </a:p>
          <a:p>
            <a:pPr marL="12700" marR="29157">
              <a:lnSpc>
                <a:spcPts val="2160"/>
              </a:lnSpc>
              <a:spcBef>
                <a:spcPts val="13"/>
              </a:spcBef>
            </a:pPr>
            <a:r>
              <a:rPr sz="1800" spc="-1" dirty="0">
                <a:latin typeface="Calibri"/>
                <a:cs typeface="Calibri"/>
              </a:rPr>
              <a:t>NMPC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60"/>
              </a:lnSpc>
              <a:spcBef>
                <a:spcPts val="980"/>
              </a:spcBef>
            </a:pPr>
            <a:r>
              <a:rPr sz="1800" spc="-2" dirty="0">
                <a:latin typeface="Calibri"/>
                <a:cs typeface="Calibri"/>
              </a:rPr>
              <a:t>Salida del sistema real</a:t>
            </a:r>
            <a:endParaRPr sz="1800">
              <a:latin typeface="Calibri"/>
              <a:cs typeface="Calibri"/>
            </a:endParaRP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C0A2F2D6-38B0-4263-8488-4D83169B5089}"/>
              </a:ext>
            </a:extLst>
          </p:cNvPr>
          <p:cNvCxnSpPr/>
          <p:nvPr/>
        </p:nvCxnSpPr>
        <p:spPr>
          <a:xfrm>
            <a:off x="8789831" y="5239131"/>
            <a:ext cx="52527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8A7A70BA-32C6-4D55-B83C-0236B841F9EA}"/>
              </a:ext>
            </a:extLst>
          </p:cNvPr>
          <p:cNvCxnSpPr/>
          <p:nvPr/>
        </p:nvCxnSpPr>
        <p:spPr>
          <a:xfrm>
            <a:off x="8789831" y="5924931"/>
            <a:ext cx="52527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63DF2F2-58E1-4CD1-A77E-1BD568F6CB9B}"/>
              </a:ext>
            </a:extLst>
          </p:cNvPr>
          <p:cNvSpPr txBox="1"/>
          <p:nvPr/>
        </p:nvSpPr>
        <p:spPr>
          <a:xfrm>
            <a:off x="8804927" y="1676400"/>
            <a:ext cx="3144774" cy="1506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54227">
              <a:lnSpc>
                <a:spcPts val="2280"/>
              </a:lnSpc>
            </a:pPr>
            <a:r>
              <a:rPr lang="es-ES" sz="2000" b="1" spc="-7" dirty="0">
                <a:latin typeface="Calibri"/>
                <a:cs typeface="Calibri"/>
              </a:rPr>
              <a:t>Parámetros de la RN</a:t>
            </a:r>
            <a:endParaRPr lang="es-ES" sz="2000" dirty="0">
              <a:latin typeface="Calibri"/>
              <a:cs typeface="Calibri"/>
            </a:endParaRPr>
          </a:p>
          <a:p>
            <a:pPr marR="672668">
              <a:lnSpc>
                <a:spcPts val="2160"/>
              </a:lnSpc>
            </a:pPr>
            <a:r>
              <a:rPr lang="es-ES" sz="1800" spc="0" dirty="0">
                <a:latin typeface="Calibri"/>
                <a:cs typeface="Calibri"/>
              </a:rPr>
              <a:t>Cant. de neuronas = 7</a:t>
            </a:r>
            <a:endParaRPr lang="es-ES" sz="1800" dirty="0">
              <a:latin typeface="Calibri"/>
              <a:cs typeface="Calibri"/>
            </a:endParaRPr>
          </a:p>
          <a:p>
            <a:pPr marR="181910">
              <a:lnSpc>
                <a:spcPts val="2160"/>
              </a:lnSpc>
            </a:pPr>
            <a:r>
              <a:rPr lang="es-ES" sz="1800" spc="-2" dirty="0">
                <a:latin typeface="Calibri"/>
                <a:cs typeface="Calibri"/>
              </a:rPr>
              <a:t>No. Delayed Plant Inputs=10</a:t>
            </a:r>
            <a:endParaRPr lang="es-ES" sz="1800" dirty="0">
              <a:latin typeface="Calibri"/>
              <a:cs typeface="Calibri"/>
            </a:endParaRPr>
          </a:p>
          <a:p>
            <a:pPr marR="12700">
              <a:lnSpc>
                <a:spcPts val="2160"/>
              </a:lnSpc>
            </a:pPr>
            <a:r>
              <a:rPr lang="es-ES" sz="1800" spc="-1" dirty="0">
                <a:latin typeface="Calibri"/>
                <a:cs typeface="Calibri"/>
              </a:rPr>
              <a:t>No. Delayed Plant Outputs=10</a:t>
            </a:r>
            <a:endParaRPr lang="es-ES" sz="1800" dirty="0">
              <a:latin typeface="Calibri"/>
              <a:cs typeface="Calibri"/>
            </a:endParaRPr>
          </a:p>
          <a:p>
            <a:pPr marR="678458">
              <a:lnSpc>
                <a:spcPts val="2160"/>
              </a:lnSpc>
            </a:pPr>
            <a:r>
              <a:rPr lang="es-ES" sz="1800" spc="-6" dirty="0">
                <a:latin typeface="Calibri"/>
                <a:cs typeface="Calibri"/>
              </a:rPr>
              <a:t>Training Samples=</a:t>
            </a:r>
            <a:r>
              <a:rPr lang="es-ES" spc="-6" dirty="0">
                <a:latin typeface="Calibri"/>
                <a:cs typeface="Calibri"/>
              </a:rPr>
              <a:t>2000</a:t>
            </a:r>
            <a:endParaRPr lang="es-ES" sz="1800" dirty="0">
              <a:latin typeface="Calibri"/>
              <a:cs typeface="Calibri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660248DC-4700-42F0-ADD8-DD0C82C77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138987"/>
            <a:ext cx="7825376" cy="50060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3048" y="6400799"/>
            <a:ext cx="12188952" cy="457199"/>
          </a:xfrm>
          <a:custGeom>
            <a:avLst/>
            <a:gdLst/>
            <a:ahLst/>
            <a:cxnLst/>
            <a:rect l="l" t="t" r="r" b="b"/>
            <a:pathLst>
              <a:path w="12188952" h="457199">
                <a:moveTo>
                  <a:pt x="12188952" y="457199"/>
                </a:moveTo>
                <a:lnTo>
                  <a:pt x="12188952" y="0"/>
                </a:ln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close/>
              </a:path>
            </a:pathLst>
          </a:custGeom>
          <a:solidFill>
            <a:srgbClr val="009DD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0" y="6333744"/>
            <a:ext cx="12188952" cy="64007"/>
          </a:xfrm>
          <a:custGeom>
            <a:avLst/>
            <a:gdLst/>
            <a:ahLst/>
            <a:cxnLst/>
            <a:rect l="l" t="t" r="r" b="b"/>
            <a:pathLst>
              <a:path w="12188952" h="64008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2400" y="336442"/>
            <a:ext cx="11441807" cy="1720958"/>
          </a:xfrm>
          <a:prstGeom prst="rect">
            <a:avLst/>
          </a:prstGeom>
        </p:spPr>
        <p:txBody>
          <a:bodyPr wrap="square" lIns="0" tIns="23495" rIns="0" bIns="0" rtlCol="0">
            <a:noAutofit/>
          </a:bodyPr>
          <a:lstStyle/>
          <a:p>
            <a:pPr marL="653315" marR="263125" algn="ctr">
              <a:lnSpc>
                <a:spcPts val="3700"/>
              </a:lnSpc>
            </a:pPr>
            <a:r>
              <a:rPr sz="3600" spc="-6" dirty="0">
                <a:solidFill>
                  <a:srgbClr val="0E6EC5"/>
                </a:solidFill>
                <a:latin typeface="Calibri"/>
                <a:cs typeface="Calibri"/>
              </a:rPr>
              <a:t>Paso 4. Estudiar la influencia en la calidad del control de</a:t>
            </a:r>
            <a:endParaRPr sz="3600" dirty="0">
              <a:latin typeface="Calibri"/>
              <a:cs typeface="Calibri"/>
            </a:endParaRPr>
          </a:p>
          <a:p>
            <a:pPr marL="912393" marR="521959" algn="ctr">
              <a:lnSpc>
                <a:spcPts val="4320"/>
              </a:lnSpc>
              <a:spcBef>
                <a:spcPts val="31"/>
              </a:spcBef>
            </a:pPr>
            <a:r>
              <a:rPr sz="3600" spc="-11" dirty="0">
                <a:solidFill>
                  <a:srgbClr val="0E6EC5"/>
                </a:solidFill>
                <a:latin typeface="Calibri"/>
                <a:cs typeface="Calibri"/>
              </a:rPr>
              <a:t>los parámetros del controlador (horizonte de control,</a:t>
            </a:r>
            <a:endParaRPr sz="3600" dirty="0">
              <a:latin typeface="Calibri"/>
              <a:cs typeface="Calibri"/>
            </a:endParaRPr>
          </a:p>
          <a:p>
            <a:pPr marL="993165" marR="602254" algn="ctr">
              <a:lnSpc>
                <a:spcPts val="4320"/>
              </a:lnSpc>
            </a:pPr>
            <a:r>
              <a:rPr sz="3600" spc="-9" dirty="0">
                <a:solidFill>
                  <a:srgbClr val="0E6EC5"/>
                </a:solidFill>
                <a:latin typeface="Calibri"/>
                <a:cs typeface="Calibri"/>
              </a:rPr>
              <a:t>horizonte de predicción y factor de peso del control)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7918" y="2273807"/>
            <a:ext cx="11376164" cy="3962400"/>
          </a:xfrm>
          <a:prstGeom prst="rect">
            <a:avLst/>
          </a:prstGeom>
        </p:spPr>
        <p:txBody>
          <a:bodyPr wrap="square" lIns="0" tIns="14128" rIns="0" bIns="0" rtlCol="0">
            <a:noAutofit/>
          </a:bodyPr>
          <a:lstStyle/>
          <a:p>
            <a:pPr marL="12700">
              <a:lnSpc>
                <a:spcPts val="2225"/>
              </a:lnSpc>
            </a:pPr>
            <a:r>
              <a:rPr lang="es-ES" sz="2000" spc="29" dirty="0">
                <a:latin typeface="Calibri"/>
                <a:cs typeface="Calibri"/>
              </a:rPr>
              <a:t>En el proceso de selección de parámetros del controlador, se determinaron como mejores, los siguientes valores de los mismos:</a:t>
            </a:r>
            <a:endParaRPr lang="es-ES" sz="2000" dirty="0">
              <a:latin typeface="Calibri"/>
              <a:cs typeface="Calibri"/>
            </a:endParaRPr>
          </a:p>
          <a:p>
            <a:pPr marL="12700">
              <a:lnSpc>
                <a:spcPts val="2225"/>
              </a:lnSpc>
            </a:pPr>
            <a:endParaRPr lang="es-ES" sz="2000" b="1" spc="33" dirty="0">
              <a:latin typeface="Calibri"/>
              <a:cs typeface="Calibri"/>
            </a:endParaRPr>
          </a:p>
          <a:p>
            <a:pPr marL="12700">
              <a:lnSpc>
                <a:spcPts val="2225"/>
              </a:lnSpc>
            </a:pPr>
            <a:r>
              <a:rPr sz="2000" b="1" spc="33" dirty="0">
                <a:latin typeface="Calibri"/>
                <a:cs typeface="Calibri"/>
              </a:rPr>
              <a:t>N2=15 </a:t>
            </a:r>
            <a:r>
              <a:rPr sz="2000" spc="-9" dirty="0">
                <a:latin typeface="Microsoft Sans Serif"/>
                <a:cs typeface="Microsoft Sans Serif"/>
              </a:rPr>
              <a:t>→</a:t>
            </a:r>
            <a:r>
              <a:rPr sz="2000" spc="33" dirty="0">
                <a:latin typeface="Calibri"/>
                <a:cs typeface="Calibri"/>
              </a:rPr>
              <a:t>Al aumentar el valor del horizonte de predicción se obtuvo una salida más cercana o fiel a la del</a:t>
            </a:r>
            <a:endParaRPr sz="2000" dirty="0">
              <a:latin typeface="Calibri"/>
              <a:cs typeface="Calibri"/>
            </a:endParaRPr>
          </a:p>
          <a:p>
            <a:pPr marL="12700" marR="40513">
              <a:lnSpc>
                <a:spcPts val="2390"/>
              </a:lnSpc>
              <a:spcBef>
                <a:spcPts val="8"/>
              </a:spcBef>
            </a:pPr>
            <a:r>
              <a:rPr sz="2000" spc="-3" dirty="0">
                <a:latin typeface="Calibri"/>
                <a:cs typeface="Calibri"/>
              </a:rPr>
              <a:t>sistema real.</a:t>
            </a:r>
            <a:endParaRPr lang="es-ES" sz="2000" spc="-3" dirty="0">
              <a:latin typeface="Calibri"/>
              <a:cs typeface="Calibri"/>
            </a:endParaRPr>
          </a:p>
          <a:p>
            <a:pPr marL="12700">
              <a:lnSpc>
                <a:spcPts val="2225"/>
              </a:lnSpc>
            </a:pPr>
            <a:endParaRPr lang="es-ES" sz="2000" b="1" spc="10" dirty="0">
              <a:latin typeface="Calibri"/>
              <a:cs typeface="Calibri"/>
            </a:endParaRPr>
          </a:p>
          <a:p>
            <a:pPr marL="12700">
              <a:lnSpc>
                <a:spcPts val="2225"/>
              </a:lnSpc>
            </a:pPr>
            <a:r>
              <a:rPr lang="es-ES" sz="2000" b="1" spc="10" dirty="0">
                <a:latin typeface="Calibri"/>
                <a:cs typeface="Calibri"/>
              </a:rPr>
              <a:t>Nu=2  </a:t>
            </a:r>
            <a:r>
              <a:rPr lang="es-ES" sz="2000" spc="-24" dirty="0">
                <a:latin typeface="Microsoft Sans Serif"/>
                <a:cs typeface="Microsoft Sans Serif"/>
              </a:rPr>
              <a:t>→ </a:t>
            </a:r>
            <a:r>
              <a:rPr lang="es-ES" sz="2000" spc="10" dirty="0">
                <a:latin typeface="Calibri"/>
                <a:cs typeface="Calibri"/>
              </a:rPr>
              <a:t>El valor del horizonte de control más apropiado fue el menor, puesto que al ser esta la cantidad de</a:t>
            </a:r>
            <a:endParaRPr lang="es-ES" sz="2000" dirty="0">
              <a:latin typeface="Calibri"/>
              <a:cs typeface="Calibri"/>
            </a:endParaRPr>
          </a:p>
          <a:p>
            <a:pPr marL="12700" marR="1047">
              <a:lnSpc>
                <a:spcPts val="2390"/>
              </a:lnSpc>
              <a:spcBef>
                <a:spcPts val="8"/>
              </a:spcBef>
            </a:pPr>
            <a:r>
              <a:rPr lang="es-ES" sz="2000" spc="25" dirty="0">
                <a:latin typeface="Calibri"/>
                <a:cs typeface="Calibri"/>
              </a:rPr>
              <a:t>veces que cambia la señal de control, puede tener limitaciones físicas en el sistema real, que tengan como</a:t>
            </a:r>
            <a:endParaRPr lang="es-ES" sz="2000" dirty="0">
              <a:latin typeface="Calibri"/>
              <a:cs typeface="Calibri"/>
            </a:endParaRPr>
          </a:p>
          <a:p>
            <a:pPr marL="12700" marR="39268">
              <a:lnSpc>
                <a:spcPts val="2400"/>
              </a:lnSpc>
              <a:spcBef>
                <a:spcPts val="0"/>
              </a:spcBef>
            </a:pPr>
            <a:r>
              <a:rPr lang="es-ES" sz="2000" spc="-1" dirty="0">
                <a:latin typeface="Calibri"/>
                <a:cs typeface="Calibri"/>
              </a:rPr>
              <a:t>consecuencia que la señal de salida del controlador no se asemeje a la del sistema real.</a:t>
            </a:r>
          </a:p>
          <a:p>
            <a:pPr marL="12700">
              <a:lnSpc>
                <a:spcPts val="2225"/>
              </a:lnSpc>
            </a:pPr>
            <a:endParaRPr lang="es-ES" sz="2000" b="1" spc="0" dirty="0">
              <a:latin typeface="Calibri"/>
              <a:cs typeface="Calibri"/>
            </a:endParaRPr>
          </a:p>
          <a:p>
            <a:pPr marL="12700">
              <a:lnSpc>
                <a:spcPts val="2225"/>
              </a:lnSpc>
            </a:pPr>
            <a:r>
              <a:rPr lang="es-ES" sz="2000" b="1" spc="0" dirty="0">
                <a:latin typeface="Calibri"/>
                <a:cs typeface="Calibri"/>
              </a:rPr>
              <a:t>β =0,075 </a:t>
            </a:r>
            <a:r>
              <a:rPr lang="es-ES" sz="2000" spc="-4" dirty="0">
                <a:latin typeface="Microsoft Sans Serif"/>
                <a:cs typeface="Microsoft Sans Serif"/>
              </a:rPr>
              <a:t>→</a:t>
            </a:r>
            <a:r>
              <a:rPr lang="es-ES" sz="2000" spc="0" dirty="0">
                <a:latin typeface="Calibri"/>
                <a:cs typeface="Calibri"/>
              </a:rPr>
              <a:t>Este valor resultó ser el más apropiado, pues al aumentarlo discretamente (de 0,05 a 0,075) disminuyó </a:t>
            </a:r>
            <a:r>
              <a:rPr lang="es-ES" sz="2000" spc="-1" dirty="0">
                <a:latin typeface="Calibri"/>
                <a:cs typeface="Calibri"/>
              </a:rPr>
              <a:t>la oscilación de las señal de salida del controlador con respecto a la señal de salida del sistema real. Es el parámetro más crítico en el diseño del controlador.</a:t>
            </a:r>
            <a:endParaRPr lang="es-ES" sz="2000" dirty="0">
              <a:latin typeface="Calibri"/>
              <a:cs typeface="Calibri"/>
            </a:endParaRPr>
          </a:p>
          <a:p>
            <a:pPr marL="12700" marR="39268">
              <a:lnSpc>
                <a:spcPts val="2400"/>
              </a:lnSpc>
              <a:spcBef>
                <a:spcPts val="0"/>
              </a:spcBef>
            </a:pPr>
            <a:endParaRPr lang="es-ES" sz="2000" dirty="0">
              <a:latin typeface="Calibri"/>
              <a:cs typeface="Calibri"/>
            </a:endParaRPr>
          </a:p>
          <a:p>
            <a:pPr marL="12700" marR="40513">
              <a:lnSpc>
                <a:spcPts val="2390"/>
              </a:lnSpc>
              <a:spcBef>
                <a:spcPts val="8"/>
              </a:spcBef>
            </a:pP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303</TotalTime>
  <Words>2041</Words>
  <Application>Microsoft Office PowerPoint</Application>
  <PresentationFormat>Panorámica</PresentationFormat>
  <Paragraphs>226</Paragraphs>
  <Slides>26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Microsoft Sans Serif</vt:lpstr>
      <vt:lpstr>Retrospección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Arlet Acosta González</cp:lastModifiedBy>
  <cp:revision>33</cp:revision>
  <dcterms:modified xsi:type="dcterms:W3CDTF">2023-12-07T15:19:53Z</dcterms:modified>
</cp:coreProperties>
</file>